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This presentation documents the complete research and engineering stack of Eclipse Scalper — an async Python cryptocurrency futures trading system targeting Binance perpetuals via ccxt. The presentation is structured for audiences with backgrounds in quantitative finance, distributed systems, and algorithmic execution. It is intentionally sober: where the system finds negative results, those are presented as such. The absence of deployed alpha is treated as a feature of the measurement system, not a defect.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Section divider: System Architecture — Eclipse Scalper as a Distributed Execution Organism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The architecture is deliberately linear in its happy path but defensively layered at every failure point. The signal generator produces raw directional signals; it has no authority to submit orders. Every signal must pass through entry_loop's gate complex before the router is called. The router is stateless — it acts on intents passed to it. Reconcile runs asynchronously and corrects divergence between local belief and exchange truth. The position manager handles only reductive orders and is exempt from entry restrictions by design.
Kill-switch cannot be bypassed by any downstream component — it is checked independently at both entry_loop and router level.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The state model adopts eventual consistency: local brain state converges to exchange truth on each reconciliation cycle. The WAL intent system prevents restart-induced double submissions. Before any order is submitted, a WAL intent is written to run_context. On restart, bootstrap reads open WAL intents and reconciles them before resuming. LZ4 compression keeps I/O bounded without meaningful latency.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Kill-switch and circuit breaker are the top of the safety hierarchy. No component can override them for entry orders. This is enforced by architecture, not convention. The critical distinction: position reduction orders must always be allowed through. intent_reduce_only=True is the mechanism. Error classification prevents both missed fills (too strict) and order spam (too loose).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The intent lifecycle is the core abstraction that makes the system restartable and observable. An intent is created before any exchange interaction. If the process crashes between intent creation and order submission, the WAL intent survives and bootstrap handles it on restart. clientOrderId is critical: Binance's idempotency guarantee. The 35-character limit shapes ID generation. EXE-02 prevents intent leaks — a class of bug where intents accumulate in pending state indefinitely, causing progressively incorrect position accounting.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These five invariants are the load-bearing walls of the execution system. Every architectural decision is evaluated against them. EXE-01 is hardest to test rigorously — requires reasoning across network partitions. WAL intents + bounded retries + clientOrderId idempotency approximate this. EXE-05 is enforced at entry_loop by checking current exposure against configured maximums after reconcile has run, reflecting exchange-confirmed state.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In a highly competitive market microstructure environment, edge from signal alpha is typically very small — measured in basis points per attempt. Any systematic execution error, even small, can entirely consume or invert that edge. The deeper implication: before claiming any alpha exists, prove that measurement is not contaminated by execution artifacts. This is why reconciliation-first architecture, deterministic simulation, and invariant checking exist — not as niceties but as epistemological necessities.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Section divider: Microstructure Alpha Discovery Pipeline — From Raw Tick Data to Forward-Validated Signals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The 1-second bucket granularity reflects a design choice: sub-second resolution lets noise dominate signal. At 1-second buckets, we capture meaningful intensity and imbalance patterns while keeping feature dimensionality manageable. The passive fill simulator separates this pipeline from a naive backtester — it models fill probability given observable microstructure at signal time, accounting for queue position, trade intensity, and adverse selection.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Trade intensity is the primary signal driver. High-intensity periods indicate elevated informed order flow arrival. The hypothesis: sufficiently intense + directionally imbalanced flow predicts short-term price continuation, and a passive maker can profitably sit on the predicted side. Spread compression is critical for passive viability: when spread is tight, passive fills are more likely because crossed trades frequently touch best bid/ask. Wide spreads reduce fill probability and increase adverse selection risk.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The simulator is the epistemological core of the research pipeline. It answers: 'Given that my signal fired at time t, would a passive limit order have filled, and at what effective cost?' The _u01_from_key hash maps each (seed, event_id) pair independently to [0,1] — fill decision for event E42 is independent of whether events E1-E41 were simulated. This allows partial re-runs and event-level analysis without disturbing global random state.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Reproducibility is not a convenience feature; it is an epistemological requirement. Without determinism, we cannot distinguish genuine alpha from lucky random seeds. Without determinism, tests cannot catch regressions. The hash design (vs sequential PRNG) means partial re-runs and event-level analysis are possible without disturbing global state. DAT-01 is verified structurally: the feature computation function receives only rows up to the current signal index.</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Section divider: The Per-Fill Illusion Problem — Why Conditional Profitability Is Not Expected Value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The distinction between filled_avg_net and net_per_attempt is the single most important conceptual point in this presentation. It is the difference between 'do we profit when we trade?' and 'do we profit in expectation across all trading decisions?'. A passive limit order strategy has fill_rate &lt; 1.0 by definition. filled_avg_net is a conditional expectation: E[return | fill]. NPA = E[return] across all attempts. The formula NPA = fill_rate × filled_avg_net is exact. When fill_rate = 0.5 and filled_avg_net = +0.8 bps, NPA = +0.4 bps — but after costs this can go negative.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The break-even fill rate formula shows that strategy viability depends on the ratio of costs to gross return per fill. Our empirical estimates: maker fee = 1.0 bps round trip, adverse = 0.1 bps, total cost ≈ 1.1 bps. If raw average gross return per fill is 0.8 bps, we need gross returns &gt; 1.1 bps to cover costs. Every fill currently loses money. NPA = fill_rate × (−0.3 bps) ≈ −0.15 bps. The gate's goal: select only signals with expected gross return &gt; 1.1 bps.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Adverse selection is the most subtle and damaging cost in passive execution strategies. It arises from asymmetric information: when an informed trader has directional information, they trade aggressively. Our passive order at the bid gets hit precisely when the informed trader has determined price should fall. We fill, and immediately price moves against us. The calibration is empirical: historical events where a passive order would have been touched → distribution of adverse moves in subsequent horizon window.</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The attempt spam problem arises when a rule fires frequently but only a subset of firings correspond to genuine high-quality microstructure signals. Each firing becomes an attempt. Even unfilled attempts have zero return, not negative return. But filled attempts in low-quality conditions have negative return (costs exceed gross return). So E[value of attempting in low-quality conditions] = fill_rate × negative_return &lt; 0. More attempts makes this worse. The gate is the solution: quality filter that increases average attempt quality.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Section divider: Ranking Evolution — From Degenerate Scores to Capacity-Honest Evaluation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The original ranking formula: score = pass_rate × median_bps × worst_split_bps. When pass_rate fell below the robustness gate threshold, score was clamped to zero. Consequence: all pockets that failed the gate received score=0, regardless of how close they were to passing. This degeneracy meant ranking was uninformative precisely when most needed — when trying to identify which failing pockets were closest to viability. A pocket with NPA=−0.1 bps ranked identically to NPA=−50 bps.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The scoring formula embodies three principles. First, NPA is primary — pocket must have positive NPA at realistic conditions for non-zero score. Second, stability matters — high variance across splits is penalized. Third, capacity matters — pockets where high proportion of attempts fail to fill receive capacity penalty. The robustness gate (core_npa &gt; 0 AND stress_npa &gt; 0) replaced the old pass_rate gate. Now directly tied to the metric we care about.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The score_raw fields make the zero-score region informative. Before this change, 40 pockets could all have score=0 with no way to determine which were closest to viability. score_raw_core provides ordering within the zero-score cohort. A pocket with score_raw_core &gt; 0 but score_raw_stress &lt; 0: profitable under normal conditions but fragile under adverse selection. This is a different failure mode from score_raw_core &lt; 0 (unprofitable even at favorable fee) and requires different remediation.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Section divider: Pre-Attempt Gate Implementation — Signal Generation vs Execution Eligibility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The gate introduces a second-level filter between rule firing and attempt registration. A signal fires when the rule's primary conditions are met. An attempt is registered only when the gate's additional strength conditions are also met. DAT-01 compliance is structural: _passes_attempt_gate(r, gate) receives only the current bucket row r, computed from data available at signal time. The gate's non-interaction with cooldown is a critical design choice: blocked signals don't consume the cooldown window, keeping the system responsive to the next high-quality signal.</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The three gate criteria correlate with execution quality in passive limit order strategies. min_trade_intensity_strong: during elevated intensity, passive orders are more likely to fill at favorable prices before market moves decisively. min_imbalance_strong: higher imbalance magnitude indicates stronger directional pressure — more predictive of short-term continuation. max_spread_tight: narrow spread → smaller adverse selection component relative to gross return. AND logic means we want the INTERSECTION of favorable conditions, not any one in isolation.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The diagnostic metrics are essential for gate calibration. Without them, we cannot know whether a gate configuration is appropriately selective or over-aggressive. gate_pass_rate is the primary calibration indicator. net_per_attempt_after_gate determines whether the gate actually improves EV — this is testable: run with and without gate on the same validation split, measure NPA in both cases. test_attempt_gate_reduces_n_attempts verifies structural correctness; whether the gate improves NPA is an empirical question for the forward validation pipeline.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The gate function is a pure function with no side effects. It reads only the current row r and the gate configuration dict. The insertion point in simulate_rule_trades is critical: after trade_side is resolved (so we know direction) but before the attempted={} dict is created (so gate-blocked signals never enter attempt_rows). The continue without updating next_allowed means gate-blocked signals do not consume the cooldown window.</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Section divider: Fee and Adverse Sensitivity Analysis — Mapping the Viability Surface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The fee-adverse grid is a systematic stress test of strategy alpha across two independent cost dimensions. The maker fee dimension captures exchange fee structure uncertainty. Binance rebates vary by volume tier and can shift the effective fee substantially. The adverse multiplier dimension captures calibration uncertainty. The 9-point grid allows mapping the fee-adverse surface and identifying breakpoints. A robust pocket shows positive NPA across most of the grid. A fragile pocket shows positive NPA only at the (0.5, 0.8) corner — not deployable.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The break-even fee concept is central to assessing whether observed alpha is a genuine structural edge or a fee-tier artifact. Some passive strategies appear profitable only at unrealistically low fee assumptions. best_fee_survive: highest fee in the grid at which pocket still achieves pass_rate &gt;= 50%. Currently all pockets show best_fee_survive=0.0 — consistent with negative NPA finding. Practical implication: a strategy requiring maker rebates to be profitable is not truly a market-making alpha — it is rebate harvesting with different risks.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Section divider: Determinism and Scientific Validity — Engineering Reproducibility as Quantitative Method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The data and research invariants are the scientific methodology encoded in software. DAT-01 is the most critical and most commonly violated invariant in backtesting systems. Lookahead bias occurs when a model has access to information at time t unavailable to a live trader. In our system, this is prevented structurally. DAT-03 is verified by test: two calls with identical inputs and seeds must produce identical per_combo outputs. DAT-04 is subtle but financially critical: if adverse_bps=0.1 is applied as 0.1 (not 0.1/10000), cost model overstates adverse selection by 10,000× — making every fill appear catastrophically unprofitable.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The test suite serves dual purposes: regression prevention and specification. A test is an executable specification of expected behavior. The monkeypatching strategy is particularly important: tests cannot require a live database. Every database-reading function is patched with deterministic synthetic data. The 79 tests grew from 77 (added 2 this session). Count growth tracks feature additions: every new capability must have at least one test. When 79 tests pass, we have 79 executable certifications of system properties.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Section divider: Current Findings and Reality Check — Honest Assessment of Present Alpha State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These numbers represent the unvarnished truth. The per-fill edge (filled_avg_net &gt; 0) exists — the signal is directionally informative and passive orders do, on average, profit slightly relative to zero BEFORE costs. The problem: this per-fill edge is not large enough to survive full cost structure. At fee=0.5 bps, round-trip fee = 1.0 bps. If filled_avg_net ≈ 0.3 bps (before costs), net filled return = 0.3 − 1.0 − 0.1 = −0.8 bps. NPA = 0.5 × (−0.8 bps) = −0.4 bps ≈ −4×10⁻⁵. This matches the empirical NPA range.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This reframing is important. A naive interpretation of 'we found no profitable strategy' is that the system failed. The correct interpretation: the system successfully detected that what appeared to be alpha (positive per-fill metrics) was NOT genuine alpha (negative NPA). This is exactly what the pipeline is designed to do. The scientific process: hypothesis=signal generates alpha, experiment=forward validation with realistic costs, result=negative, conclusion=signal as configured doesn't overcome costs, next hypothesis=gate raises quality enough for positive NPA. That is testable.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Section divider: Next Evolution Path — Engineering the Path to Positive NPA</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Signal refinement is the primary lever for improving the gross return per fill. If the current signal fires indiscriminately in both high and low quality microstructure conditions, adding V2 features that select for high-persistence, high-confidence conditions should increase average quality of signal firings. The research question: do signals scoring highly on V2 features have meaningfully higher filled_avg_net? If yes, V2 thresholds convert the signal profile and directly improve NPA: fewer attempts, higher return per fill.</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Gate calibration is a hyperparameter optimization problem with clear objective (maximize NPA on held-out validation) and meaningful constraints (minimum attempt volume). 80 configurations is tractable because each evaluation is lightweight in-memory computation — feature data is cached. The minimum gate_pass_rate constraint (&gt; 0.15) prevents optimizing NPA on a 10-attempt sample, which is noise optimization. Appropriate calibration protocol: training window for gate sweep, validation window for evaluation — same forward-split discipline as signal thresholds.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Capacity and feature enrichment are medium-term directions requiring additional data infrastructure. The sensitivity analysis goal is methodologically important: if ranking order is highly sensitive to which 5 seeds or 4 splits are chosen, the ranking is not a reliable guide to live performance. Bootstrapping — generating many alternative (seed, split) sets and measuring ranking stability — quantifies this reliability. A stability score per pocket tells us how much to trust its rank.</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Section divider: Philosophical and Systems Insight — The Deeper Principles That Govern the Design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Markets do not reward clever signal identification; they reward the net of signal identification minus the cost of acting on it. The 'naive alpha' trap is well-documented in microstructure literature. Researchers identify predictable order flow patterns, compute gross returns, and conclude alpha exists. They fail to account for market impact, adverse selection, fees, and fill selectivity. Eclipse Scalper's architecture explicitly models the gap. Every component that appears to be operational overhead is doing epistemological work: measuring something real about the strategy's expected performance in a live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This framing reveals the system's design philosophy. The layers correspond to cognitive functions that any effective decision-making agent must perform. Perception is necessarily uncertain and approximate — the raw signal carries noise. Judgment is where most value is added or destroyed: premature action (weak signals) and delayed action (missing strong signals) both destroy value. The gate calibration problem is exactly the problem of making good judgment under uncertainty. Execution does not second-guess judgment — it executes faithfully. Reconciliation answers: 'What actually happened?' — the truth-correction mechanism.</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The evolutionary trajectory is a story of progressively better measurement fidelity. v1 was a signal generator dressed as a trading system. v2 added execution infrastructure. v3 first modeled execution reality — fill rates below 100% changed the research picture dramatically. v4 fixed the ranking system to reflect this. v5 adds the pre-attempt gate — first version with a research-validated path toward positive NPA. The trajectory is convergent: each version reduces illusion and increases accuracy. The goal is not to find alpha by any means — it is to find alpha that survives measurement.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This slide codifies the philosophical commitments that guided every architectural decision. 'Measure what you claim to measure' — if we claim to measure expected PnL, we must measure NPA, not per-fill returns, not gross returns, not in-sample PnL. 'A negative result that is honest is more valuable than a positive result that is not' — the system currently shows negative NPA. This is correct and valuable. An alternative system showing positive NPA by using in-sample data or ignoring fill rates would be showing a dishonest positive — deploying on it causes losses. Deployment trigger is concrete and falsifiable: NPA &gt; 0 at fee=1.0, adv=1.0 on held-out splits.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The infrastructure is production-ready. The research pipeline is scientifically rigorous. The alpha state is pre-deployment: NPA is negative at realistic conditions. When NPA turns positive on held-out data at realistic costs, the system is ready to deploy. Until then, the correct engineering answer is: measure more carefully, not deploy more aggressively.</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Section divider: Appendices — File Map · Observability · Repro Commands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Navigation aid for engineers exploring the codebase.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Observability conventions make the system's behavior inspectable without modifying it. JSONL telemetry allows offline analysis with jq, pandas, custom dashboards. Structured log prefixes enable grep-based filtering. Per-combo gate diagnostic fields allow direct inspection of gate effect at the individual (seed, split) level without aggregation loss.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These commands are the canonical repro steps for the current research state. Parameterized with values used to generate the results in this presentation. Running against the same database produces identical results (DAT-03).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008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11430000" cy="2011680"/>
          </a:xfrm>
          <a:prstGeom prst="rect">
            <a:avLst/>
          </a:prstGeom>
          <a:noFill/>
        </p:spPr>
        <p:txBody>
          <a:bodyPr wrap="square">
            <a:spAutoFit/>
          </a:bodyPr>
          <a:lstStyle/>
          <a:p/>
          <a:p>
            <a:pPr algn="l">
              <a:spcBef>
                <a:spcPts val="0"/>
              </a:spcBef>
              <a:spcAft>
                <a:spcPts val="400"/>
              </a:spcAft>
            </a:pPr>
            <a:r>
              <a:rPr sz="4200" b="1" i="0">
                <a:solidFill>
                  <a:srgbClr val="00D4FF"/>
                </a:solidFill>
              </a:rPr>
              <a:t>ECLIPSE SCALPER</a:t>
            </a:r>
          </a:p>
          <a:p>
            <a:pPr algn="l">
              <a:spcBef>
                <a:spcPts val="0"/>
              </a:spcBef>
              <a:spcAft>
                <a:spcPts val="0"/>
              </a:spcAft>
            </a:pPr>
            <a:r>
              <a:rPr sz="2600" b="0" i="0">
                <a:solidFill>
                  <a:srgbClr val="FFFFFF"/>
                </a:solidFill>
              </a:rPr>
              <a:t>Microstructure Alpha Discovery, Validation,</a:t>
            </a:r>
          </a:p>
          <a:p>
            <a:pPr algn="l">
              <a:spcBef>
                <a:spcPts val="0"/>
              </a:spcBef>
              <a:spcAft>
                <a:spcPts val="800"/>
              </a:spcAft>
            </a:pPr>
            <a:r>
              <a:rPr sz="2600" b="0" i="0">
                <a:solidFill>
                  <a:srgbClr val="FFFFFF"/>
                </a:solidFill>
              </a:rPr>
              <a:t>and Execution Realism</a:t>
            </a:r>
          </a:p>
        </p:txBody>
      </p:sp>
      <p:sp>
        <p:nvSpPr>
          <p:cNvPr id="5" name="Rectangle 4"/>
          <p:cNvSpPr/>
          <p:nvPr/>
        </p:nvSpPr>
        <p:spPr>
          <a:xfrm>
            <a:off x="457200" y="3246120"/>
            <a:ext cx="7315200" cy="27432"/>
          </a:xfrm>
          <a:prstGeom prst="rect">
            <a:avLst/>
          </a:prstGeom>
          <a:solidFill>
            <a:srgbClr val="00FF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3383280"/>
            <a:ext cx="10972800" cy="548640"/>
          </a:xfrm>
          <a:prstGeom prst="rect">
            <a:avLst/>
          </a:prstGeom>
          <a:noFill/>
        </p:spPr>
        <p:txBody>
          <a:bodyPr wrap="square">
            <a:spAutoFit/>
          </a:bodyPr>
          <a:lstStyle/>
          <a:p/>
          <a:p>
            <a:pPr algn="l">
              <a:spcBef>
                <a:spcPts val="0"/>
              </a:spcBef>
              <a:spcAft>
                <a:spcPts val="0"/>
              </a:spcAft>
            </a:pPr>
            <a:r>
              <a:rPr sz="1600" b="0" i="0">
                <a:solidFill>
                  <a:srgbClr val="B0C4D8"/>
                </a:solidFill>
              </a:rPr>
              <a:t>A Systems Engineering &amp; Quantitative Research Deep-Dive</a:t>
            </a:r>
          </a:p>
        </p:txBody>
      </p:sp>
      <p:sp>
        <p:nvSpPr>
          <p:cNvPr id="7" name="TextBox 6"/>
          <p:cNvSpPr txBox="1"/>
          <p:nvPr/>
        </p:nvSpPr>
        <p:spPr>
          <a:xfrm>
            <a:off x="457200" y="4023360"/>
            <a:ext cx="8229600" cy="1371600"/>
          </a:xfrm>
          <a:prstGeom prst="rect">
            <a:avLst/>
          </a:prstGeom>
          <a:noFill/>
        </p:spPr>
        <p:txBody>
          <a:bodyPr wrap="square">
            <a:spAutoFit/>
          </a:bodyPr>
          <a:lstStyle/>
          <a:p/>
          <a:p>
            <a:pPr algn="l">
              <a:spcBef>
                <a:spcPts val="0"/>
              </a:spcBef>
              <a:spcAft>
                <a:spcPts val="400"/>
              </a:spcAft>
            </a:pPr>
            <a:r>
              <a:rPr sz="1200" b="0" i="0">
                <a:solidFill>
                  <a:srgbClr val="60809A"/>
                </a:solidFill>
              </a:rPr>
              <a:t>Internal Engineering Review  |  Quantitative Research Division</a:t>
            </a:r>
          </a:p>
          <a:p>
            <a:pPr algn="l">
              <a:spcBef>
                <a:spcPts val="0"/>
              </a:spcBef>
              <a:spcAft>
                <a:spcPts val="400"/>
              </a:spcAft>
            </a:pPr>
            <a:r>
              <a:rPr sz="1100" b="0" i="0">
                <a:solidFill>
                  <a:srgbClr val="60809A"/>
                </a:solidFill>
              </a:rPr>
              <a:t>Branch: feat/reliability-gate-automation  |  Date: 2026-02-20</a:t>
            </a:r>
          </a:p>
          <a:p>
            <a:pPr algn="l">
              <a:spcBef>
                <a:spcPts val="0"/>
              </a:spcBef>
              <a:spcAft>
                <a:spcPts val="0"/>
              </a:spcAft>
            </a:pPr>
            <a:r>
              <a:rPr sz="1000" b="0" i="0">
                <a:solidFill>
                  <a:srgbClr val="60809A"/>
                </a:solidFill>
              </a:rPr>
              <a:t>79 tests passing  |  Python 3.13  |  python-pptx generated</a:t>
            </a:r>
          </a:p>
        </p:txBody>
      </p:sp>
      <p:sp>
        <p:nvSpPr>
          <p:cNvPr id="8" name="Rectangle 7"/>
          <p:cNvSpPr/>
          <p:nvPr/>
        </p:nvSpPr>
        <p:spPr>
          <a:xfrm>
            <a:off x="0" y="6803136"/>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0" y="3657600"/>
            <a:ext cx="3200400" cy="2560320"/>
          </a:xfrm>
          <a:prstGeom prst="rect">
            <a:avLst/>
          </a:prstGeom>
          <a:noFill/>
        </p:spPr>
        <p:txBody>
          <a:bodyPr wrap="square">
            <a:spAutoFit/>
          </a:bodyPr>
          <a:lstStyle/>
          <a:p/>
          <a:p>
            <a:pPr algn="l">
              <a:spcBef>
                <a:spcPts val="100"/>
              </a:spcBef>
              <a:spcAft>
                <a:spcPts val="100"/>
              </a:spcAft>
            </a:pPr>
            <a:r>
              <a:rPr sz="900" b="0" i="0">
                <a:solidFill>
                  <a:srgbClr val="00D4FF"/>
                </a:solidFill>
              </a:rPr>
              <a:t>signal</a:t>
            </a:r>
          </a:p>
          <a:p>
            <a:pPr algn="l">
              <a:spcBef>
                <a:spcPts val="100"/>
              </a:spcBef>
              <a:spcAft>
                <a:spcPts val="100"/>
              </a:spcAft>
            </a:pPr>
            <a:r>
              <a:rPr sz="900" b="0" i="0">
                <a:solidFill>
                  <a:srgbClr val="60809A"/>
                </a:solidFill>
              </a:rPr>
              <a:t>  ↓</a:t>
            </a:r>
          </a:p>
          <a:p>
            <a:pPr algn="l">
              <a:spcBef>
                <a:spcPts val="100"/>
              </a:spcBef>
              <a:spcAft>
                <a:spcPts val="100"/>
              </a:spcAft>
            </a:pPr>
            <a:r>
              <a:rPr sz="900" b="0" i="0">
                <a:solidFill>
                  <a:srgbClr val="00D4FF"/>
                </a:solidFill>
              </a:rPr>
              <a:t>entry_loop</a:t>
            </a:r>
          </a:p>
          <a:p>
            <a:pPr algn="l">
              <a:spcBef>
                <a:spcPts val="100"/>
              </a:spcBef>
              <a:spcAft>
                <a:spcPts val="100"/>
              </a:spcAft>
            </a:pPr>
            <a:r>
              <a:rPr sz="900" b="0" i="0">
                <a:solidFill>
                  <a:srgbClr val="60809A"/>
                </a:solidFill>
              </a:rPr>
              <a:t>  ↓</a:t>
            </a:r>
          </a:p>
          <a:p>
            <a:pPr algn="l">
              <a:spcBef>
                <a:spcPts val="100"/>
              </a:spcBef>
              <a:spcAft>
                <a:spcPts val="100"/>
              </a:spcAft>
            </a:pPr>
            <a:r>
              <a:rPr sz="900" b="0" i="0">
                <a:solidFill>
                  <a:srgbClr val="00D4FF"/>
                </a:solidFill>
              </a:rPr>
              <a:t>order_router</a:t>
            </a:r>
          </a:p>
          <a:p>
            <a:pPr algn="l">
              <a:spcBef>
                <a:spcPts val="100"/>
              </a:spcBef>
              <a:spcAft>
                <a:spcPts val="100"/>
              </a:spcAft>
            </a:pPr>
            <a:r>
              <a:rPr sz="900" b="0" i="0">
                <a:solidFill>
                  <a:srgbClr val="60809A"/>
                </a:solidFill>
              </a:rPr>
              <a:t>  ↓</a:t>
            </a:r>
          </a:p>
          <a:p>
            <a:pPr algn="l">
              <a:spcBef>
                <a:spcPts val="100"/>
              </a:spcBef>
              <a:spcAft>
                <a:spcPts val="100"/>
              </a:spcAft>
            </a:pPr>
            <a:r>
              <a:rPr sz="900" b="0" i="0">
                <a:solidFill>
                  <a:srgbClr val="00D4FF"/>
                </a:solidFill>
              </a:rPr>
              <a:t>exchange</a:t>
            </a:r>
          </a:p>
          <a:p>
            <a:pPr algn="l">
              <a:spcBef>
                <a:spcPts val="100"/>
              </a:spcBef>
              <a:spcAft>
                <a:spcPts val="100"/>
              </a:spcAft>
            </a:pPr>
            <a:r>
              <a:rPr sz="900" b="0" i="0">
                <a:solidFill>
                  <a:srgbClr val="60809A"/>
                </a:solidFill>
              </a:rPr>
              <a:t>  ↓</a:t>
            </a:r>
          </a:p>
          <a:p>
            <a:pPr algn="l">
              <a:spcBef>
                <a:spcPts val="100"/>
              </a:spcBef>
              <a:spcAft>
                <a:spcPts val="100"/>
              </a:spcAft>
            </a:pPr>
            <a:r>
              <a:rPr sz="900" b="0" i="0">
                <a:solidFill>
                  <a:srgbClr val="00D4FF"/>
                </a:solidFill>
              </a:rPr>
              <a:t>reconcile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3A5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371600" cy="1371600"/>
          </a:xfrm>
          <a:prstGeom prst="rect">
            <a:avLst/>
          </a:prstGeom>
          <a:noFill/>
        </p:spPr>
        <p:txBody>
          <a:bodyPr wrap="square">
            <a:spAutoFit/>
          </a:bodyPr>
          <a:lstStyle/>
          <a:p/>
          <a:p>
            <a:pPr algn="l">
              <a:spcBef>
                <a:spcPts val="0"/>
              </a:spcBef>
              <a:spcAft>
                <a:spcPts val="0"/>
              </a:spcAft>
            </a:pPr>
            <a:r>
              <a:rPr sz="7200" b="1" i="0">
                <a:solidFill>
                  <a:srgbClr val="00D4FF"/>
                </a:solidFill>
              </a:rPr>
              <a:t>I</a:t>
            </a:r>
          </a:p>
        </p:txBody>
      </p:sp>
      <p:sp>
        <p:nvSpPr>
          <p:cNvPr id="5" name="TextBox 4"/>
          <p:cNvSpPr txBox="1"/>
          <p:nvPr/>
        </p:nvSpPr>
        <p:spPr>
          <a:xfrm>
            <a:off x="2011680" y="2011680"/>
            <a:ext cx="9601200" cy="2286000"/>
          </a:xfrm>
          <a:prstGeom prst="rect">
            <a:avLst/>
          </a:prstGeom>
          <a:noFill/>
        </p:spPr>
        <p:txBody>
          <a:bodyPr wrap="square">
            <a:spAutoFit/>
          </a:bodyPr>
          <a:lstStyle/>
          <a:p/>
          <a:p>
            <a:pPr algn="l">
              <a:spcBef>
                <a:spcPts val="0"/>
              </a:spcBef>
              <a:spcAft>
                <a:spcPts val="600"/>
              </a:spcAft>
            </a:pPr>
            <a:r>
              <a:rPr sz="3400" b="1" i="0">
                <a:solidFill>
                  <a:srgbClr val="FFFFFF"/>
                </a:solidFill>
              </a:rPr>
              <a:t>System Architecture</a:t>
            </a:r>
          </a:p>
          <a:p>
            <a:pPr algn="l">
              <a:spcBef>
                <a:spcPts val="0"/>
              </a:spcBef>
              <a:spcAft>
                <a:spcPts val="0"/>
              </a:spcAft>
            </a:pPr>
            <a:r>
              <a:rPr sz="1600" b="0" i="0">
                <a:solidFill>
                  <a:srgbClr val="B0C4D8"/>
                </a:solidFill>
              </a:rPr>
              <a:t>Eclipse Scalper as a Distributed Execution Organism</a:t>
            </a:r>
          </a:p>
        </p:txBody>
      </p:sp>
      <p:sp>
        <p:nvSpPr>
          <p:cNvPr id="6" name="Rectangle 5"/>
          <p:cNvSpPr/>
          <p:nvPr/>
        </p:nvSpPr>
        <p:spPr>
          <a:xfrm>
            <a:off x="2011680" y="1920240"/>
            <a:ext cx="36576" cy="2011680"/>
          </a:xfrm>
          <a:prstGeom prst="rect">
            <a:avLst/>
          </a:prstGeom>
          <a:solidFill>
            <a:srgbClr val="00FF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F3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12191695" cy="658368"/>
          </a:xfrm>
          <a:prstGeom prst="rect">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10789920" cy="594360"/>
          </a:xfrm>
          <a:prstGeom prst="rect">
            <a:avLst/>
          </a:prstGeom>
          <a:noFill/>
        </p:spPr>
        <p:txBody>
          <a:bodyPr wrap="square">
            <a:spAutoFit/>
          </a:bodyPr>
          <a:lstStyle/>
          <a:p/>
          <a:p>
            <a:pPr algn="l">
              <a:spcBef>
                <a:spcPts val="0"/>
              </a:spcBef>
              <a:spcAft>
                <a:spcPts val="0"/>
              </a:spcAft>
            </a:pPr>
            <a:r>
              <a:rPr sz="2000" b="1" i="0">
                <a:solidFill>
                  <a:srgbClr val="FFFFFF"/>
                </a:solidFill>
              </a:rPr>
              <a:t>Architectural Overview — The Execution Pipeline</a:t>
            </a:r>
          </a:p>
        </p:txBody>
      </p:sp>
      <p:sp>
        <p:nvSpPr>
          <p:cNvPr id="5" name="TextBox 4"/>
          <p:cNvSpPr txBox="1"/>
          <p:nvPr/>
        </p:nvSpPr>
        <p:spPr>
          <a:xfrm>
            <a:off x="11155680" y="91440"/>
            <a:ext cx="914400" cy="457200"/>
          </a:xfrm>
          <a:prstGeom prst="rect">
            <a:avLst/>
          </a:prstGeom>
          <a:noFill/>
        </p:spPr>
        <p:txBody>
          <a:bodyPr wrap="square">
            <a:spAutoFit/>
          </a:bodyPr>
          <a:lstStyle/>
          <a:p/>
          <a:p>
            <a:pPr algn="r">
              <a:spcBef>
                <a:spcPts val="0"/>
              </a:spcBef>
              <a:spcAft>
                <a:spcPts val="0"/>
              </a:spcAft>
            </a:pPr>
            <a:r>
              <a:rPr sz="800" b="0" i="0">
                <a:solidFill>
                  <a:srgbClr val="00D4FF"/>
                </a:solidFill>
              </a:rPr>
              <a:t>1.1</a:t>
            </a:r>
          </a:p>
        </p:txBody>
      </p:sp>
      <p:sp>
        <p:nvSpPr>
          <p:cNvPr id="6" name="TextBox 5"/>
          <p:cNvSpPr txBox="1"/>
          <p:nvPr/>
        </p:nvSpPr>
        <p:spPr>
          <a:xfrm>
            <a:off x="274320" y="804672"/>
            <a:ext cx="6949440" cy="5760720"/>
          </a:xfrm>
          <a:prstGeom prst="rect">
            <a:avLst/>
          </a:prstGeom>
          <a:noFill/>
        </p:spPr>
        <p:txBody>
          <a:bodyPr wrap="square">
            <a:spAutoFit/>
          </a:bodyPr>
          <a:lstStyle/>
          <a:p>
            <a:pPr algn="l">
              <a:spcBef>
                <a:spcPts val="300"/>
              </a:spcBef>
              <a:spcAft>
                <a:spcPts val="200"/>
              </a:spcAft>
            </a:pPr>
            <a:r>
              <a:rPr sz="1300" b="1">
                <a:solidFill>
                  <a:srgbClr val="00D4FF"/>
                </a:solidFill>
              </a:rPr>
              <a:t>▸ </a:t>
            </a:r>
            <a:r>
              <a:rPr sz="1300" b="0">
                <a:solidFill>
                  <a:srgbClr val="FFFFFF"/>
                </a:solidFill>
              </a:rPr>
              <a:t>bootstrap.py — process lifecycle, lock acquisition, state hydration</a:t>
            </a:r>
          </a:p>
          <a:p>
            <a:pPr algn="l">
              <a:spcBef>
                <a:spcPts val="300"/>
              </a:spcBef>
              <a:spcAft>
                <a:spcPts val="200"/>
              </a:spcAft>
            </a:pPr>
            <a:r>
              <a:rPr sz="1300" b="1">
                <a:solidFill>
                  <a:srgbClr val="00D4FF"/>
                </a:solidFill>
              </a:rPr>
              <a:t>▸ </a:t>
            </a:r>
            <a:r>
              <a:rPr sz="1300" b="0">
                <a:solidFill>
                  <a:srgbClr val="FFFFFF"/>
                </a:solidFill>
              </a:rPr>
              <a:t>strategies/eclipse_scalper.py — per-symbol market event processing</a:t>
            </a:r>
          </a:p>
          <a:p>
            <a:pPr algn="l">
              <a:spcBef>
                <a:spcPts val="300"/>
              </a:spcBef>
              <a:spcAft>
                <a:spcPts val="200"/>
              </a:spcAft>
            </a:pPr>
            <a:r>
              <a:rPr sz="1300" b="1">
                <a:solidFill>
                  <a:srgbClr val="00D4FF"/>
                </a:solidFill>
              </a:rPr>
              <a:t>▸ </a:t>
            </a:r>
            <a:r>
              <a:rPr sz="1300" b="0">
                <a:solidFill>
                  <a:srgbClr val="FFFFFF"/>
                </a:solidFill>
              </a:rPr>
              <a:t>entry_loop.py — 20+ pre-submission gate checks before any order</a:t>
            </a:r>
          </a:p>
          <a:p>
            <a:pPr algn="l">
              <a:spcBef>
                <a:spcPts val="300"/>
              </a:spcBef>
              <a:spcAft>
                <a:spcPts val="200"/>
              </a:spcAft>
            </a:pPr>
            <a:r>
              <a:rPr sz="1300" b="1">
                <a:solidFill>
                  <a:srgbClr val="00D4FF"/>
                </a:solidFill>
              </a:rPr>
              <a:t>▸ </a:t>
            </a:r>
            <a:r>
              <a:rPr sz="1300" b="0">
                <a:solidFill>
                  <a:srgbClr val="FFFFFF"/>
                </a:solidFill>
              </a:rPr>
              <a:t>order_router.py — retry logic, idempotency, kill-switch enforcement</a:t>
            </a:r>
          </a:p>
          <a:p>
            <a:pPr algn="l">
              <a:spcBef>
                <a:spcPts val="300"/>
              </a:spcBef>
              <a:spcAft>
                <a:spcPts val="200"/>
              </a:spcAft>
            </a:pPr>
            <a:r>
              <a:rPr sz="1300" b="1">
                <a:solidFill>
                  <a:srgbClr val="00D4FF"/>
                </a:solidFill>
              </a:rPr>
              <a:t>▸ </a:t>
            </a:r>
            <a:r>
              <a:rPr sz="1300" b="0">
                <a:solidFill>
                  <a:srgbClr val="FFFFFF"/>
                </a:solidFill>
              </a:rPr>
              <a:t>exchanges/binance.py — ccxt wrapper, hedge-mode positionSide</a:t>
            </a:r>
          </a:p>
          <a:p>
            <a:pPr algn="l">
              <a:spcBef>
                <a:spcPts val="300"/>
              </a:spcBef>
              <a:spcAft>
                <a:spcPts val="200"/>
              </a:spcAft>
            </a:pPr>
            <a:r>
              <a:rPr sz="1300" b="1">
                <a:solidFill>
                  <a:srgbClr val="00D4FF"/>
                </a:solidFill>
              </a:rPr>
              <a:t>▸ </a:t>
            </a:r>
            <a:r>
              <a:rPr sz="1300" b="0">
                <a:solidFill>
                  <a:srgbClr val="FFFFFF"/>
                </a:solidFill>
              </a:rPr>
              <a:t>reconcile.py — exchange state as truth, local state as belief</a:t>
            </a:r>
          </a:p>
          <a:p>
            <a:pPr algn="l">
              <a:spcBef>
                <a:spcPts val="300"/>
              </a:spcBef>
              <a:spcAft>
                <a:spcPts val="200"/>
              </a:spcAft>
            </a:pPr>
            <a:r>
              <a:rPr sz="1300" b="1">
                <a:solidFill>
                  <a:srgbClr val="00D4FF"/>
                </a:solidFill>
              </a:rPr>
              <a:t>▸ </a:t>
            </a:r>
            <a:r>
              <a:rPr sz="1300" b="0">
                <a:solidFill>
                  <a:srgbClr val="FFFFFF"/>
                </a:solidFill>
              </a:rPr>
              <a:t>position_manager.py — stop-loss and take-profit lifecycle</a:t>
            </a:r>
          </a:p>
          <a:p>
            <a:pPr lvl="1" algn="l">
              <a:spcBef>
                <a:spcPts val="100"/>
              </a:spcBef>
              <a:spcAft>
                <a:spcPts val="200"/>
              </a:spcAft>
            </a:pPr>
            <a:r>
              <a:rPr sz="1100" b="0">
                <a:solidFill>
                  <a:srgbClr val="00FFB3"/>
                </a:solidFill>
              </a:rPr>
              <a:t>  · </a:t>
            </a:r>
            <a:r>
              <a:rPr sz="1100" b="0">
                <a:solidFill>
                  <a:srgbClr val="B0C4D8"/>
                </a:solidFill>
              </a:rPr>
              <a:t>Every layer has a single responsibility; no downstream component can override safety</a:t>
            </a:r>
          </a:p>
        </p:txBody>
      </p:sp>
      <p:sp>
        <p:nvSpPr>
          <p:cNvPr id="7" name="Rectangle 6"/>
          <p:cNvSpPr/>
          <p:nvPr/>
        </p:nvSpPr>
        <p:spPr>
          <a:xfrm>
            <a:off x="7406640" y="804672"/>
            <a:ext cx="4572000" cy="5760720"/>
          </a:xfrm>
          <a:prstGeom prst="rect">
            <a:avLst/>
          </a:prstGeom>
          <a:solidFill>
            <a:srgbClr val="153045"/>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00D4FF"/>
                </a:solidFill>
              </a:rPr>
              <a:t>[ VISUAL ]</a:t>
            </a:r>
          </a:p>
          <a:p>
            <a:pPr algn="ctr"/>
            <a:r>
              <a:rPr sz="700" i="1">
                <a:solidFill>
                  <a:srgbClr val="B0C4D8"/>
                </a:solidFill>
              </a:rPr>
              <a:t>Vertical pipeline: 6 boxes (bootstrap→signal→entry_loop→router→exchange→reconcile). Color: green=signal, amber=gates, blue=routing, grey=reconcile. Annotations show where kill-switch intercepts and where state reads occur.</a:t>
            </a:r>
          </a:p>
        </p:txBody>
      </p:sp>
      <p:sp>
        <p:nvSpPr>
          <p:cNvPr id="8" name="Rectangle 7"/>
          <p:cNvSpPr/>
          <p:nvPr/>
        </p:nvSpPr>
        <p:spPr>
          <a:xfrm>
            <a:off x="0" y="6812280"/>
            <a:ext cx="12191695" cy="45720"/>
          </a:xfrm>
          <a:prstGeom prst="rect">
            <a:avLst/>
          </a:prstGeom>
          <a:solidFill>
            <a:srgbClr val="008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F3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12191695" cy="658368"/>
          </a:xfrm>
          <a:prstGeom prst="rect">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10789920" cy="594360"/>
          </a:xfrm>
          <a:prstGeom prst="rect">
            <a:avLst/>
          </a:prstGeom>
          <a:noFill/>
        </p:spPr>
        <p:txBody>
          <a:bodyPr wrap="square">
            <a:spAutoFit/>
          </a:bodyPr>
          <a:lstStyle/>
          <a:p/>
          <a:p>
            <a:pPr algn="l">
              <a:spcBef>
                <a:spcPts val="0"/>
              </a:spcBef>
              <a:spcAft>
                <a:spcPts val="0"/>
              </a:spcAft>
            </a:pPr>
            <a:r>
              <a:rPr sz="2000" b="1" i="0">
                <a:solidFill>
                  <a:srgbClr val="FFFFFF"/>
                </a:solidFill>
              </a:rPr>
              <a:t>The Brain State Model — Eventual Consistency Under Adversity</a:t>
            </a:r>
          </a:p>
        </p:txBody>
      </p:sp>
      <p:sp>
        <p:nvSpPr>
          <p:cNvPr id="5" name="TextBox 4"/>
          <p:cNvSpPr txBox="1"/>
          <p:nvPr/>
        </p:nvSpPr>
        <p:spPr>
          <a:xfrm>
            <a:off x="11155680" y="91440"/>
            <a:ext cx="914400" cy="457200"/>
          </a:xfrm>
          <a:prstGeom prst="rect">
            <a:avLst/>
          </a:prstGeom>
          <a:noFill/>
        </p:spPr>
        <p:txBody>
          <a:bodyPr wrap="square">
            <a:spAutoFit/>
          </a:bodyPr>
          <a:lstStyle/>
          <a:p/>
          <a:p>
            <a:pPr algn="r">
              <a:spcBef>
                <a:spcPts val="0"/>
              </a:spcBef>
              <a:spcAft>
                <a:spcPts val="0"/>
              </a:spcAft>
            </a:pPr>
            <a:r>
              <a:rPr sz="800" b="0" i="0">
                <a:solidFill>
                  <a:srgbClr val="00D4FF"/>
                </a:solidFill>
              </a:rPr>
              <a:t>1.2</a:t>
            </a:r>
          </a:p>
        </p:txBody>
      </p:sp>
      <p:sp>
        <p:nvSpPr>
          <p:cNvPr id="6" name="TextBox 5"/>
          <p:cNvSpPr txBox="1"/>
          <p:nvPr/>
        </p:nvSpPr>
        <p:spPr>
          <a:xfrm>
            <a:off x="274320" y="804672"/>
            <a:ext cx="6949440" cy="5760720"/>
          </a:xfrm>
          <a:prstGeom prst="rect">
            <a:avLst/>
          </a:prstGeom>
          <a:noFill/>
        </p:spPr>
        <p:txBody>
          <a:bodyPr wrap="square">
            <a:spAutoFit/>
          </a:bodyPr>
          <a:lstStyle/>
          <a:p>
            <a:pPr algn="l">
              <a:spcBef>
                <a:spcPts val="300"/>
              </a:spcBef>
              <a:spcAft>
                <a:spcPts val="200"/>
              </a:spcAft>
            </a:pPr>
            <a:r>
              <a:rPr sz="1300" b="1">
                <a:solidFill>
                  <a:srgbClr val="00D4FF"/>
                </a:solidFill>
              </a:rPr>
              <a:t>▸ </a:t>
            </a:r>
            <a:r>
              <a:rPr sz="1300" b="0">
                <a:solidFill>
                  <a:srgbClr val="FFFFFF"/>
                </a:solidFill>
              </a:rPr>
              <a:t>PsycheState (brain/state.py): persisted as LZ4-compressed binary on disk</a:t>
            </a:r>
          </a:p>
          <a:p>
            <a:pPr algn="l">
              <a:spcBef>
                <a:spcPts val="300"/>
              </a:spcBef>
              <a:spcAft>
                <a:spcPts val="200"/>
              </a:spcAft>
            </a:pPr>
            <a:r>
              <a:rPr sz="1300" b="1">
                <a:solidFill>
                  <a:srgbClr val="00D4FF"/>
                </a:solidFill>
              </a:rPr>
              <a:t>▸ </a:t>
            </a:r>
            <a:r>
              <a:rPr sz="1300" b="0">
                <a:solidFill>
                  <a:srgbClr val="FFFFFF"/>
                </a:solidFill>
              </a:rPr>
              <a:t>Single source of truth: the exchange — local state is 'belief', not 'fact'</a:t>
            </a:r>
          </a:p>
          <a:p>
            <a:pPr algn="l">
              <a:spcBef>
                <a:spcPts val="300"/>
              </a:spcBef>
              <a:spcAft>
                <a:spcPts val="200"/>
              </a:spcAft>
            </a:pPr>
            <a:r>
              <a:rPr sz="1300" b="1">
                <a:solidFill>
                  <a:srgbClr val="00D4FF"/>
                </a:solidFill>
              </a:rPr>
              <a:t>▸ </a:t>
            </a:r>
            <a:r>
              <a:rPr sz="1300" b="0">
                <a:solidFill>
                  <a:srgbClr val="FFFFFF"/>
                </a:solidFill>
              </a:rPr>
              <a:t>run_context dict: ephemeral-but-durable runtime metadata surviving restarts</a:t>
            </a:r>
          </a:p>
          <a:p>
            <a:pPr algn="l">
              <a:spcBef>
                <a:spcPts val="300"/>
              </a:spcBef>
              <a:spcAft>
                <a:spcPts val="200"/>
              </a:spcAft>
            </a:pPr>
            <a:r>
              <a:rPr sz="1300" b="1">
                <a:solidFill>
                  <a:srgbClr val="00D4FF"/>
                </a:solidFill>
              </a:rPr>
              <a:t>▸ </a:t>
            </a:r>
            <a:r>
              <a:rPr sz="1300" b="0">
                <a:solidFill>
                  <a:srgbClr val="FFFFFF"/>
                </a:solidFill>
              </a:rPr>
              <a:t>Per-symbol async locks: shared between reconcile and position_manager</a:t>
            </a:r>
          </a:p>
          <a:p>
            <a:pPr algn="l">
              <a:spcBef>
                <a:spcPts val="300"/>
              </a:spcBef>
              <a:spcAft>
                <a:spcPts val="200"/>
              </a:spcAft>
            </a:pPr>
            <a:r>
              <a:rPr sz="1300" b="1">
                <a:solidFill>
                  <a:srgbClr val="00D4FF"/>
                </a:solidFill>
              </a:rPr>
              <a:t>▸ </a:t>
            </a:r>
            <a:r>
              <a:rPr sz="1300" b="0">
                <a:solidFill>
                  <a:srgbClr val="FFFFFF"/>
                </a:solidFill>
              </a:rPr>
              <a:t>WAL (write-ahead log) intents: prevent ghost submissions on restart</a:t>
            </a:r>
          </a:p>
          <a:p>
            <a:pPr algn="l">
              <a:spcBef>
                <a:spcPts val="300"/>
              </a:spcBef>
              <a:spcAft>
                <a:spcPts val="200"/>
              </a:spcAft>
            </a:pPr>
            <a:r>
              <a:rPr sz="1300" b="1">
                <a:solidFill>
                  <a:srgbClr val="00D4FF"/>
                </a:solidFill>
              </a:rPr>
              <a:t>▸ </a:t>
            </a:r>
            <a:r>
              <a:rPr sz="1300" b="0">
                <a:solidFill>
                  <a:srgbClr val="FFFFFF"/>
                </a:solidFill>
              </a:rPr>
              <a:t>Symbol canonicalization: BTC/USDT:USDT → BTCUSDT via symkey() — single source of truth</a:t>
            </a:r>
          </a:p>
          <a:p>
            <a:pPr lvl="1" algn="l">
              <a:spcBef>
                <a:spcPts val="100"/>
              </a:spcBef>
              <a:spcAft>
                <a:spcPts val="200"/>
              </a:spcAft>
            </a:pPr>
            <a:r>
              <a:rPr sz="1100" b="0">
                <a:solidFill>
                  <a:srgbClr val="00FFB3"/>
                </a:solidFill>
              </a:rPr>
              <a:t>  · </a:t>
            </a:r>
            <a:r>
              <a:rPr sz="1100" b="0">
                <a:solidFill>
                  <a:srgbClr val="B0C4D8"/>
                </a:solidFill>
              </a:rPr>
              <a:t>Crash-safe without distributed transaction protocol — WAL + reconcile handles it</a:t>
            </a:r>
          </a:p>
        </p:txBody>
      </p:sp>
      <p:sp>
        <p:nvSpPr>
          <p:cNvPr id="7" name="Rectangle 6"/>
          <p:cNvSpPr/>
          <p:nvPr/>
        </p:nvSpPr>
        <p:spPr>
          <a:xfrm>
            <a:off x="7406640" y="804672"/>
            <a:ext cx="4572000" cy="5760720"/>
          </a:xfrm>
          <a:prstGeom prst="rect">
            <a:avLst/>
          </a:prstGeom>
          <a:solidFill>
            <a:srgbClr val="153045"/>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00D4FF"/>
                </a:solidFill>
              </a:rPr>
              <a:t>[ VISUAL ]</a:t>
            </a:r>
          </a:p>
          <a:p>
            <a:pPr algn="ctr"/>
            <a:r>
              <a:rPr sz="700" i="1">
                <a:solidFill>
                  <a:srgbClr val="B0C4D8"/>
                </a:solidFill>
              </a:rPr>
              <a:t>Two-column: left=PsycheState (positions, run_context, WAL intents), right=Exchange state (fills, open orders). Bidirectional arrow labeled 'reconcile' between them. Crash scenario annotation: WAL intent survives → next boot resolves.</a:t>
            </a:r>
          </a:p>
        </p:txBody>
      </p:sp>
      <p:sp>
        <p:nvSpPr>
          <p:cNvPr id="8" name="Rectangle 7"/>
          <p:cNvSpPr/>
          <p:nvPr/>
        </p:nvSpPr>
        <p:spPr>
          <a:xfrm>
            <a:off x="0" y="6812280"/>
            <a:ext cx="12191695" cy="45720"/>
          </a:xfrm>
          <a:prstGeom prst="rect">
            <a:avLst/>
          </a:prstGeom>
          <a:solidFill>
            <a:srgbClr val="008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F3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12191695" cy="658368"/>
          </a:xfrm>
          <a:prstGeom prst="rect">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10789920" cy="594360"/>
          </a:xfrm>
          <a:prstGeom prst="rect">
            <a:avLst/>
          </a:prstGeom>
          <a:noFill/>
        </p:spPr>
        <p:txBody>
          <a:bodyPr wrap="square">
            <a:spAutoFit/>
          </a:bodyPr>
          <a:lstStyle/>
          <a:p/>
          <a:p>
            <a:pPr algn="l">
              <a:spcBef>
                <a:spcPts val="0"/>
              </a:spcBef>
              <a:spcAft>
                <a:spcPts val="0"/>
              </a:spcAft>
            </a:pPr>
            <a:r>
              <a:rPr sz="2000" b="1" i="0">
                <a:solidFill>
                  <a:srgbClr val="FFFFFF"/>
                </a:solidFill>
              </a:rPr>
              <a:t>Kill-Switch and Circuit Breaker — Safety Hierarchy</a:t>
            </a:r>
          </a:p>
        </p:txBody>
      </p:sp>
      <p:sp>
        <p:nvSpPr>
          <p:cNvPr id="5" name="TextBox 4"/>
          <p:cNvSpPr txBox="1"/>
          <p:nvPr/>
        </p:nvSpPr>
        <p:spPr>
          <a:xfrm>
            <a:off x="11155680" y="91440"/>
            <a:ext cx="914400" cy="457200"/>
          </a:xfrm>
          <a:prstGeom prst="rect">
            <a:avLst/>
          </a:prstGeom>
          <a:noFill/>
        </p:spPr>
        <p:txBody>
          <a:bodyPr wrap="square">
            <a:spAutoFit/>
          </a:bodyPr>
          <a:lstStyle/>
          <a:p/>
          <a:p>
            <a:pPr algn="r">
              <a:spcBef>
                <a:spcPts val="0"/>
              </a:spcBef>
              <a:spcAft>
                <a:spcPts val="0"/>
              </a:spcAft>
            </a:pPr>
            <a:r>
              <a:rPr sz="800" b="0" i="0">
                <a:solidFill>
                  <a:srgbClr val="00D4FF"/>
                </a:solidFill>
              </a:rPr>
              <a:t>1.3</a:t>
            </a:r>
          </a:p>
        </p:txBody>
      </p:sp>
      <p:sp>
        <p:nvSpPr>
          <p:cNvPr id="6" name="TextBox 5"/>
          <p:cNvSpPr txBox="1"/>
          <p:nvPr/>
        </p:nvSpPr>
        <p:spPr>
          <a:xfrm>
            <a:off x="274320" y="804672"/>
            <a:ext cx="6949440" cy="5760720"/>
          </a:xfrm>
          <a:prstGeom prst="rect">
            <a:avLst/>
          </a:prstGeom>
          <a:noFill/>
        </p:spPr>
        <p:txBody>
          <a:bodyPr wrap="square">
            <a:spAutoFit/>
          </a:bodyPr>
          <a:lstStyle/>
          <a:p>
            <a:pPr algn="l">
              <a:spcBef>
                <a:spcPts val="300"/>
              </a:spcBef>
              <a:spcAft>
                <a:spcPts val="200"/>
              </a:spcAft>
            </a:pPr>
            <a:r>
              <a:rPr sz="1300" b="1">
                <a:solidFill>
                  <a:srgbClr val="00D4FF"/>
                </a:solidFill>
              </a:rPr>
              <a:t>▸ </a:t>
            </a:r>
            <a:r>
              <a:rPr sz="1300" b="0">
                <a:solidFill>
                  <a:srgbClr val="FFFFFF"/>
                </a:solidFill>
              </a:rPr>
              <a:t>Kill-switch: binary halt — blocks ALL new entry submissions, always respected</a:t>
            </a:r>
          </a:p>
          <a:p>
            <a:pPr algn="l">
              <a:spcBef>
                <a:spcPts val="300"/>
              </a:spcBef>
              <a:spcAft>
                <a:spcPts val="200"/>
              </a:spcAft>
            </a:pPr>
            <a:r>
              <a:rPr sz="1300" b="1">
                <a:solidFill>
                  <a:srgbClr val="00D4FF"/>
                </a:solidFill>
              </a:rPr>
              <a:t>▸ </a:t>
            </a:r>
            <a:r>
              <a:rPr sz="1300" b="0">
                <a:solidFill>
                  <a:srgbClr val="FFFFFF"/>
                </a:solidFill>
              </a:rPr>
              <a:t>Circuit breaker: trip-on-loss — activates on threshold drawdown within rolling window</a:t>
            </a:r>
          </a:p>
          <a:p>
            <a:pPr algn="l">
              <a:spcBef>
                <a:spcPts val="300"/>
              </a:spcBef>
              <a:spcAft>
                <a:spcPts val="200"/>
              </a:spcAft>
            </a:pPr>
            <a:r>
              <a:rPr sz="1300" b="1">
                <a:solidFill>
                  <a:srgbClr val="00D4FF"/>
                </a:solidFill>
              </a:rPr>
              <a:t>▸ </a:t>
            </a:r>
            <a:r>
              <a:rPr sz="1300" b="0">
                <a:solidFill>
                  <a:srgbClr val="FFFFFF"/>
                </a:solidFill>
              </a:rPr>
              <a:t>EXITS ARE PRIVILEGED: intent_reduce_only=True orders bypass all entry restrictions</a:t>
            </a:r>
          </a:p>
          <a:p>
            <a:pPr algn="l">
              <a:spcBef>
                <a:spcPts val="300"/>
              </a:spcBef>
              <a:spcAft>
                <a:spcPts val="200"/>
              </a:spcAft>
            </a:pPr>
            <a:r>
              <a:rPr sz="1300" b="1">
                <a:solidFill>
                  <a:srgbClr val="00D4FF"/>
                </a:solidFill>
              </a:rPr>
              <a:t>▸ </a:t>
            </a:r>
            <a:r>
              <a:rPr sz="1300" b="0">
                <a:solidFill>
                  <a:srgbClr val="FFFFFF"/>
                </a:solidFill>
              </a:rPr>
              <a:t>No infinite retry loops: errors classified as retryable | fatal | idempotent_safe</a:t>
            </a:r>
          </a:p>
          <a:p>
            <a:pPr algn="l">
              <a:spcBef>
                <a:spcPts val="300"/>
              </a:spcBef>
              <a:spcAft>
                <a:spcPts val="200"/>
              </a:spcAft>
            </a:pPr>
            <a:r>
              <a:rPr sz="1300" b="1">
                <a:solidFill>
                  <a:srgbClr val="00D4FF"/>
                </a:solidFill>
              </a:rPr>
              <a:t>▸ </a:t>
            </a:r>
            <a:r>
              <a:rPr sz="1300" b="0">
                <a:solidFill>
                  <a:srgbClr val="FFFFFF"/>
                </a:solidFill>
              </a:rPr>
              <a:t>Kill-switch checked independently at both entry_loop AND router levels</a:t>
            </a:r>
          </a:p>
          <a:p>
            <a:pPr algn="l">
              <a:spcBef>
                <a:spcPts val="300"/>
              </a:spcBef>
              <a:spcAft>
                <a:spcPts val="200"/>
              </a:spcAft>
            </a:pPr>
            <a:r>
              <a:rPr sz="1300" b="1">
                <a:solidFill>
                  <a:srgbClr val="00D4FF"/>
                </a:solidFill>
              </a:rPr>
              <a:t>▸ </a:t>
            </a:r>
            <a:r>
              <a:rPr sz="1300" b="0">
                <a:solidFill>
                  <a:srgbClr val="FFFFFF"/>
                </a:solidFill>
              </a:rPr>
              <a:t>Circuit breaker is opt-in via bot.cfg.CIRCUIT_BREAKER_ENABLED — disabled in tests</a:t>
            </a:r>
          </a:p>
          <a:p>
            <a:pPr lvl="1" algn="l">
              <a:spcBef>
                <a:spcPts val="100"/>
              </a:spcBef>
              <a:spcAft>
                <a:spcPts val="200"/>
              </a:spcAft>
            </a:pPr>
            <a:r>
              <a:rPr sz="1100" b="0">
                <a:solidFill>
                  <a:srgbClr val="00FFB3"/>
                </a:solidFill>
              </a:rPr>
              <a:t>  · </a:t>
            </a:r>
            <a:r>
              <a:rPr sz="1100" b="0">
                <a:solidFill>
                  <a:srgbClr val="B0C4D8"/>
                </a:solidFill>
              </a:rPr>
              <a:t>A kill-switch that also blocks stop-losses would amplify risk, not manage it</a:t>
            </a:r>
          </a:p>
        </p:txBody>
      </p:sp>
      <p:sp>
        <p:nvSpPr>
          <p:cNvPr id="7" name="Rectangle 6"/>
          <p:cNvSpPr/>
          <p:nvPr/>
        </p:nvSpPr>
        <p:spPr>
          <a:xfrm>
            <a:off x="7406640" y="804672"/>
            <a:ext cx="4572000" cy="5760720"/>
          </a:xfrm>
          <a:prstGeom prst="rect">
            <a:avLst/>
          </a:prstGeom>
          <a:solidFill>
            <a:srgbClr val="153045"/>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00D4FF"/>
                </a:solidFill>
              </a:rPr>
              <a:t>[ VISUAL ]</a:t>
            </a:r>
          </a:p>
          <a:p>
            <a:pPr algn="ctr"/>
            <a:r>
              <a:rPr sz="700" i="1">
                <a:solidFill>
                  <a:srgbClr val="B0C4D8"/>
                </a:solidFill>
              </a:rPr>
              <a:t>Inverted triangle hierarchy: top (red)=Kill-Switch, middle (amber)=Circuit Breaker, bottom (green)=Normal Entry Flow. Separate lane on right: 'Exits/Reduce-Only' bypasses all levels. Annotations show the responsible module at each level.</a:t>
            </a:r>
          </a:p>
        </p:txBody>
      </p:sp>
      <p:sp>
        <p:nvSpPr>
          <p:cNvPr id="8" name="Rectangle 7"/>
          <p:cNvSpPr/>
          <p:nvPr/>
        </p:nvSpPr>
        <p:spPr>
          <a:xfrm>
            <a:off x="0" y="6812280"/>
            <a:ext cx="12191695" cy="45720"/>
          </a:xfrm>
          <a:prstGeom prst="rect">
            <a:avLst/>
          </a:prstGeom>
          <a:solidFill>
            <a:srgbClr val="008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F3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12191695" cy="658368"/>
          </a:xfrm>
          <a:prstGeom prst="rect">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10789920" cy="594360"/>
          </a:xfrm>
          <a:prstGeom prst="rect">
            <a:avLst/>
          </a:prstGeom>
          <a:noFill/>
        </p:spPr>
        <p:txBody>
          <a:bodyPr wrap="square">
            <a:spAutoFit/>
          </a:bodyPr>
          <a:lstStyle/>
          <a:p/>
          <a:p>
            <a:pPr algn="l">
              <a:spcBef>
                <a:spcPts val="0"/>
              </a:spcBef>
              <a:spcAft>
                <a:spcPts val="0"/>
              </a:spcAft>
            </a:pPr>
            <a:r>
              <a:rPr sz="2000" b="1" i="0">
                <a:solidFill>
                  <a:srgbClr val="FFFFFF"/>
                </a:solidFill>
              </a:rPr>
              <a:t>Intent Lifecycle and Idempotency Guarantees</a:t>
            </a:r>
          </a:p>
        </p:txBody>
      </p:sp>
      <p:sp>
        <p:nvSpPr>
          <p:cNvPr id="5" name="TextBox 4"/>
          <p:cNvSpPr txBox="1"/>
          <p:nvPr/>
        </p:nvSpPr>
        <p:spPr>
          <a:xfrm>
            <a:off x="11155680" y="91440"/>
            <a:ext cx="914400" cy="457200"/>
          </a:xfrm>
          <a:prstGeom prst="rect">
            <a:avLst/>
          </a:prstGeom>
          <a:noFill/>
        </p:spPr>
        <p:txBody>
          <a:bodyPr wrap="square">
            <a:spAutoFit/>
          </a:bodyPr>
          <a:lstStyle/>
          <a:p/>
          <a:p>
            <a:pPr algn="r">
              <a:spcBef>
                <a:spcPts val="0"/>
              </a:spcBef>
              <a:spcAft>
                <a:spcPts val="0"/>
              </a:spcAft>
            </a:pPr>
            <a:r>
              <a:rPr sz="800" b="0" i="0">
                <a:solidFill>
                  <a:srgbClr val="00D4FF"/>
                </a:solidFill>
              </a:rPr>
              <a:t>1.4</a:t>
            </a:r>
          </a:p>
        </p:txBody>
      </p:sp>
      <p:sp>
        <p:nvSpPr>
          <p:cNvPr id="6" name="TextBox 5"/>
          <p:cNvSpPr txBox="1"/>
          <p:nvPr/>
        </p:nvSpPr>
        <p:spPr>
          <a:xfrm>
            <a:off x="274320" y="804672"/>
            <a:ext cx="6949440" cy="5760720"/>
          </a:xfrm>
          <a:prstGeom prst="rect">
            <a:avLst/>
          </a:prstGeom>
          <a:noFill/>
        </p:spPr>
        <p:txBody>
          <a:bodyPr wrap="square">
            <a:spAutoFit/>
          </a:bodyPr>
          <a:lstStyle/>
          <a:p>
            <a:pPr algn="l">
              <a:spcBef>
                <a:spcPts val="300"/>
              </a:spcBef>
              <a:spcAft>
                <a:spcPts val="200"/>
              </a:spcAft>
            </a:pPr>
            <a:r>
              <a:rPr sz="1300" b="1">
                <a:solidFill>
                  <a:srgbClr val="00D4FF"/>
                </a:solidFill>
              </a:rPr>
              <a:t>▸ </a:t>
            </a:r>
            <a:r>
              <a:rPr sz="1300" b="0">
                <a:solidFill>
                  <a:srgbClr val="FFFFFF"/>
                </a:solidFill>
              </a:rPr>
              <a:t>Intent: typed record describing desired position action (open, reduce, close)</a:t>
            </a:r>
          </a:p>
          <a:p>
            <a:pPr algn="l">
              <a:spcBef>
                <a:spcPts val="300"/>
              </a:spcBef>
              <a:spcAft>
                <a:spcPts val="200"/>
              </a:spcAft>
            </a:pPr>
            <a:r>
              <a:rPr sz="1300" b="1">
                <a:solidFill>
                  <a:srgbClr val="00D4FF"/>
                </a:solidFill>
              </a:rPr>
              <a:t>▸ </a:t>
            </a:r>
            <a:r>
              <a:rPr sz="1300" b="0">
                <a:solidFill>
                  <a:srgbClr val="FFFFFF"/>
                </a:solidFill>
              </a:rPr>
              <a:t>States: pending → submitted → confirmed → completed | failed | orphaned</a:t>
            </a:r>
          </a:p>
          <a:p>
            <a:pPr algn="l">
              <a:spcBef>
                <a:spcPts val="300"/>
              </a:spcBef>
              <a:spcAft>
                <a:spcPts val="200"/>
              </a:spcAft>
            </a:pPr>
            <a:r>
              <a:rPr sz="1300" b="1">
                <a:solidFill>
                  <a:srgbClr val="00D4FF"/>
                </a:solidFill>
              </a:rPr>
              <a:t>▸ </a:t>
            </a:r>
            <a:r>
              <a:rPr sz="1300" b="0">
                <a:solidFill>
                  <a:srgbClr val="FFFFFF"/>
                </a:solidFill>
              </a:rPr>
              <a:t>Idempotency: same intent submitted twice → exchange detects via clientOrderId</a:t>
            </a:r>
          </a:p>
          <a:p>
            <a:pPr algn="l">
              <a:spcBef>
                <a:spcPts val="300"/>
              </a:spcBef>
              <a:spcAft>
                <a:spcPts val="200"/>
              </a:spcAft>
            </a:pPr>
            <a:r>
              <a:rPr sz="1300" b="1">
                <a:solidFill>
                  <a:srgbClr val="00D4FF"/>
                </a:solidFill>
              </a:rPr>
              <a:t>▸ </a:t>
            </a:r>
            <a:r>
              <a:rPr sz="1300" b="0">
                <a:solidFill>
                  <a:srgbClr val="FFFFFF"/>
                </a:solidFill>
              </a:rPr>
              <a:t>clientOrderId: deterministic, derived from symbol+side+timestamp — max 35 chars (Binance limit)</a:t>
            </a:r>
          </a:p>
          <a:p>
            <a:pPr algn="l">
              <a:spcBef>
                <a:spcPts val="300"/>
              </a:spcBef>
              <a:spcAft>
                <a:spcPts val="200"/>
              </a:spcAft>
            </a:pPr>
            <a:r>
              <a:rPr sz="1300" b="1">
                <a:solidFill>
                  <a:srgbClr val="00D4FF"/>
                </a:solidFill>
              </a:rPr>
              <a:t>▸ </a:t>
            </a:r>
            <a:r>
              <a:rPr sz="1300" b="0">
                <a:solidFill>
                  <a:srgbClr val="FFFFFF"/>
                </a:solidFill>
              </a:rPr>
              <a:t>Orphan detection: intents with no exchange match after TTL → reconciled away</a:t>
            </a:r>
          </a:p>
          <a:p>
            <a:pPr algn="l">
              <a:spcBef>
                <a:spcPts val="300"/>
              </a:spcBef>
              <a:spcAft>
                <a:spcPts val="200"/>
              </a:spcAft>
            </a:pPr>
            <a:r>
              <a:rPr sz="1300" b="1">
                <a:solidFill>
                  <a:srgbClr val="00D4FF"/>
                </a:solidFill>
              </a:rPr>
              <a:t>▸ </a:t>
            </a:r>
            <a:r>
              <a:rPr sz="1300" b="0">
                <a:solidFill>
                  <a:srgbClr val="FFFFFF"/>
                </a:solidFill>
              </a:rPr>
              <a:t>EXE-02 Lifecycle completeness: every intent must reach a terminal state — no leaks</a:t>
            </a:r>
          </a:p>
          <a:p>
            <a:pPr lvl="1" algn="l">
              <a:spcBef>
                <a:spcPts val="100"/>
              </a:spcBef>
              <a:spcAft>
                <a:spcPts val="200"/>
              </a:spcAft>
            </a:pPr>
            <a:r>
              <a:rPr sz="1100" b="0">
                <a:solidFill>
                  <a:srgbClr val="00FFB3"/>
                </a:solidFill>
              </a:rPr>
              <a:t>  · </a:t>
            </a:r>
            <a:r>
              <a:rPr sz="1100" b="0">
                <a:solidFill>
                  <a:srgbClr val="B0C4D8"/>
                </a:solidFill>
              </a:rPr>
              <a:t>WAL intent written BEFORE exchange call — crash between write and submit is handled</a:t>
            </a:r>
          </a:p>
        </p:txBody>
      </p:sp>
      <p:sp>
        <p:nvSpPr>
          <p:cNvPr id="7" name="Rectangle 6"/>
          <p:cNvSpPr/>
          <p:nvPr/>
        </p:nvSpPr>
        <p:spPr>
          <a:xfrm>
            <a:off x="7406640" y="804672"/>
            <a:ext cx="4572000" cy="5760720"/>
          </a:xfrm>
          <a:prstGeom prst="rect">
            <a:avLst/>
          </a:prstGeom>
          <a:solidFill>
            <a:srgbClr val="153045"/>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00D4FF"/>
                </a:solidFill>
              </a:rPr>
              <a:t>[ VISUAL ]</a:t>
            </a:r>
          </a:p>
          <a:p>
            <a:pPr algn="ctr"/>
            <a:r>
              <a:rPr sz="700" i="1">
                <a:solidFill>
                  <a:srgbClr val="B0C4D8"/>
                </a:solidFill>
              </a:rPr>
              <a:t>State machine: nodes=pending/submitted/confirmed/completed/failed/orphaned. Directed edges labeled: submit, exchange ack, reconcile fill, reconcile miss TTL, exchange reject. Terminal states color-coded: completed=green, failed=amber, orphaned=red. Inset: clientOrderId format string.</a:t>
            </a:r>
          </a:p>
        </p:txBody>
      </p:sp>
      <p:sp>
        <p:nvSpPr>
          <p:cNvPr id="8" name="Rectangle 7"/>
          <p:cNvSpPr/>
          <p:nvPr/>
        </p:nvSpPr>
        <p:spPr>
          <a:xfrm>
            <a:off x="0" y="6812280"/>
            <a:ext cx="12191695" cy="45720"/>
          </a:xfrm>
          <a:prstGeom prst="rect">
            <a:avLst/>
          </a:prstGeom>
          <a:solidFill>
            <a:srgbClr val="008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F3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12191695" cy="658368"/>
          </a:xfrm>
          <a:prstGeom prst="rect">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10789920" cy="594360"/>
          </a:xfrm>
          <a:prstGeom prst="rect">
            <a:avLst/>
          </a:prstGeom>
          <a:noFill/>
        </p:spPr>
        <p:txBody>
          <a:bodyPr wrap="square">
            <a:spAutoFit/>
          </a:bodyPr>
          <a:lstStyle/>
          <a:p/>
          <a:p>
            <a:pPr algn="l">
              <a:spcBef>
                <a:spcPts val="0"/>
              </a:spcBef>
              <a:spcAft>
                <a:spcPts val="0"/>
              </a:spcAft>
            </a:pPr>
            <a:r>
              <a:rPr sz="2000" b="1" i="0">
                <a:solidFill>
                  <a:srgbClr val="FFFFFF"/>
                </a:solidFill>
              </a:rPr>
              <a:t>Execution Invariants — The Non-Negotiable Contracts</a:t>
            </a:r>
          </a:p>
        </p:txBody>
      </p:sp>
      <p:sp>
        <p:nvSpPr>
          <p:cNvPr id="5" name="TextBox 4"/>
          <p:cNvSpPr txBox="1"/>
          <p:nvPr/>
        </p:nvSpPr>
        <p:spPr>
          <a:xfrm>
            <a:off x="11155680" y="91440"/>
            <a:ext cx="914400" cy="457200"/>
          </a:xfrm>
          <a:prstGeom prst="rect">
            <a:avLst/>
          </a:prstGeom>
          <a:noFill/>
        </p:spPr>
        <p:txBody>
          <a:bodyPr wrap="square">
            <a:spAutoFit/>
          </a:bodyPr>
          <a:lstStyle/>
          <a:p/>
          <a:p>
            <a:pPr algn="r">
              <a:spcBef>
                <a:spcPts val="0"/>
              </a:spcBef>
              <a:spcAft>
                <a:spcPts val="0"/>
              </a:spcAft>
            </a:pPr>
            <a:r>
              <a:rPr sz="800" b="0" i="0">
                <a:solidFill>
                  <a:srgbClr val="00D4FF"/>
                </a:solidFill>
              </a:rPr>
              <a:t>1.5</a:t>
            </a:r>
          </a:p>
        </p:txBody>
      </p:sp>
      <p:sp>
        <p:nvSpPr>
          <p:cNvPr id="6" name="TextBox 5"/>
          <p:cNvSpPr txBox="1"/>
          <p:nvPr/>
        </p:nvSpPr>
        <p:spPr>
          <a:xfrm>
            <a:off x="274320" y="804672"/>
            <a:ext cx="6949440" cy="5760720"/>
          </a:xfrm>
          <a:prstGeom prst="rect">
            <a:avLst/>
          </a:prstGeom>
          <a:noFill/>
        </p:spPr>
        <p:txBody>
          <a:bodyPr wrap="square">
            <a:spAutoFit/>
          </a:bodyPr>
          <a:lstStyle/>
          <a:p>
            <a:pPr algn="l">
              <a:spcBef>
                <a:spcPts val="300"/>
              </a:spcBef>
              <a:spcAft>
                <a:spcPts val="200"/>
              </a:spcAft>
            </a:pPr>
            <a:r>
              <a:rPr sz="1300" b="1">
                <a:solidFill>
                  <a:srgbClr val="00D4FF"/>
                </a:solidFill>
              </a:rPr>
              <a:t>▸ </a:t>
            </a:r>
            <a:r>
              <a:rPr sz="1300" b="0">
                <a:solidFill>
                  <a:srgbClr val="FFFFFF"/>
                </a:solidFill>
              </a:rPr>
              <a:t>EXE-01 Router idempotency: same intent → same observable result, no side-effect doubling</a:t>
            </a:r>
          </a:p>
          <a:p>
            <a:pPr algn="l">
              <a:spcBef>
                <a:spcPts val="300"/>
              </a:spcBef>
              <a:spcAft>
                <a:spcPts val="200"/>
              </a:spcAft>
            </a:pPr>
            <a:r>
              <a:rPr sz="1300" b="1">
                <a:solidFill>
                  <a:srgbClr val="00D4FF"/>
                </a:solidFill>
              </a:rPr>
              <a:t>▸ </a:t>
            </a:r>
            <a:r>
              <a:rPr sz="1300" b="0">
                <a:solidFill>
                  <a:srgbClr val="FFFFFF"/>
                </a:solidFill>
              </a:rPr>
              <a:t>EXE-02 Lifecycle completeness: every intent reaches terminal state, no leaks ever</a:t>
            </a:r>
          </a:p>
          <a:p>
            <a:pPr algn="l">
              <a:spcBef>
                <a:spcPts val="300"/>
              </a:spcBef>
              <a:spcAft>
                <a:spcPts val="200"/>
              </a:spcAft>
            </a:pPr>
            <a:r>
              <a:rPr sz="1300" b="1">
                <a:solidFill>
                  <a:srgbClr val="00D4FF"/>
                </a:solidFill>
              </a:rPr>
              <a:t>▸ </a:t>
            </a:r>
            <a:r>
              <a:rPr sz="1300" b="0">
                <a:solidFill>
                  <a:srgbClr val="FFFFFF"/>
                </a:solidFill>
              </a:rPr>
              <a:t>EXE-03 Kill-switch precedence: kill-switch overrides all other logic for entries</a:t>
            </a:r>
          </a:p>
          <a:p>
            <a:pPr algn="l">
              <a:spcBef>
                <a:spcPts val="300"/>
              </a:spcBef>
              <a:spcAft>
                <a:spcPts val="200"/>
              </a:spcAft>
            </a:pPr>
            <a:r>
              <a:rPr sz="1300" b="1">
                <a:solidFill>
                  <a:srgbClr val="00D4FF"/>
                </a:solidFill>
              </a:rPr>
              <a:t>▸ </a:t>
            </a:r>
            <a:r>
              <a:rPr sz="1300" b="0">
                <a:solidFill>
                  <a:srgbClr val="FFFFFF"/>
                </a:solidFill>
              </a:rPr>
              <a:t>EXE-04 Restart safety: state after restart ≡ state of continuous operation</a:t>
            </a:r>
          </a:p>
          <a:p>
            <a:pPr algn="l">
              <a:spcBef>
                <a:spcPts val="300"/>
              </a:spcBef>
              <a:spcAft>
                <a:spcPts val="200"/>
              </a:spcAft>
            </a:pPr>
            <a:r>
              <a:rPr sz="1300" b="1">
                <a:solidFill>
                  <a:srgbClr val="00D4FF"/>
                </a:solidFill>
              </a:rPr>
              <a:t>▸ </a:t>
            </a:r>
            <a:r>
              <a:rPr sz="1300" b="0">
                <a:solidFill>
                  <a:srgbClr val="FFFFFF"/>
                </a:solidFill>
              </a:rPr>
              <a:t>EXE-05 Risk bounds: position sizes and exposure never exceed configured maximums</a:t>
            </a:r>
          </a:p>
          <a:p>
            <a:pPr lvl="1" algn="l">
              <a:spcBef>
                <a:spcPts val="100"/>
              </a:spcBef>
              <a:spcAft>
                <a:spcPts val="200"/>
              </a:spcAft>
            </a:pPr>
            <a:r>
              <a:rPr sz="1100" b="0">
                <a:solidFill>
                  <a:srgbClr val="00FFB3"/>
                </a:solidFill>
              </a:rPr>
              <a:t>  · </a:t>
            </a:r>
            <a:r>
              <a:rPr sz="1100" b="0">
                <a:solidFill>
                  <a:srgbClr val="B0C4D8"/>
                </a:solidFill>
              </a:rPr>
              <a:t>A proposed change that violates any of these five is rejected regardless of claimed benefit</a:t>
            </a:r>
          </a:p>
          <a:p>
            <a:pPr lvl="1" algn="l">
              <a:spcBef>
                <a:spcPts val="100"/>
              </a:spcBef>
              <a:spcAft>
                <a:spcPts val="200"/>
              </a:spcAft>
            </a:pPr>
            <a:r>
              <a:rPr sz="1100" b="0">
                <a:solidFill>
                  <a:srgbClr val="00FFB3"/>
                </a:solidFill>
              </a:rPr>
              <a:t>  · </a:t>
            </a:r>
            <a:r>
              <a:rPr sz="1100" b="0">
                <a:solidFill>
                  <a:srgbClr val="B0C4D8"/>
                </a:solidFill>
              </a:rPr>
              <a:t>EXE-04 is the hardest: run 10h + crash + restart ≡ run 20h continuously</a:t>
            </a:r>
          </a:p>
        </p:txBody>
      </p:sp>
      <p:sp>
        <p:nvSpPr>
          <p:cNvPr id="7" name="Rectangle 6"/>
          <p:cNvSpPr/>
          <p:nvPr/>
        </p:nvSpPr>
        <p:spPr>
          <a:xfrm>
            <a:off x="7406640" y="804672"/>
            <a:ext cx="4572000" cy="5760720"/>
          </a:xfrm>
          <a:prstGeom prst="rect">
            <a:avLst/>
          </a:prstGeom>
          <a:solidFill>
            <a:srgbClr val="153045"/>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00D4FF"/>
                </a:solidFill>
              </a:rPr>
              <a:t>[ VISUAL ]</a:t>
            </a:r>
          </a:p>
          <a:p>
            <a:pPr algn="ctr"/>
            <a:r>
              <a:rPr sz="700" i="1">
                <a:solidFill>
                  <a:srgbClr val="B0C4D8"/>
                </a:solidFill>
              </a:rPr>
              <a:t>Five rows, each with invariant ID, name, one-line description, and green checkmark. Footer: 'Violation of any invariant = critical system failure requiring immediate halt'.</a:t>
            </a:r>
          </a:p>
        </p:txBody>
      </p:sp>
      <p:sp>
        <p:nvSpPr>
          <p:cNvPr id="8" name="Rectangle 7"/>
          <p:cNvSpPr/>
          <p:nvPr/>
        </p:nvSpPr>
        <p:spPr>
          <a:xfrm>
            <a:off x="0" y="6812280"/>
            <a:ext cx="12191695" cy="45720"/>
          </a:xfrm>
          <a:prstGeom prst="rect">
            <a:avLst/>
          </a:prstGeom>
          <a:solidFill>
            <a:srgbClr val="008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F3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12191695" cy="658368"/>
          </a:xfrm>
          <a:prstGeom prst="rect">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10789920" cy="594360"/>
          </a:xfrm>
          <a:prstGeom prst="rect">
            <a:avLst/>
          </a:prstGeom>
          <a:noFill/>
        </p:spPr>
        <p:txBody>
          <a:bodyPr wrap="square">
            <a:spAutoFit/>
          </a:bodyPr>
          <a:lstStyle/>
          <a:p/>
          <a:p>
            <a:pPr algn="l">
              <a:spcBef>
                <a:spcPts val="0"/>
              </a:spcBef>
              <a:spcAft>
                <a:spcPts val="0"/>
              </a:spcAft>
            </a:pPr>
            <a:r>
              <a:rPr sz="2000" b="1" i="0">
                <a:solidFill>
                  <a:srgbClr val="FFFFFF"/>
                </a:solidFill>
              </a:rPr>
              <a:t>Why Execution Reliability Outweighs Signal Accuracy</a:t>
            </a:r>
          </a:p>
        </p:txBody>
      </p:sp>
      <p:sp>
        <p:nvSpPr>
          <p:cNvPr id="5" name="TextBox 4"/>
          <p:cNvSpPr txBox="1"/>
          <p:nvPr/>
        </p:nvSpPr>
        <p:spPr>
          <a:xfrm>
            <a:off x="11155680" y="91440"/>
            <a:ext cx="914400" cy="457200"/>
          </a:xfrm>
          <a:prstGeom prst="rect">
            <a:avLst/>
          </a:prstGeom>
          <a:noFill/>
        </p:spPr>
        <p:txBody>
          <a:bodyPr wrap="square">
            <a:spAutoFit/>
          </a:bodyPr>
          <a:lstStyle/>
          <a:p/>
          <a:p>
            <a:pPr algn="r">
              <a:spcBef>
                <a:spcPts val="0"/>
              </a:spcBef>
              <a:spcAft>
                <a:spcPts val="0"/>
              </a:spcAft>
            </a:pPr>
            <a:r>
              <a:rPr sz="800" b="0" i="0">
                <a:solidFill>
                  <a:srgbClr val="00D4FF"/>
                </a:solidFill>
              </a:rPr>
              <a:t>1.6</a:t>
            </a:r>
          </a:p>
        </p:txBody>
      </p:sp>
      <p:sp>
        <p:nvSpPr>
          <p:cNvPr id="6" name="TextBox 5"/>
          <p:cNvSpPr txBox="1"/>
          <p:nvPr/>
        </p:nvSpPr>
        <p:spPr>
          <a:xfrm>
            <a:off x="274320" y="804672"/>
            <a:ext cx="6949440" cy="5760720"/>
          </a:xfrm>
          <a:prstGeom prst="rect">
            <a:avLst/>
          </a:prstGeom>
          <a:noFill/>
        </p:spPr>
        <p:txBody>
          <a:bodyPr wrap="square">
            <a:spAutoFit/>
          </a:bodyPr>
          <a:lstStyle/>
          <a:p>
            <a:pPr algn="l">
              <a:spcBef>
                <a:spcPts val="300"/>
              </a:spcBef>
              <a:spcAft>
                <a:spcPts val="200"/>
              </a:spcAft>
            </a:pPr>
            <a:r>
              <a:rPr sz="1300" b="1">
                <a:solidFill>
                  <a:srgbClr val="00D4FF"/>
                </a:solidFill>
              </a:rPr>
              <a:t>▸ </a:t>
            </a:r>
            <a:r>
              <a:rPr sz="1300" b="0">
                <a:solidFill>
                  <a:srgbClr val="FFFFFF"/>
                </a:solidFill>
              </a:rPr>
              <a:t>A 55% accurate signal with 3% execution error rate → negative expected value</a:t>
            </a:r>
          </a:p>
          <a:p>
            <a:pPr algn="l">
              <a:spcBef>
                <a:spcPts val="300"/>
              </a:spcBef>
              <a:spcAft>
                <a:spcPts val="200"/>
              </a:spcAft>
            </a:pPr>
            <a:r>
              <a:rPr sz="1300" b="1">
                <a:solidFill>
                  <a:srgbClr val="00D4FF"/>
                </a:solidFill>
              </a:rPr>
              <a:t>▸ </a:t>
            </a:r>
            <a:r>
              <a:rPr sz="1300" b="0">
                <a:solidFill>
                  <a:srgbClr val="FFFFFF"/>
                </a:solidFill>
              </a:rPr>
              <a:t>Silent execution bugs compound: ghost orders, missed closes, position drift</a:t>
            </a:r>
          </a:p>
          <a:p>
            <a:pPr algn="l">
              <a:spcBef>
                <a:spcPts val="300"/>
              </a:spcBef>
              <a:spcAft>
                <a:spcPts val="200"/>
              </a:spcAft>
            </a:pPr>
            <a:r>
              <a:rPr sz="1300" b="1">
                <a:solidFill>
                  <a:srgbClr val="00D4FF"/>
                </a:solidFill>
              </a:rPr>
              <a:t>▸ </a:t>
            </a:r>
            <a:r>
              <a:rPr sz="1300" b="0">
                <a:solidFill>
                  <a:srgbClr val="FFFFFF"/>
                </a:solidFill>
              </a:rPr>
              <a:t>Measurement fidelity determines whether alpha exists or is an artifact</a:t>
            </a:r>
          </a:p>
          <a:p>
            <a:pPr algn="l">
              <a:spcBef>
                <a:spcPts val="300"/>
              </a:spcBef>
              <a:spcAft>
                <a:spcPts val="200"/>
              </a:spcAft>
            </a:pPr>
            <a:r>
              <a:rPr sz="1300" b="1">
                <a:solidFill>
                  <a:srgbClr val="00D4FF"/>
                </a:solidFill>
              </a:rPr>
              <a:t>▸ </a:t>
            </a:r>
            <a:r>
              <a:rPr sz="1300" b="0">
                <a:solidFill>
                  <a:srgbClr val="FFFFFF"/>
                </a:solidFill>
              </a:rPr>
              <a:t>Signal alpha is fragile: market regimes shift. Execution bugs are permanent.</a:t>
            </a:r>
          </a:p>
          <a:p>
            <a:pPr algn="l">
              <a:spcBef>
                <a:spcPts val="300"/>
              </a:spcBef>
              <a:spcAft>
                <a:spcPts val="200"/>
              </a:spcAft>
            </a:pPr>
            <a:r>
              <a:rPr sz="1300" b="1">
                <a:solidFill>
                  <a:srgbClr val="00D4FF"/>
                </a:solidFill>
              </a:rPr>
              <a:t>▸ </a:t>
            </a:r>
            <a:r>
              <a:rPr sz="1300" b="0">
                <a:solidFill>
                  <a:srgbClr val="FFFFFF"/>
                </a:solidFill>
              </a:rPr>
              <a:t>The system is a measurement instrument first, a trading system second</a:t>
            </a:r>
          </a:p>
          <a:p>
            <a:pPr lvl="1" algn="l">
              <a:spcBef>
                <a:spcPts val="100"/>
              </a:spcBef>
              <a:spcAft>
                <a:spcPts val="200"/>
              </a:spcAft>
            </a:pPr>
            <a:r>
              <a:rPr sz="1100" b="0">
                <a:solidFill>
                  <a:srgbClr val="00FFB3"/>
                </a:solidFill>
              </a:rPr>
              <a:t>  · </a:t>
            </a:r>
            <a:r>
              <a:rPr sz="1100" b="0">
                <a:solidFill>
                  <a:srgbClr val="B0C4D8"/>
                </a:solidFill>
              </a:rPr>
              <a:t>Example: 55% accuracy, +0.8 bps avg → 2% wrong-size errors + 1% market-order slips → net negative</a:t>
            </a:r>
          </a:p>
          <a:p>
            <a:pPr lvl="1" algn="l">
              <a:spcBef>
                <a:spcPts val="100"/>
              </a:spcBef>
              <a:spcAft>
                <a:spcPts val="200"/>
              </a:spcAft>
            </a:pPr>
            <a:r>
              <a:rPr sz="1100" b="0">
                <a:solidFill>
                  <a:srgbClr val="00FFB3"/>
                </a:solidFill>
              </a:rPr>
              <a:t>  · </a:t>
            </a:r>
            <a:r>
              <a:rPr sz="1100" b="0">
                <a:solidFill>
                  <a:srgbClr val="B0C4D8"/>
                </a:solidFill>
              </a:rPr>
              <a:t>Before claiming alpha exists, prove the measurement is not contaminated</a:t>
            </a:r>
          </a:p>
        </p:txBody>
      </p:sp>
      <p:sp>
        <p:nvSpPr>
          <p:cNvPr id="7" name="Rectangle 6"/>
          <p:cNvSpPr/>
          <p:nvPr/>
        </p:nvSpPr>
        <p:spPr>
          <a:xfrm>
            <a:off x="7406640" y="804672"/>
            <a:ext cx="4572000" cy="5760720"/>
          </a:xfrm>
          <a:prstGeom prst="rect">
            <a:avLst/>
          </a:prstGeom>
          <a:solidFill>
            <a:srgbClr val="153045"/>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00D4FF"/>
                </a:solidFill>
              </a:rPr>
              <a:t>[ VISUAL ]</a:t>
            </a:r>
          </a:p>
          <a:p>
            <a:pPr algn="ctr"/>
            <a:r>
              <a:rPr sz="700" i="1">
                <a:solidFill>
                  <a:srgbClr val="B0C4D8"/>
                </a:solidFill>
              </a:rPr>
              <a:t>Two bar charts: left=Signal Accuracy Distribution (45/50/55/60%) with theoretical EV. Right=Execution Error Impact: how 0/1/2/3% error rates erode EV at each accuracy level. Red 'EV=0' line overlaid. Shows 55% signals go negative with modest execution error.</a:t>
            </a:r>
          </a:p>
        </p:txBody>
      </p:sp>
      <p:sp>
        <p:nvSpPr>
          <p:cNvPr id="8" name="Rectangle 7"/>
          <p:cNvSpPr/>
          <p:nvPr/>
        </p:nvSpPr>
        <p:spPr>
          <a:xfrm>
            <a:off x="0" y="6812280"/>
            <a:ext cx="12191695" cy="45720"/>
          </a:xfrm>
          <a:prstGeom prst="rect">
            <a:avLst/>
          </a:prstGeom>
          <a:solidFill>
            <a:srgbClr val="008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3A5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371600" cy="1371600"/>
          </a:xfrm>
          <a:prstGeom prst="rect">
            <a:avLst/>
          </a:prstGeom>
          <a:noFill/>
        </p:spPr>
        <p:txBody>
          <a:bodyPr wrap="square">
            <a:spAutoFit/>
          </a:bodyPr>
          <a:lstStyle/>
          <a:p/>
          <a:p>
            <a:pPr algn="l">
              <a:spcBef>
                <a:spcPts val="0"/>
              </a:spcBef>
              <a:spcAft>
                <a:spcPts val="0"/>
              </a:spcAft>
            </a:pPr>
            <a:r>
              <a:rPr sz="7200" b="1" i="0">
                <a:solidFill>
                  <a:srgbClr val="00D4FF"/>
                </a:solidFill>
              </a:rPr>
              <a:t>II</a:t>
            </a:r>
          </a:p>
        </p:txBody>
      </p:sp>
      <p:sp>
        <p:nvSpPr>
          <p:cNvPr id="5" name="TextBox 4"/>
          <p:cNvSpPr txBox="1"/>
          <p:nvPr/>
        </p:nvSpPr>
        <p:spPr>
          <a:xfrm>
            <a:off x="2011680" y="2011680"/>
            <a:ext cx="9601200" cy="2286000"/>
          </a:xfrm>
          <a:prstGeom prst="rect">
            <a:avLst/>
          </a:prstGeom>
          <a:noFill/>
        </p:spPr>
        <p:txBody>
          <a:bodyPr wrap="square">
            <a:spAutoFit/>
          </a:bodyPr>
          <a:lstStyle/>
          <a:p/>
          <a:p>
            <a:pPr algn="l">
              <a:spcBef>
                <a:spcPts val="0"/>
              </a:spcBef>
              <a:spcAft>
                <a:spcPts val="600"/>
              </a:spcAft>
            </a:pPr>
            <a:r>
              <a:rPr sz="3400" b="1" i="0">
                <a:solidFill>
                  <a:srgbClr val="FFFFFF"/>
                </a:solidFill>
              </a:rPr>
              <a:t>Microstructure Alpha Discovery Pipeline</a:t>
            </a:r>
          </a:p>
          <a:p>
            <a:pPr algn="l">
              <a:spcBef>
                <a:spcPts val="0"/>
              </a:spcBef>
              <a:spcAft>
                <a:spcPts val="0"/>
              </a:spcAft>
            </a:pPr>
            <a:r>
              <a:rPr sz="1600" b="0" i="0">
                <a:solidFill>
                  <a:srgbClr val="B0C4D8"/>
                </a:solidFill>
              </a:rPr>
              <a:t>From Raw Tick Data to Forward-Validated Signals</a:t>
            </a:r>
          </a:p>
        </p:txBody>
      </p:sp>
      <p:sp>
        <p:nvSpPr>
          <p:cNvPr id="6" name="Rectangle 5"/>
          <p:cNvSpPr/>
          <p:nvPr/>
        </p:nvSpPr>
        <p:spPr>
          <a:xfrm>
            <a:off x="2011680" y="1920240"/>
            <a:ext cx="36576" cy="2011680"/>
          </a:xfrm>
          <a:prstGeom prst="rect">
            <a:avLst/>
          </a:prstGeom>
          <a:solidFill>
            <a:srgbClr val="00FF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F3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12191695" cy="658368"/>
          </a:xfrm>
          <a:prstGeom prst="rect">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10789920" cy="594360"/>
          </a:xfrm>
          <a:prstGeom prst="rect">
            <a:avLst/>
          </a:prstGeom>
          <a:noFill/>
        </p:spPr>
        <p:txBody>
          <a:bodyPr wrap="square">
            <a:spAutoFit/>
          </a:bodyPr>
          <a:lstStyle/>
          <a:p/>
          <a:p>
            <a:pPr algn="l">
              <a:spcBef>
                <a:spcPts val="0"/>
              </a:spcBef>
              <a:spcAft>
                <a:spcPts val="0"/>
              </a:spcAft>
            </a:pPr>
            <a:r>
              <a:rPr sz="2000" b="1" i="0">
                <a:solidFill>
                  <a:srgbClr val="FFFFFF"/>
                </a:solidFill>
              </a:rPr>
              <a:t>The Research Pipeline Architecture</a:t>
            </a:r>
          </a:p>
        </p:txBody>
      </p:sp>
      <p:sp>
        <p:nvSpPr>
          <p:cNvPr id="5" name="TextBox 4"/>
          <p:cNvSpPr txBox="1"/>
          <p:nvPr/>
        </p:nvSpPr>
        <p:spPr>
          <a:xfrm>
            <a:off x="11155680" y="91440"/>
            <a:ext cx="914400" cy="457200"/>
          </a:xfrm>
          <a:prstGeom prst="rect">
            <a:avLst/>
          </a:prstGeom>
          <a:noFill/>
        </p:spPr>
        <p:txBody>
          <a:bodyPr wrap="square">
            <a:spAutoFit/>
          </a:bodyPr>
          <a:lstStyle/>
          <a:p/>
          <a:p>
            <a:pPr algn="r">
              <a:spcBef>
                <a:spcPts val="0"/>
              </a:spcBef>
              <a:spcAft>
                <a:spcPts val="0"/>
              </a:spcAft>
            </a:pPr>
            <a:r>
              <a:rPr sz="800" b="0" i="0">
                <a:solidFill>
                  <a:srgbClr val="00D4FF"/>
                </a:solidFill>
              </a:rPr>
              <a:t>2.1</a:t>
            </a:r>
          </a:p>
        </p:txBody>
      </p:sp>
      <p:sp>
        <p:nvSpPr>
          <p:cNvPr id="6" name="TextBox 5"/>
          <p:cNvSpPr txBox="1"/>
          <p:nvPr/>
        </p:nvSpPr>
        <p:spPr>
          <a:xfrm>
            <a:off x="274320" y="804672"/>
            <a:ext cx="6949440" cy="5760720"/>
          </a:xfrm>
          <a:prstGeom prst="rect">
            <a:avLst/>
          </a:prstGeom>
          <a:noFill/>
        </p:spPr>
        <p:txBody>
          <a:bodyPr wrap="square">
            <a:spAutoFit/>
          </a:bodyPr>
          <a:lstStyle/>
          <a:p>
            <a:pPr algn="l">
              <a:spcBef>
                <a:spcPts val="300"/>
              </a:spcBef>
              <a:spcAft>
                <a:spcPts val="200"/>
              </a:spcAft>
            </a:pPr>
            <a:r>
              <a:rPr sz="1300" b="1">
                <a:solidFill>
                  <a:srgbClr val="00D4FF"/>
                </a:solidFill>
              </a:rPr>
              <a:t>▸ </a:t>
            </a:r>
            <a:r>
              <a:rPr sz="1300" b="0">
                <a:solidFill>
                  <a:srgbClr val="FFFFFF"/>
                </a:solidFill>
              </a:rPr>
              <a:t>Stage 0: data/microstructure.db — SQLite store of trade ticks and mark prices</a:t>
            </a:r>
          </a:p>
          <a:p>
            <a:pPr algn="l">
              <a:spcBef>
                <a:spcPts val="300"/>
              </a:spcBef>
              <a:spcAft>
                <a:spcPts val="200"/>
              </a:spcAft>
            </a:pPr>
            <a:r>
              <a:rPr sz="1300" b="1">
                <a:solidFill>
                  <a:srgbClr val="00D4FF"/>
                </a:solidFill>
              </a:rPr>
              <a:t>▸ </a:t>
            </a:r>
            <a:r>
              <a:rPr sz="1300" b="0">
                <a:solidFill>
                  <a:srgbClr val="FFFFFF"/>
                </a:solidFill>
              </a:rPr>
              <a:t>Stage 1: micro_edge_lib.py — bucket feature generation (1-second buckets)</a:t>
            </a:r>
          </a:p>
          <a:p>
            <a:pPr algn="l">
              <a:spcBef>
                <a:spcPts val="300"/>
              </a:spcBef>
              <a:spcAft>
                <a:spcPts val="200"/>
              </a:spcAft>
            </a:pPr>
            <a:r>
              <a:rPr sz="1300" b="1">
                <a:solidFill>
                  <a:srgbClr val="00D4FF"/>
                </a:solidFill>
              </a:rPr>
              <a:t>▸ </a:t>
            </a:r>
            <a:r>
              <a:rPr sz="1300" b="0">
                <a:solidFill>
                  <a:srgbClr val="FFFFFF"/>
                </a:solidFill>
              </a:rPr>
              <a:t>Stage 2: micro_edge_backtest.py — simulate_rule_trades with passive fill model</a:t>
            </a:r>
          </a:p>
          <a:p>
            <a:pPr algn="l">
              <a:spcBef>
                <a:spcPts val="300"/>
              </a:spcBef>
              <a:spcAft>
                <a:spcPts val="200"/>
              </a:spcAft>
            </a:pPr>
            <a:r>
              <a:rPr sz="1300" b="1">
                <a:solidFill>
                  <a:srgbClr val="00D4FF"/>
                </a:solidFill>
              </a:rPr>
              <a:t>▸ </a:t>
            </a:r>
            <a:r>
              <a:rPr sz="1300" b="0">
                <a:solidFill>
                  <a:srgbClr val="FFFFFF"/>
                </a:solidFill>
              </a:rPr>
              <a:t>Stage 3: sweep_*.py — parameter grid search: thresholds × fees × adverse multipliers</a:t>
            </a:r>
          </a:p>
          <a:p>
            <a:pPr algn="l">
              <a:spcBef>
                <a:spcPts val="300"/>
              </a:spcBef>
              <a:spcAft>
                <a:spcPts val="200"/>
              </a:spcAft>
            </a:pPr>
            <a:r>
              <a:rPr sz="1300" b="1">
                <a:solidFill>
                  <a:srgbClr val="00D4FF"/>
                </a:solidFill>
              </a:rPr>
              <a:t>▸ </a:t>
            </a:r>
            <a:r>
              <a:rPr sz="1300" b="0">
                <a:solidFill>
                  <a:srgbClr val="FFFFFF"/>
                </a:solidFill>
              </a:rPr>
              <a:t>Stage 4: validate_passive_pocket_forward.py — true forward splits, zero training contamination</a:t>
            </a:r>
          </a:p>
          <a:p>
            <a:pPr algn="l">
              <a:spcBef>
                <a:spcPts val="300"/>
              </a:spcBef>
              <a:spcAft>
                <a:spcPts val="200"/>
              </a:spcAft>
            </a:pPr>
            <a:r>
              <a:rPr sz="1300" b="1">
                <a:solidFill>
                  <a:srgbClr val="00D4FF"/>
                </a:solidFill>
              </a:rPr>
              <a:t>▸ </a:t>
            </a:r>
            <a:r>
              <a:rPr sz="1300" b="0">
                <a:solidFill>
                  <a:srgbClr val="FFFFFF"/>
                </a:solidFill>
              </a:rPr>
              <a:t>Stage 5: rank_passive_pockets_forward.py — capacity-adjusted NPA-based ranking</a:t>
            </a:r>
          </a:p>
          <a:p>
            <a:pPr lvl="1" algn="l">
              <a:spcBef>
                <a:spcPts val="100"/>
              </a:spcBef>
              <a:spcAft>
                <a:spcPts val="200"/>
              </a:spcAft>
            </a:pPr>
            <a:r>
              <a:rPr sz="1100" b="0">
                <a:solidFill>
                  <a:srgbClr val="00FFB3"/>
                </a:solidFill>
              </a:rPr>
              <a:t>  · </a:t>
            </a:r>
            <a:r>
              <a:rPr sz="1100" b="0">
                <a:solidFill>
                  <a:srgbClr val="B0C4D8"/>
                </a:solidFill>
              </a:rPr>
              <a:t>Pipeline is strictly sequential; each stage has a defined API contract</a:t>
            </a:r>
          </a:p>
          <a:p>
            <a:pPr lvl="1" algn="l">
              <a:spcBef>
                <a:spcPts val="100"/>
              </a:spcBef>
              <a:spcAft>
                <a:spcPts val="200"/>
              </a:spcAft>
            </a:pPr>
            <a:r>
              <a:rPr sz="1100" b="0">
                <a:solidFill>
                  <a:srgbClr val="00FFB3"/>
                </a:solidFill>
              </a:rPr>
              <a:t>  · </a:t>
            </a:r>
            <a:r>
              <a:rPr sz="1100" b="0">
                <a:solidFill>
                  <a:srgbClr val="B0C4D8"/>
                </a:solidFill>
              </a:rPr>
              <a:t>Database is the only shared persistent artifact; all intermediates are in-memory or reports</a:t>
            </a:r>
          </a:p>
        </p:txBody>
      </p:sp>
      <p:sp>
        <p:nvSpPr>
          <p:cNvPr id="7" name="Rectangle 6"/>
          <p:cNvSpPr/>
          <p:nvPr/>
        </p:nvSpPr>
        <p:spPr>
          <a:xfrm>
            <a:off x="7406640" y="804672"/>
            <a:ext cx="4572000" cy="5760720"/>
          </a:xfrm>
          <a:prstGeom prst="rect">
            <a:avLst/>
          </a:prstGeom>
          <a:solidFill>
            <a:srgbClr val="153045"/>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00D4FF"/>
                </a:solidFill>
              </a:rPr>
              <a:t>[ VISUAL ]</a:t>
            </a:r>
          </a:p>
          <a:p>
            <a:pPr algn="ctr"/>
            <a:r>
              <a:rPr sz="700" i="1">
                <a:solidFill>
                  <a:srgbClr val="B0C4D8"/>
                </a:solidFill>
              </a:rPr>
              <a:t>Horizontal pipeline: 6 labeled stages with arrows. Each shows module name, input type, output type. Below each stage: data icon (DB cylinder, RAM chip, document). Arrows labeled with interface: 'bucket rows', 'sim results', 'eval grid', 'ranked list'.</a:t>
            </a:r>
          </a:p>
        </p:txBody>
      </p:sp>
      <p:sp>
        <p:nvSpPr>
          <p:cNvPr id="8" name="Rectangle 7"/>
          <p:cNvSpPr/>
          <p:nvPr/>
        </p:nvSpPr>
        <p:spPr>
          <a:xfrm>
            <a:off x="0" y="6812280"/>
            <a:ext cx="12191695" cy="45720"/>
          </a:xfrm>
          <a:prstGeom prst="rect">
            <a:avLst/>
          </a:prstGeom>
          <a:solidFill>
            <a:srgbClr val="008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F3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12191695" cy="658368"/>
          </a:xfrm>
          <a:prstGeom prst="rect">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10789920" cy="594360"/>
          </a:xfrm>
          <a:prstGeom prst="rect">
            <a:avLst/>
          </a:prstGeom>
          <a:noFill/>
        </p:spPr>
        <p:txBody>
          <a:bodyPr wrap="square">
            <a:spAutoFit/>
          </a:bodyPr>
          <a:lstStyle/>
          <a:p/>
          <a:p>
            <a:pPr algn="l">
              <a:spcBef>
                <a:spcPts val="0"/>
              </a:spcBef>
              <a:spcAft>
                <a:spcPts val="0"/>
              </a:spcAft>
            </a:pPr>
            <a:r>
              <a:rPr sz="2000" b="1" i="0">
                <a:solidFill>
                  <a:srgbClr val="FFFFFF"/>
                </a:solidFill>
              </a:rPr>
              <a:t>Microstructure Features — What the System Observes</a:t>
            </a:r>
          </a:p>
        </p:txBody>
      </p:sp>
      <p:sp>
        <p:nvSpPr>
          <p:cNvPr id="5" name="TextBox 4"/>
          <p:cNvSpPr txBox="1"/>
          <p:nvPr/>
        </p:nvSpPr>
        <p:spPr>
          <a:xfrm>
            <a:off x="11155680" y="91440"/>
            <a:ext cx="914400" cy="457200"/>
          </a:xfrm>
          <a:prstGeom prst="rect">
            <a:avLst/>
          </a:prstGeom>
          <a:noFill/>
        </p:spPr>
        <p:txBody>
          <a:bodyPr wrap="square">
            <a:spAutoFit/>
          </a:bodyPr>
          <a:lstStyle/>
          <a:p/>
          <a:p>
            <a:pPr algn="r">
              <a:spcBef>
                <a:spcPts val="0"/>
              </a:spcBef>
              <a:spcAft>
                <a:spcPts val="0"/>
              </a:spcAft>
            </a:pPr>
            <a:r>
              <a:rPr sz="800" b="0" i="0">
                <a:solidFill>
                  <a:srgbClr val="00D4FF"/>
                </a:solidFill>
              </a:rPr>
              <a:t>2.2</a:t>
            </a:r>
          </a:p>
        </p:txBody>
      </p:sp>
      <p:sp>
        <p:nvSpPr>
          <p:cNvPr id="6" name="TextBox 5"/>
          <p:cNvSpPr txBox="1"/>
          <p:nvPr/>
        </p:nvSpPr>
        <p:spPr>
          <a:xfrm>
            <a:off x="274320" y="804672"/>
            <a:ext cx="6949440" cy="5760720"/>
          </a:xfrm>
          <a:prstGeom prst="rect">
            <a:avLst/>
          </a:prstGeom>
          <a:noFill/>
        </p:spPr>
        <p:txBody>
          <a:bodyPr wrap="square">
            <a:spAutoFit/>
          </a:bodyPr>
          <a:lstStyle/>
          <a:p>
            <a:pPr algn="l">
              <a:spcBef>
                <a:spcPts val="300"/>
              </a:spcBef>
              <a:spcAft>
                <a:spcPts val="200"/>
              </a:spcAft>
            </a:pPr>
            <a:r>
              <a:rPr sz="1300" b="1">
                <a:solidFill>
                  <a:srgbClr val="00D4FF"/>
                </a:solidFill>
              </a:rPr>
              <a:t>▸ </a:t>
            </a:r>
            <a:r>
              <a:rPr sz="1300" b="0">
                <a:solidFill>
                  <a:srgbClr val="FFFFFF"/>
                </a:solidFill>
              </a:rPr>
              <a:t>Trade Intensity: Σ(trade_count × volume) / bucket_sec — informed flow arrival rate proxy</a:t>
            </a:r>
          </a:p>
          <a:p>
            <a:pPr algn="l">
              <a:spcBef>
                <a:spcPts val="300"/>
              </a:spcBef>
              <a:spcAft>
                <a:spcPts val="200"/>
              </a:spcAft>
            </a:pPr>
            <a:r>
              <a:rPr sz="1300" b="1">
                <a:solidFill>
                  <a:srgbClr val="00D4FF"/>
                </a:solidFill>
              </a:rPr>
              <a:t>▸ </a:t>
            </a:r>
            <a:r>
              <a:rPr sz="1300" b="0">
                <a:solidFill>
                  <a:srgbClr val="FFFFFF"/>
                </a:solidFill>
              </a:rPr>
              <a:t>Order Book Imbalance: (bid_depth − ask_depth) / (bid_depth + ask_depth) — directional pressure</a:t>
            </a:r>
          </a:p>
          <a:p>
            <a:pPr algn="l">
              <a:spcBef>
                <a:spcPts val="300"/>
              </a:spcBef>
              <a:spcAft>
                <a:spcPts val="200"/>
              </a:spcAft>
            </a:pPr>
            <a:r>
              <a:rPr sz="1300" b="1">
                <a:solidFill>
                  <a:srgbClr val="00D4FF"/>
                </a:solidFill>
              </a:rPr>
              <a:t>▸ </a:t>
            </a:r>
            <a:r>
              <a:rPr sz="1300" b="0">
                <a:solidFill>
                  <a:srgbClr val="FFFFFF"/>
                </a:solidFill>
              </a:rPr>
              <a:t>Spread Compression: spread / mid_price — queue eligibility and fill probability proxy</a:t>
            </a:r>
          </a:p>
          <a:p>
            <a:pPr algn="l">
              <a:spcBef>
                <a:spcPts val="300"/>
              </a:spcBef>
              <a:spcAft>
                <a:spcPts val="200"/>
              </a:spcAft>
            </a:pPr>
            <a:r>
              <a:rPr sz="1300" b="1">
                <a:solidFill>
                  <a:srgbClr val="00D4FF"/>
                </a:solidFill>
              </a:rPr>
              <a:t>▸ </a:t>
            </a:r>
            <a:r>
              <a:rPr sz="1300" b="0">
                <a:solidFill>
                  <a:srgbClr val="FFFFFF"/>
                </a:solidFill>
              </a:rPr>
              <a:t>Micro-Volatility: rolling std-dev of 1-bucket returns — regime indicator</a:t>
            </a:r>
          </a:p>
          <a:p>
            <a:pPr algn="l">
              <a:spcBef>
                <a:spcPts val="300"/>
              </a:spcBef>
              <a:spcAft>
                <a:spcPts val="200"/>
              </a:spcAft>
            </a:pPr>
            <a:r>
              <a:rPr sz="1300" b="1">
                <a:solidFill>
                  <a:srgbClr val="00D4FF"/>
                </a:solidFill>
              </a:rPr>
              <a:t>▸ </a:t>
            </a:r>
            <a:r>
              <a:rPr sz="1300" b="0">
                <a:solidFill>
                  <a:srgbClr val="FFFFFF"/>
                </a:solidFill>
              </a:rPr>
              <a:t>V2 Suite: persistence-weighted imbalance score, mean-reversion probability, flip rate</a:t>
            </a:r>
          </a:p>
          <a:p>
            <a:pPr lvl="1" algn="l">
              <a:spcBef>
                <a:spcPts val="100"/>
              </a:spcBef>
              <a:spcAft>
                <a:spcPts val="200"/>
              </a:spcAft>
            </a:pPr>
            <a:r>
              <a:rPr sz="1100" b="0">
                <a:solidFill>
                  <a:srgbClr val="00FFB3"/>
                </a:solidFill>
              </a:rPr>
              <a:t>  · </a:t>
            </a:r>
            <a:r>
              <a:rPr sz="1100" b="0">
                <a:solidFill>
                  <a:srgbClr val="B0C4D8"/>
                </a:solidFill>
              </a:rPr>
              <a:t>High-volatility regimes → toxicity gate activates → passive orders blocked (adverse selection)</a:t>
            </a:r>
          </a:p>
          <a:p>
            <a:pPr lvl="1" algn="l">
              <a:spcBef>
                <a:spcPts val="100"/>
              </a:spcBef>
              <a:spcAft>
                <a:spcPts val="200"/>
              </a:spcAft>
            </a:pPr>
            <a:r>
              <a:rPr sz="1100" b="0">
                <a:solidFill>
                  <a:srgbClr val="00FFB3"/>
                </a:solidFill>
              </a:rPr>
              <a:t>  · </a:t>
            </a:r>
            <a:r>
              <a:rPr sz="1100" b="0">
                <a:solidFill>
                  <a:srgbClr val="B0C4D8"/>
                </a:solidFill>
              </a:rPr>
              <a:t>V2 imbalance persistence: consecutive buckets above threshold → stronger signal</a:t>
            </a:r>
          </a:p>
        </p:txBody>
      </p:sp>
      <p:sp>
        <p:nvSpPr>
          <p:cNvPr id="7" name="Rectangle 6"/>
          <p:cNvSpPr/>
          <p:nvPr/>
        </p:nvSpPr>
        <p:spPr>
          <a:xfrm>
            <a:off x="7406640" y="804672"/>
            <a:ext cx="4572000" cy="5760720"/>
          </a:xfrm>
          <a:prstGeom prst="rect">
            <a:avLst/>
          </a:prstGeom>
          <a:solidFill>
            <a:srgbClr val="153045"/>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00D4FF"/>
                </a:solidFill>
              </a:rPr>
              <a:t>[ VISUAL ]</a:t>
            </a:r>
          </a:p>
          <a:p>
            <a:pPr algn="ctr"/>
            <a:r>
              <a:rPr sz="700" i="1">
                <a:solidFill>
                  <a:srgbClr val="B0C4D8"/>
                </a:solidFill>
              </a:rPr>
              <a:t>2×3 grid of mini time-series charts. Each cell: feature name, formula, representative 1h plot. Highlight: imbalance spike → price move; intensity spike → volatility; spread compression → fills.</a:t>
            </a:r>
          </a:p>
        </p:txBody>
      </p:sp>
      <p:sp>
        <p:nvSpPr>
          <p:cNvPr id="8" name="Rectangle 7"/>
          <p:cNvSpPr/>
          <p:nvPr/>
        </p:nvSpPr>
        <p:spPr>
          <a:xfrm>
            <a:off x="0" y="6812280"/>
            <a:ext cx="12191695" cy="45720"/>
          </a:xfrm>
          <a:prstGeom prst="rect">
            <a:avLst/>
          </a:prstGeom>
          <a:solidFill>
            <a:srgbClr val="008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F3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12191695" cy="658368"/>
          </a:xfrm>
          <a:prstGeom prst="rect">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10789920" cy="594360"/>
          </a:xfrm>
          <a:prstGeom prst="rect">
            <a:avLst/>
          </a:prstGeom>
          <a:noFill/>
        </p:spPr>
        <p:txBody>
          <a:bodyPr wrap="square">
            <a:spAutoFit/>
          </a:bodyPr>
          <a:lstStyle/>
          <a:p/>
          <a:p>
            <a:pPr algn="l">
              <a:spcBef>
                <a:spcPts val="0"/>
              </a:spcBef>
              <a:spcAft>
                <a:spcPts val="0"/>
              </a:spcAft>
            </a:pPr>
            <a:r>
              <a:rPr sz="2000" b="1" i="0">
                <a:solidFill>
                  <a:srgbClr val="FFFFFF"/>
                </a:solidFill>
              </a:rPr>
              <a:t>The Passive Execution Simulator — Modeling Fill Reality</a:t>
            </a:r>
          </a:p>
        </p:txBody>
      </p:sp>
      <p:sp>
        <p:nvSpPr>
          <p:cNvPr id="5" name="TextBox 4"/>
          <p:cNvSpPr txBox="1"/>
          <p:nvPr/>
        </p:nvSpPr>
        <p:spPr>
          <a:xfrm>
            <a:off x="11155680" y="91440"/>
            <a:ext cx="914400" cy="457200"/>
          </a:xfrm>
          <a:prstGeom prst="rect">
            <a:avLst/>
          </a:prstGeom>
          <a:noFill/>
        </p:spPr>
        <p:txBody>
          <a:bodyPr wrap="square">
            <a:spAutoFit/>
          </a:bodyPr>
          <a:lstStyle/>
          <a:p/>
          <a:p>
            <a:pPr algn="r">
              <a:spcBef>
                <a:spcPts val="0"/>
              </a:spcBef>
              <a:spcAft>
                <a:spcPts val="0"/>
              </a:spcAft>
            </a:pPr>
            <a:r>
              <a:rPr sz="800" b="0" i="0">
                <a:solidFill>
                  <a:srgbClr val="00D4FF"/>
                </a:solidFill>
              </a:rPr>
              <a:t>2.3</a:t>
            </a:r>
          </a:p>
        </p:txBody>
      </p:sp>
      <p:sp>
        <p:nvSpPr>
          <p:cNvPr id="6" name="TextBox 5"/>
          <p:cNvSpPr txBox="1"/>
          <p:nvPr/>
        </p:nvSpPr>
        <p:spPr>
          <a:xfrm>
            <a:off x="274320" y="804672"/>
            <a:ext cx="6949440" cy="5760720"/>
          </a:xfrm>
          <a:prstGeom prst="rect">
            <a:avLst/>
          </a:prstGeom>
          <a:noFill/>
        </p:spPr>
        <p:txBody>
          <a:bodyPr wrap="square">
            <a:spAutoFit/>
          </a:bodyPr>
          <a:lstStyle/>
          <a:p>
            <a:pPr algn="l">
              <a:spcBef>
                <a:spcPts val="300"/>
              </a:spcBef>
              <a:spcAft>
                <a:spcPts val="200"/>
              </a:spcAft>
            </a:pPr>
            <a:r>
              <a:rPr sz="1300" b="1">
                <a:solidFill>
                  <a:srgbClr val="00D4FF"/>
                </a:solidFill>
              </a:rPr>
              <a:t>▸ </a:t>
            </a:r>
            <a:r>
              <a:rPr sz="1300" b="0">
                <a:solidFill>
                  <a:srgbClr val="FFFFFF"/>
                </a:solidFill>
              </a:rPr>
              <a:t>Core: simulate_passive_fill(event, horizon_sec, features, params) in passive_execution_simulator.py</a:t>
            </a:r>
          </a:p>
          <a:p>
            <a:pPr algn="l">
              <a:spcBef>
                <a:spcPts val="300"/>
              </a:spcBef>
              <a:spcAft>
                <a:spcPts val="200"/>
              </a:spcAft>
            </a:pPr>
            <a:r>
              <a:rPr sz="1300" b="1">
                <a:solidFill>
                  <a:srgbClr val="00D4FF"/>
                </a:solidFill>
              </a:rPr>
              <a:t>▸ </a:t>
            </a:r>
            <a:r>
              <a:rPr sz="1300" b="0">
                <a:solidFill>
                  <a:srgbClr val="FFFFFF"/>
                </a:solidFill>
              </a:rPr>
              <a:t>Fill decision: u01 = _u01_from_key(seed, event_id) — deterministic uniform hash, not PRNG</a:t>
            </a:r>
          </a:p>
          <a:p>
            <a:pPr algn="l">
              <a:spcBef>
                <a:spcPts val="300"/>
              </a:spcBef>
              <a:spcAft>
                <a:spcPts val="200"/>
              </a:spcAft>
            </a:pPr>
            <a:r>
              <a:rPr sz="1300" b="1">
                <a:solidFill>
                  <a:srgbClr val="00D4FF"/>
                </a:solidFill>
              </a:rPr>
              <a:t>▸ </a:t>
            </a:r>
            <a:r>
              <a:rPr sz="1300" b="0">
                <a:solidFill>
                  <a:srgbClr val="FFFFFF"/>
                </a:solidFill>
              </a:rPr>
              <a:t>Touch probability: base × feature-conditional multipliers (spread, intensity, imbalance, vol)</a:t>
            </a:r>
          </a:p>
          <a:p>
            <a:pPr algn="l">
              <a:spcBef>
                <a:spcPts val="300"/>
              </a:spcBef>
              <a:spcAft>
                <a:spcPts val="200"/>
              </a:spcAft>
            </a:pPr>
            <a:r>
              <a:rPr sz="1300" b="1">
                <a:solidFill>
                  <a:srgbClr val="00D4FF"/>
                </a:solidFill>
              </a:rPr>
              <a:t>▸ </a:t>
            </a:r>
            <a:r>
              <a:rPr sz="1300" b="0">
                <a:solidFill>
                  <a:srgbClr val="FFFFFF"/>
                </a:solidFill>
              </a:rPr>
              <a:t>Queue competition: p_touch_adj = p_touch × (1 − queue_competition_strength × intensity_factor)</a:t>
            </a:r>
          </a:p>
          <a:p>
            <a:pPr algn="l">
              <a:spcBef>
                <a:spcPts val="300"/>
              </a:spcBef>
              <a:spcAft>
                <a:spcPts val="200"/>
              </a:spcAft>
            </a:pPr>
            <a:r>
              <a:rPr sz="1300" b="1">
                <a:solidFill>
                  <a:srgbClr val="00D4FF"/>
                </a:solidFill>
              </a:rPr>
              <a:t>▸ </a:t>
            </a:r>
            <a:r>
              <a:rPr sz="1300" b="0">
                <a:solidFill>
                  <a:srgbClr val="FFFFFF"/>
                </a:solidFill>
              </a:rPr>
              <a:t>Adverse selection: adverse_bps from calibrated conditional distribution — applied on fills ONLY</a:t>
            </a:r>
          </a:p>
          <a:p>
            <a:pPr algn="l">
              <a:spcBef>
                <a:spcPts val="300"/>
              </a:spcBef>
              <a:spcAft>
                <a:spcPts val="200"/>
              </a:spcAft>
            </a:pPr>
            <a:r>
              <a:rPr sz="1300" b="1">
                <a:solidFill>
                  <a:srgbClr val="00D4FF"/>
                </a:solidFill>
              </a:rPr>
              <a:t>▸ </a:t>
            </a:r>
            <a:r>
              <a:rPr sz="1300" b="0">
                <a:solidFill>
                  <a:srgbClr val="FFFFFF"/>
                </a:solidFill>
              </a:rPr>
              <a:t>Cost model: net_return = raw_return − (2 × maker_fee_bps/10000) − (adverse_bps/10000)</a:t>
            </a:r>
          </a:p>
          <a:p>
            <a:pPr lvl="1" algn="l">
              <a:spcBef>
                <a:spcPts val="100"/>
              </a:spcBef>
              <a:spcAft>
                <a:spcPts val="200"/>
              </a:spcAft>
            </a:pPr>
            <a:r>
              <a:rPr sz="1100" b="0">
                <a:solidFill>
                  <a:srgbClr val="00FFB3"/>
                </a:solidFill>
              </a:rPr>
              <a:t>  · </a:t>
            </a:r>
            <a:r>
              <a:rPr sz="1100" b="0">
                <a:solidFill>
                  <a:srgbClr val="B0C4D8"/>
                </a:solidFill>
              </a:rPr>
              <a:t>Unfilled attempts: net_return = 0.0 exactly — not a cost, not a gain</a:t>
            </a:r>
          </a:p>
        </p:txBody>
      </p:sp>
      <p:sp>
        <p:nvSpPr>
          <p:cNvPr id="7" name="Rectangle 6"/>
          <p:cNvSpPr/>
          <p:nvPr/>
        </p:nvSpPr>
        <p:spPr>
          <a:xfrm>
            <a:off x="7406640" y="804672"/>
            <a:ext cx="4572000" cy="5760720"/>
          </a:xfrm>
          <a:prstGeom prst="rect">
            <a:avLst/>
          </a:prstGeom>
          <a:solidFill>
            <a:srgbClr val="153045"/>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00D4FF"/>
                </a:solidFill>
              </a:rPr>
              <a:t>[ VISUAL ]</a:t>
            </a:r>
          </a:p>
          <a:p>
            <a:pPr algn="ctr"/>
            <a:r>
              <a:rPr sz="700" i="1">
                <a:solidFill>
                  <a:srgbClr val="B0C4D8"/>
                </a:solidFill>
              </a:rPr>
              <a:t>Flow diagram: simulate_passive_fill internals. Input→p_touch calc→queue_competition adj→u01 draw→fill decision branch. Filled→adverse_bps sampled→cost applied→net_return. Unfilled→net_return=0.0. Different colors for filled/unfilled outcome boxes.</a:t>
            </a:r>
          </a:p>
        </p:txBody>
      </p:sp>
      <p:sp>
        <p:nvSpPr>
          <p:cNvPr id="8" name="Rectangle 7"/>
          <p:cNvSpPr/>
          <p:nvPr/>
        </p:nvSpPr>
        <p:spPr>
          <a:xfrm>
            <a:off x="0" y="6812280"/>
            <a:ext cx="12191695" cy="45720"/>
          </a:xfrm>
          <a:prstGeom prst="rect">
            <a:avLst/>
          </a:prstGeom>
          <a:solidFill>
            <a:srgbClr val="008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F3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12191695" cy="658368"/>
          </a:xfrm>
          <a:prstGeom prst="rect">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10789920" cy="594360"/>
          </a:xfrm>
          <a:prstGeom prst="rect">
            <a:avLst/>
          </a:prstGeom>
          <a:noFill/>
        </p:spPr>
        <p:txBody>
          <a:bodyPr wrap="square">
            <a:spAutoFit/>
          </a:bodyPr>
          <a:lstStyle/>
          <a:p/>
          <a:p>
            <a:pPr algn="l">
              <a:spcBef>
                <a:spcPts val="0"/>
              </a:spcBef>
              <a:spcAft>
                <a:spcPts val="0"/>
              </a:spcAft>
            </a:pPr>
            <a:r>
              <a:rPr sz="2000" b="1" i="0">
                <a:solidFill>
                  <a:srgbClr val="FFFFFF"/>
                </a:solidFill>
              </a:rPr>
              <a:t>Deterministic Simulation — Reproducibility as Epistemology</a:t>
            </a:r>
          </a:p>
        </p:txBody>
      </p:sp>
      <p:sp>
        <p:nvSpPr>
          <p:cNvPr id="5" name="TextBox 4"/>
          <p:cNvSpPr txBox="1"/>
          <p:nvPr/>
        </p:nvSpPr>
        <p:spPr>
          <a:xfrm>
            <a:off x="11155680" y="91440"/>
            <a:ext cx="914400" cy="457200"/>
          </a:xfrm>
          <a:prstGeom prst="rect">
            <a:avLst/>
          </a:prstGeom>
          <a:noFill/>
        </p:spPr>
        <p:txBody>
          <a:bodyPr wrap="square">
            <a:spAutoFit/>
          </a:bodyPr>
          <a:lstStyle/>
          <a:p/>
          <a:p>
            <a:pPr algn="r">
              <a:spcBef>
                <a:spcPts val="0"/>
              </a:spcBef>
              <a:spcAft>
                <a:spcPts val="0"/>
              </a:spcAft>
            </a:pPr>
            <a:r>
              <a:rPr sz="800" b="0" i="0">
                <a:solidFill>
                  <a:srgbClr val="00D4FF"/>
                </a:solidFill>
              </a:rPr>
              <a:t>2.4</a:t>
            </a:r>
          </a:p>
        </p:txBody>
      </p:sp>
      <p:sp>
        <p:nvSpPr>
          <p:cNvPr id="6" name="TextBox 5"/>
          <p:cNvSpPr txBox="1"/>
          <p:nvPr/>
        </p:nvSpPr>
        <p:spPr>
          <a:xfrm>
            <a:off x="274320" y="804672"/>
            <a:ext cx="6949440" cy="5760720"/>
          </a:xfrm>
          <a:prstGeom prst="rect">
            <a:avLst/>
          </a:prstGeom>
          <a:noFill/>
        </p:spPr>
        <p:txBody>
          <a:bodyPr wrap="square">
            <a:spAutoFit/>
          </a:bodyPr>
          <a:lstStyle/>
          <a:p>
            <a:pPr algn="l">
              <a:spcBef>
                <a:spcPts val="300"/>
              </a:spcBef>
              <a:spcAft>
                <a:spcPts val="200"/>
              </a:spcAft>
            </a:pPr>
            <a:r>
              <a:rPr sz="1300" b="1">
                <a:solidFill>
                  <a:srgbClr val="00D4FF"/>
                </a:solidFill>
              </a:rPr>
              <a:t>▸ </a:t>
            </a:r>
            <a:r>
              <a:rPr sz="1300" b="0">
                <a:solidFill>
                  <a:srgbClr val="FFFFFF"/>
                </a:solidFill>
              </a:rPr>
              <a:t>All randomness: _u01_from_key(seed, event_id) — pure hash function, no PRNG state</a:t>
            </a:r>
          </a:p>
          <a:p>
            <a:pPr algn="l">
              <a:spcBef>
                <a:spcPts val="300"/>
              </a:spcBef>
              <a:spcAft>
                <a:spcPts val="200"/>
              </a:spcAft>
            </a:pPr>
            <a:r>
              <a:rPr sz="1300" b="1">
                <a:solidFill>
                  <a:srgbClr val="00D4FF"/>
                </a:solidFill>
              </a:rPr>
              <a:t>▸ </a:t>
            </a:r>
            <a:r>
              <a:rPr sz="1300" b="0">
                <a:solidFill>
                  <a:srgbClr val="FFFFFF"/>
                </a:solidFill>
              </a:rPr>
              <a:t>Same (seed, event sequence) → identical fill decisions, costs, and returns — always</a:t>
            </a:r>
          </a:p>
          <a:p>
            <a:pPr algn="l">
              <a:spcBef>
                <a:spcPts val="300"/>
              </a:spcBef>
              <a:spcAft>
                <a:spcPts val="200"/>
              </a:spcAft>
            </a:pPr>
            <a:r>
              <a:rPr sz="1300" b="1">
                <a:solidFill>
                  <a:srgbClr val="00D4FF"/>
                </a:solidFill>
              </a:rPr>
              <a:t>▸ </a:t>
            </a:r>
            <a:r>
              <a:rPr sz="1300" b="0">
                <a:solidFill>
                  <a:srgbClr val="FFFFFF"/>
                </a:solidFill>
              </a:rPr>
              <a:t>Seeds are explicit parameters, never sourced from wall-clock or OS entropy</a:t>
            </a:r>
          </a:p>
          <a:p>
            <a:pPr algn="l">
              <a:spcBef>
                <a:spcPts val="300"/>
              </a:spcBef>
              <a:spcAft>
                <a:spcPts val="200"/>
              </a:spcAft>
            </a:pPr>
            <a:r>
              <a:rPr sz="1300" b="1">
                <a:solidFill>
                  <a:srgbClr val="00D4FF"/>
                </a:solidFill>
              </a:rPr>
              <a:t>▸ </a:t>
            </a:r>
            <a:r>
              <a:rPr sz="1300" b="0">
                <a:solidFill>
                  <a:srgbClr val="FFFFFF"/>
                </a:solidFill>
              </a:rPr>
              <a:t>attempts_per_min = n_attempts / (val_rows × bucket_sec / 60) — zero datetime.now() calls</a:t>
            </a:r>
          </a:p>
          <a:p>
            <a:pPr algn="l">
              <a:spcBef>
                <a:spcPts val="300"/>
              </a:spcBef>
              <a:spcAft>
                <a:spcPts val="200"/>
              </a:spcAft>
            </a:pPr>
            <a:r>
              <a:rPr sz="1300" b="1">
                <a:solidFill>
                  <a:srgbClr val="00D4FF"/>
                </a:solidFill>
              </a:rPr>
              <a:t>▸ </a:t>
            </a:r>
            <a:r>
              <a:rPr sz="1300" b="0">
                <a:solidFill>
                  <a:srgbClr val="FFFFFF"/>
                </a:solidFill>
              </a:rPr>
              <a:t>DAT-03 invariant: deterministic per (seed, input) — verified by test_net_per_attempt_deterministic</a:t>
            </a:r>
          </a:p>
          <a:p>
            <a:pPr algn="l">
              <a:spcBef>
                <a:spcPts val="300"/>
              </a:spcBef>
              <a:spcAft>
                <a:spcPts val="200"/>
              </a:spcAft>
            </a:pPr>
            <a:r>
              <a:rPr sz="1300" b="1">
                <a:solidFill>
                  <a:srgbClr val="00D4FF"/>
                </a:solidFill>
              </a:rPr>
              <a:t>▸ </a:t>
            </a:r>
            <a:r>
              <a:rPr sz="1300" b="0">
                <a:solidFill>
                  <a:srgbClr val="FFFFFF"/>
                </a:solidFill>
              </a:rPr>
              <a:t>DAT-01 invariant: no lookahead — features computed only from data ≤ signal time</a:t>
            </a:r>
          </a:p>
          <a:p>
            <a:pPr lvl="1" algn="l">
              <a:spcBef>
                <a:spcPts val="100"/>
              </a:spcBef>
              <a:spcAft>
                <a:spcPts val="200"/>
              </a:spcAft>
            </a:pPr>
            <a:r>
              <a:rPr sz="1100" b="0">
                <a:solidFill>
                  <a:srgbClr val="00FFB3"/>
                </a:solidFill>
              </a:rPr>
              <a:t>  · </a:t>
            </a:r>
            <a:r>
              <a:rPr sz="1100" b="0">
                <a:solidFill>
                  <a:srgbClr val="B0C4D8"/>
                </a:solidFill>
              </a:rPr>
              <a:t>Without determinism: cannot distinguish genuine alpha from lucky seeds</a:t>
            </a:r>
          </a:p>
        </p:txBody>
      </p:sp>
      <p:sp>
        <p:nvSpPr>
          <p:cNvPr id="7" name="Rectangle 6"/>
          <p:cNvSpPr/>
          <p:nvPr/>
        </p:nvSpPr>
        <p:spPr>
          <a:xfrm>
            <a:off x="7406640" y="804672"/>
            <a:ext cx="4572000" cy="5760720"/>
          </a:xfrm>
          <a:prstGeom prst="rect">
            <a:avLst/>
          </a:prstGeom>
          <a:solidFill>
            <a:srgbClr val="153045"/>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00D4FF"/>
                </a:solidFill>
              </a:rPr>
              <a:t>[ VISUAL ]</a:t>
            </a:r>
          </a:p>
          <a:p>
            <a:pPr algn="ctr"/>
            <a:r>
              <a:rPr sz="700" i="1">
                <a:solidFill>
                  <a:srgbClr val="B0C4D8"/>
                </a:solidFill>
              </a:rPr>
              <a:t>Side-by-side comparison: left='Non-Deterministic Approach' (PRNG seeded with wall-clock, different results each run). Right='Eclipse Scalper Approach' (hash-based, identical for identical inputs). Below: timing diagram showing feature inputs strictly at t≤signal_time.</a:t>
            </a:r>
          </a:p>
        </p:txBody>
      </p:sp>
      <p:sp>
        <p:nvSpPr>
          <p:cNvPr id="8" name="Rectangle 7"/>
          <p:cNvSpPr/>
          <p:nvPr/>
        </p:nvSpPr>
        <p:spPr>
          <a:xfrm>
            <a:off x="0" y="6812280"/>
            <a:ext cx="12191695" cy="45720"/>
          </a:xfrm>
          <a:prstGeom prst="rect">
            <a:avLst/>
          </a:prstGeom>
          <a:solidFill>
            <a:srgbClr val="008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A3A5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371600" cy="1371600"/>
          </a:xfrm>
          <a:prstGeom prst="rect">
            <a:avLst/>
          </a:prstGeom>
          <a:noFill/>
        </p:spPr>
        <p:txBody>
          <a:bodyPr wrap="square">
            <a:spAutoFit/>
          </a:bodyPr>
          <a:lstStyle/>
          <a:p/>
          <a:p>
            <a:pPr algn="l">
              <a:spcBef>
                <a:spcPts val="0"/>
              </a:spcBef>
              <a:spcAft>
                <a:spcPts val="0"/>
              </a:spcAft>
            </a:pPr>
            <a:r>
              <a:rPr sz="7200" b="1" i="0">
                <a:solidFill>
                  <a:srgbClr val="00D4FF"/>
                </a:solidFill>
              </a:rPr>
              <a:t>III</a:t>
            </a:r>
          </a:p>
        </p:txBody>
      </p:sp>
      <p:sp>
        <p:nvSpPr>
          <p:cNvPr id="5" name="TextBox 4"/>
          <p:cNvSpPr txBox="1"/>
          <p:nvPr/>
        </p:nvSpPr>
        <p:spPr>
          <a:xfrm>
            <a:off x="2011680" y="2011680"/>
            <a:ext cx="9601200" cy="2286000"/>
          </a:xfrm>
          <a:prstGeom prst="rect">
            <a:avLst/>
          </a:prstGeom>
          <a:noFill/>
        </p:spPr>
        <p:txBody>
          <a:bodyPr wrap="square">
            <a:spAutoFit/>
          </a:bodyPr>
          <a:lstStyle/>
          <a:p/>
          <a:p>
            <a:pPr algn="l">
              <a:spcBef>
                <a:spcPts val="0"/>
              </a:spcBef>
              <a:spcAft>
                <a:spcPts val="600"/>
              </a:spcAft>
            </a:pPr>
            <a:r>
              <a:rPr sz="3400" b="1" i="0">
                <a:solidFill>
                  <a:srgbClr val="FFFFFF"/>
                </a:solidFill>
              </a:rPr>
              <a:t>The Per-Fill Illusion Problem</a:t>
            </a:r>
          </a:p>
          <a:p>
            <a:pPr algn="l">
              <a:spcBef>
                <a:spcPts val="0"/>
              </a:spcBef>
              <a:spcAft>
                <a:spcPts val="0"/>
              </a:spcAft>
            </a:pPr>
            <a:r>
              <a:rPr sz="1600" b="0" i="0">
                <a:solidFill>
                  <a:srgbClr val="B0C4D8"/>
                </a:solidFill>
              </a:rPr>
              <a:t>Why Conditional Profitability Is Not Expected Value</a:t>
            </a:r>
          </a:p>
        </p:txBody>
      </p:sp>
      <p:sp>
        <p:nvSpPr>
          <p:cNvPr id="6" name="Rectangle 5"/>
          <p:cNvSpPr/>
          <p:nvPr/>
        </p:nvSpPr>
        <p:spPr>
          <a:xfrm>
            <a:off x="2011680" y="1920240"/>
            <a:ext cx="36576" cy="2011680"/>
          </a:xfrm>
          <a:prstGeom prst="rect">
            <a:avLst/>
          </a:prstGeom>
          <a:solidFill>
            <a:srgbClr val="00FF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1F3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12191695" cy="658368"/>
          </a:xfrm>
          <a:prstGeom prst="rect">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10789920" cy="594360"/>
          </a:xfrm>
          <a:prstGeom prst="rect">
            <a:avLst/>
          </a:prstGeom>
          <a:noFill/>
        </p:spPr>
        <p:txBody>
          <a:bodyPr wrap="square">
            <a:spAutoFit/>
          </a:bodyPr>
          <a:lstStyle/>
          <a:p/>
          <a:p>
            <a:pPr algn="l">
              <a:spcBef>
                <a:spcPts val="0"/>
              </a:spcBef>
              <a:spcAft>
                <a:spcPts val="0"/>
              </a:spcAft>
            </a:pPr>
            <a:r>
              <a:rPr sz="2000" b="1" i="0">
                <a:solidFill>
                  <a:srgbClr val="FFFFFF"/>
                </a:solidFill>
              </a:rPr>
              <a:t>Two Metrics, One Question: Do We Have Alpha?</a:t>
            </a:r>
          </a:p>
        </p:txBody>
      </p:sp>
      <p:sp>
        <p:nvSpPr>
          <p:cNvPr id="5" name="TextBox 4"/>
          <p:cNvSpPr txBox="1"/>
          <p:nvPr/>
        </p:nvSpPr>
        <p:spPr>
          <a:xfrm>
            <a:off x="11155680" y="91440"/>
            <a:ext cx="914400" cy="457200"/>
          </a:xfrm>
          <a:prstGeom prst="rect">
            <a:avLst/>
          </a:prstGeom>
          <a:noFill/>
        </p:spPr>
        <p:txBody>
          <a:bodyPr wrap="square">
            <a:spAutoFit/>
          </a:bodyPr>
          <a:lstStyle/>
          <a:p/>
          <a:p>
            <a:pPr algn="r">
              <a:spcBef>
                <a:spcPts val="0"/>
              </a:spcBef>
              <a:spcAft>
                <a:spcPts val="0"/>
              </a:spcAft>
            </a:pPr>
            <a:r>
              <a:rPr sz="800" b="0" i="0">
                <a:solidFill>
                  <a:srgbClr val="00D4FF"/>
                </a:solidFill>
              </a:rPr>
              <a:t>3.1</a:t>
            </a:r>
          </a:p>
        </p:txBody>
      </p:sp>
      <p:sp>
        <p:nvSpPr>
          <p:cNvPr id="6" name="TextBox 5"/>
          <p:cNvSpPr txBox="1"/>
          <p:nvPr/>
        </p:nvSpPr>
        <p:spPr>
          <a:xfrm>
            <a:off x="274320" y="804672"/>
            <a:ext cx="6949440" cy="5760720"/>
          </a:xfrm>
          <a:prstGeom prst="rect">
            <a:avLst/>
          </a:prstGeom>
          <a:noFill/>
        </p:spPr>
        <p:txBody>
          <a:bodyPr wrap="square">
            <a:spAutoFit/>
          </a:bodyPr>
          <a:lstStyle/>
          <a:p>
            <a:pPr algn="l">
              <a:spcBef>
                <a:spcPts val="300"/>
              </a:spcBef>
              <a:spcAft>
                <a:spcPts val="200"/>
              </a:spcAft>
            </a:pPr>
            <a:r>
              <a:rPr sz="1300" b="1">
                <a:solidFill>
                  <a:srgbClr val="00D4FF"/>
                </a:solidFill>
              </a:rPr>
              <a:t>▸ </a:t>
            </a:r>
            <a:r>
              <a:rPr sz="1300" b="0">
                <a:solidFill>
                  <a:srgbClr val="FFFFFF"/>
                </a:solidFill>
              </a:rPr>
              <a:t>filled_avg_net = Σ(net_return | filled=True) / n_fills — conditional on execution</a:t>
            </a:r>
          </a:p>
          <a:p>
            <a:pPr algn="l">
              <a:spcBef>
                <a:spcPts val="300"/>
              </a:spcBef>
              <a:spcAft>
                <a:spcPts val="200"/>
              </a:spcAft>
            </a:pPr>
            <a:r>
              <a:rPr sz="1300" b="1">
                <a:solidFill>
                  <a:srgbClr val="00D4FF"/>
                </a:solidFill>
              </a:rPr>
              <a:t>▸ </a:t>
            </a:r>
            <a:r>
              <a:rPr sz="1300" b="0">
                <a:solidFill>
                  <a:srgbClr val="FFFFFF"/>
                </a:solidFill>
              </a:rPr>
              <a:t>net_per_attempt = Σ(net_return for ALL attempts) / n_attempts — unconditional EV</a:t>
            </a:r>
          </a:p>
          <a:p>
            <a:pPr algn="l">
              <a:spcBef>
                <a:spcPts val="300"/>
              </a:spcBef>
              <a:spcAft>
                <a:spcPts val="200"/>
              </a:spcAft>
            </a:pPr>
            <a:r>
              <a:rPr sz="1300" b="1">
                <a:solidFill>
                  <a:srgbClr val="00D4FF"/>
                </a:solidFill>
              </a:rPr>
              <a:t>▸ </a:t>
            </a:r>
            <a:r>
              <a:rPr sz="1300" b="0">
                <a:solidFill>
                  <a:srgbClr val="FFFFFF"/>
                </a:solidFill>
              </a:rPr>
              <a:t>Unfilled attempts contribute exactly 0.0 net return — not a loss, not a gain</a:t>
            </a:r>
          </a:p>
          <a:p>
            <a:pPr algn="l">
              <a:spcBef>
                <a:spcPts val="300"/>
              </a:spcBef>
              <a:spcAft>
                <a:spcPts val="200"/>
              </a:spcAft>
            </a:pPr>
            <a:r>
              <a:rPr sz="1300" b="1">
                <a:solidFill>
                  <a:srgbClr val="00D4FF"/>
                </a:solidFill>
              </a:rPr>
              <a:t>▸ </a:t>
            </a:r>
            <a:r>
              <a:rPr sz="1300" b="0">
                <a:solidFill>
                  <a:srgbClr val="FFFFFF"/>
                </a:solidFill>
              </a:rPr>
              <a:t>Mathematical relationship: NPA = fill_rate × filled_avg_net</a:t>
            </a:r>
          </a:p>
          <a:p>
            <a:pPr algn="l">
              <a:spcBef>
                <a:spcPts val="300"/>
              </a:spcBef>
              <a:spcAft>
                <a:spcPts val="200"/>
              </a:spcAft>
            </a:pPr>
            <a:r>
              <a:rPr sz="1300" b="1">
                <a:solidFill>
                  <a:srgbClr val="00D4FF"/>
                </a:solidFill>
              </a:rPr>
              <a:t>▸ </a:t>
            </a:r>
            <a:r>
              <a:rPr sz="1300" b="0">
                <a:solidFill>
                  <a:srgbClr val="FFFFFF"/>
                </a:solidFill>
              </a:rPr>
              <a:t>These metrics diverge when fill_rate &lt; 1.0 — which is always true for passive orders</a:t>
            </a:r>
          </a:p>
          <a:p>
            <a:pPr lvl="1" algn="l">
              <a:spcBef>
                <a:spcPts val="100"/>
              </a:spcBef>
              <a:spcAft>
                <a:spcPts val="200"/>
              </a:spcAft>
            </a:pPr>
            <a:r>
              <a:rPr sz="1100" b="0">
                <a:solidFill>
                  <a:srgbClr val="00FFB3"/>
                </a:solidFill>
              </a:rPr>
              <a:t>  · </a:t>
            </a:r>
            <a:r>
              <a:rPr sz="1100" b="0">
                <a:solidFill>
                  <a:srgbClr val="B0C4D8"/>
                </a:solidFill>
              </a:rPr>
              <a:t>Passive orders only fill when market moves to them — by definition fill_rate &lt; 1</a:t>
            </a:r>
          </a:p>
          <a:p>
            <a:pPr lvl="1" algn="l">
              <a:spcBef>
                <a:spcPts val="100"/>
              </a:spcBef>
              <a:spcAft>
                <a:spcPts val="200"/>
              </a:spcAft>
            </a:pPr>
            <a:r>
              <a:rPr sz="1100" b="0">
                <a:solidFill>
                  <a:srgbClr val="00FFB3"/>
                </a:solidFill>
              </a:rPr>
              <a:t>  · </a:t>
            </a:r>
            <a:r>
              <a:rPr sz="1100" b="0">
                <a:solidFill>
                  <a:srgbClr val="B0C4D8"/>
                </a:solidFill>
              </a:rPr>
              <a:t>filled_avg_net is a biased estimator of strategy profitability; NPA is unbiased</a:t>
            </a:r>
          </a:p>
        </p:txBody>
      </p:sp>
      <p:sp>
        <p:nvSpPr>
          <p:cNvPr id="7" name="Rectangle 6"/>
          <p:cNvSpPr/>
          <p:nvPr/>
        </p:nvSpPr>
        <p:spPr>
          <a:xfrm>
            <a:off x="7406640" y="804672"/>
            <a:ext cx="4572000" cy="5760720"/>
          </a:xfrm>
          <a:prstGeom prst="rect">
            <a:avLst/>
          </a:prstGeom>
          <a:solidFill>
            <a:srgbClr val="153045"/>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00D4FF"/>
                </a:solidFill>
              </a:rPr>
              <a:t>[ VISUAL ]</a:t>
            </a:r>
          </a:p>
          <a:p>
            <a:pPr algn="ctr"/>
            <a:r>
              <a:rPr sz="700" i="1">
                <a:solidFill>
                  <a:srgbClr val="B0C4D8"/>
                </a:solidFill>
              </a:rPr>
              <a:t>Funnel diagram: 100 signal events → 50 fills (fill_rate=50%). filled_avg_net computed from 50. Same 100 events with unfilled contributing 0.0 → NPA from all 100. Bar chart: filled_avg_net=+0.8bps vs NPA=-0.2bps after costs. The sign flip is the key message.</a:t>
            </a:r>
          </a:p>
        </p:txBody>
      </p:sp>
      <p:sp>
        <p:nvSpPr>
          <p:cNvPr id="8" name="Rectangle 7"/>
          <p:cNvSpPr/>
          <p:nvPr/>
        </p:nvSpPr>
        <p:spPr>
          <a:xfrm>
            <a:off x="0" y="6812280"/>
            <a:ext cx="12191695" cy="45720"/>
          </a:xfrm>
          <a:prstGeom prst="rect">
            <a:avLst/>
          </a:prstGeom>
          <a:solidFill>
            <a:srgbClr val="008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F1F3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12191695" cy="658368"/>
          </a:xfrm>
          <a:prstGeom prst="rect">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10789920" cy="594360"/>
          </a:xfrm>
          <a:prstGeom prst="rect">
            <a:avLst/>
          </a:prstGeom>
          <a:noFill/>
        </p:spPr>
        <p:txBody>
          <a:bodyPr wrap="square">
            <a:spAutoFit/>
          </a:bodyPr>
          <a:lstStyle/>
          <a:p/>
          <a:p>
            <a:pPr algn="l">
              <a:spcBef>
                <a:spcPts val="0"/>
              </a:spcBef>
              <a:spcAft>
                <a:spcPts val="0"/>
              </a:spcAft>
            </a:pPr>
            <a:r>
              <a:rPr sz="2000" b="1" i="0">
                <a:solidFill>
                  <a:srgbClr val="FFFFFF"/>
                </a:solidFill>
              </a:rPr>
              <a:t>Mathematical Decomposition of Strategy Expected Value</a:t>
            </a:r>
          </a:p>
        </p:txBody>
      </p:sp>
      <p:sp>
        <p:nvSpPr>
          <p:cNvPr id="5" name="TextBox 4"/>
          <p:cNvSpPr txBox="1"/>
          <p:nvPr/>
        </p:nvSpPr>
        <p:spPr>
          <a:xfrm>
            <a:off x="11155680" y="91440"/>
            <a:ext cx="914400" cy="457200"/>
          </a:xfrm>
          <a:prstGeom prst="rect">
            <a:avLst/>
          </a:prstGeom>
          <a:noFill/>
        </p:spPr>
        <p:txBody>
          <a:bodyPr wrap="square">
            <a:spAutoFit/>
          </a:bodyPr>
          <a:lstStyle/>
          <a:p/>
          <a:p>
            <a:pPr algn="r">
              <a:spcBef>
                <a:spcPts val="0"/>
              </a:spcBef>
              <a:spcAft>
                <a:spcPts val="0"/>
              </a:spcAft>
            </a:pPr>
            <a:r>
              <a:rPr sz="800" b="0" i="0">
                <a:solidFill>
                  <a:srgbClr val="00D4FF"/>
                </a:solidFill>
              </a:rPr>
              <a:t>3.2</a:t>
            </a:r>
          </a:p>
        </p:txBody>
      </p:sp>
      <p:sp>
        <p:nvSpPr>
          <p:cNvPr id="6" name="Rectangle 5"/>
          <p:cNvSpPr/>
          <p:nvPr/>
        </p:nvSpPr>
        <p:spPr>
          <a:xfrm>
            <a:off x="365760" y="868680"/>
            <a:ext cx="5486400" cy="5623560"/>
          </a:xfrm>
          <a:prstGeom prst="rect">
            <a:avLst/>
          </a:prstGeom>
          <a:solidFill>
            <a:srgbClr val="05121E"/>
          </a:solidFill>
          <a:ln w="9525">
            <a:solidFill>
              <a:srgbClr val="00FF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960120"/>
            <a:ext cx="5120640" cy="5394960"/>
          </a:xfrm>
          <a:prstGeom prst="rect">
            <a:avLst/>
          </a:prstGeom>
          <a:noFill/>
        </p:spPr>
        <p:txBody>
          <a:bodyPr wrap="square">
            <a:spAutoFit/>
          </a:bodyPr>
          <a:lstStyle/>
          <a:p>
            <a:pPr algn="l">
              <a:spcBef>
                <a:spcPts val="600"/>
              </a:spcBef>
            </a:pPr>
            <a:r>
              <a:rPr sz="1100">
                <a:solidFill>
                  <a:srgbClr val="00FFB3"/>
                </a:solidFill>
                <a:latin typeface="Courier New"/>
              </a:rPr>
              <a:t># Definitions</a:t>
            </a:r>
          </a:p>
          <a:p>
            <a:pPr algn="l">
              <a:spcBef>
                <a:spcPts val="600"/>
              </a:spcBef>
            </a:pPr>
            <a:r>
              <a:rPr sz="1100">
                <a:solidFill>
                  <a:srgbClr val="00FFB3"/>
                </a:solidFill>
                <a:latin typeface="Courier New"/>
              </a:rPr>
              <a:t>N  = total attempts</a:t>
            </a:r>
          </a:p>
          <a:p>
            <a:pPr algn="l">
              <a:spcBef>
                <a:spcPts val="600"/>
              </a:spcBef>
            </a:pPr>
            <a:r>
              <a:rPr sz="1100">
                <a:solidFill>
                  <a:srgbClr val="00FFB3"/>
                </a:solidFill>
                <a:latin typeface="Courier New"/>
              </a:rPr>
              <a:t>F  = fills</a:t>
            </a:r>
          </a:p>
          <a:p>
            <a:pPr algn="l">
              <a:spcBef>
                <a:spcPts val="600"/>
              </a:spcBef>
            </a:pPr>
            <a:r>
              <a:rPr sz="1100">
                <a:solidFill>
                  <a:srgbClr val="00FFB3"/>
                </a:solidFill>
                <a:latin typeface="Courier New"/>
              </a:rPr>
              <a:t>f  = F / N   (fill rate)</a:t>
            </a:r>
          </a:p>
          <a:p>
            <a:pPr algn="l">
              <a:spcBef>
                <a:spcPts val="600"/>
              </a:spcBef>
            </a:pPr>
            <a:r>
              <a:rPr sz="1100">
                <a:solidFill>
                  <a:srgbClr val="00FFB3"/>
                </a:solidFill>
                <a:latin typeface="Courier New"/>
              </a:rPr>
              <a:t/>
            </a:r>
          </a:p>
          <a:p>
            <a:pPr algn="l">
              <a:spcBef>
                <a:spcPts val="600"/>
              </a:spcBef>
            </a:pPr>
            <a:r>
              <a:rPr sz="1100">
                <a:solidFill>
                  <a:srgbClr val="00FFB3"/>
                </a:solidFill>
                <a:latin typeface="Courier New"/>
              </a:rPr>
              <a:t>filled_avg_net</a:t>
            </a:r>
          </a:p>
          <a:p>
            <a:pPr algn="l">
              <a:spcBef>
                <a:spcPts val="600"/>
              </a:spcBef>
            </a:pPr>
            <a:r>
              <a:rPr sz="1100">
                <a:solidFill>
                  <a:srgbClr val="00FFB3"/>
                </a:solidFill>
                <a:latin typeface="Courier New"/>
              </a:rPr>
              <a:t>  = (1/F) * Σ r_i  [i: filled]</a:t>
            </a:r>
          </a:p>
          <a:p>
            <a:pPr algn="l">
              <a:spcBef>
                <a:spcPts val="600"/>
              </a:spcBef>
            </a:pPr>
            <a:r>
              <a:rPr sz="1100">
                <a:solidFill>
                  <a:srgbClr val="00FFB3"/>
                </a:solidFill>
                <a:latin typeface="Courier New"/>
              </a:rPr>
              <a:t/>
            </a:r>
          </a:p>
          <a:p>
            <a:pPr algn="l">
              <a:spcBef>
                <a:spcPts val="600"/>
              </a:spcBef>
            </a:pPr>
            <a:r>
              <a:rPr sz="1100">
                <a:solidFill>
                  <a:srgbClr val="00FFB3"/>
                </a:solidFill>
                <a:latin typeface="Courier New"/>
              </a:rPr>
              <a:t>NPA = (1/N) * Σ r_i  [all i]</a:t>
            </a:r>
          </a:p>
          <a:p>
            <a:pPr algn="l">
              <a:spcBef>
                <a:spcPts val="600"/>
              </a:spcBef>
            </a:pPr>
            <a:r>
              <a:rPr sz="1100">
                <a:solidFill>
                  <a:srgbClr val="00FFB3"/>
                </a:solidFill>
                <a:latin typeface="Courier New"/>
              </a:rPr>
              <a:t>    = f * filled_avg_net</a:t>
            </a:r>
          </a:p>
          <a:p>
            <a:pPr algn="l">
              <a:spcBef>
                <a:spcPts val="600"/>
              </a:spcBef>
            </a:pPr>
            <a:r>
              <a:rPr sz="1100">
                <a:solidFill>
                  <a:srgbClr val="00FFB3"/>
                </a:solidFill>
                <a:latin typeface="Courier New"/>
              </a:rPr>
              <a:t/>
            </a:r>
          </a:p>
          <a:p>
            <a:pPr algn="l">
              <a:spcBef>
                <a:spcPts val="600"/>
              </a:spcBef>
            </a:pPr>
            <a:r>
              <a:rPr sz="1100">
                <a:solidFill>
                  <a:srgbClr val="00FFB3"/>
                </a:solidFill>
                <a:latin typeface="Courier New"/>
              </a:rPr>
              <a:t># Cost per fill (round trip)</a:t>
            </a:r>
          </a:p>
          <a:p>
            <a:pPr algn="l">
              <a:spcBef>
                <a:spcPts val="600"/>
              </a:spcBef>
            </a:pPr>
            <a:r>
              <a:rPr sz="1100">
                <a:solidFill>
                  <a:srgbClr val="00FFB3"/>
                </a:solidFill>
                <a:latin typeface="Courier New"/>
              </a:rPr>
              <a:t>c_fee = 2 * maker_fee_bps / 10_000</a:t>
            </a:r>
          </a:p>
          <a:p>
            <a:pPr algn="l">
              <a:spcBef>
                <a:spcPts val="600"/>
              </a:spcBef>
            </a:pPr>
            <a:r>
              <a:rPr sz="1100">
                <a:solidFill>
                  <a:srgbClr val="00FFB3"/>
                </a:solidFill>
                <a:latin typeface="Courier New"/>
              </a:rPr>
              <a:t>c_adv = adverse_bps / 10_000</a:t>
            </a:r>
          </a:p>
          <a:p>
            <a:pPr algn="l">
              <a:spcBef>
                <a:spcPts val="600"/>
              </a:spcBef>
            </a:pPr>
            <a:r>
              <a:rPr sz="1100">
                <a:solidFill>
                  <a:srgbClr val="00FFB3"/>
                </a:solidFill>
                <a:latin typeface="Courier New"/>
              </a:rPr>
              <a:t>r_i   = raw_ret_i - c_fee - c_adv</a:t>
            </a:r>
          </a:p>
          <a:p>
            <a:pPr algn="l">
              <a:spcBef>
                <a:spcPts val="600"/>
              </a:spcBef>
            </a:pPr>
            <a:r>
              <a:rPr sz="1100">
                <a:solidFill>
                  <a:srgbClr val="00FFB3"/>
                </a:solidFill>
                <a:latin typeface="Courier New"/>
              </a:rPr>
              <a:t/>
            </a:r>
          </a:p>
          <a:p>
            <a:pPr algn="l">
              <a:spcBef>
                <a:spcPts val="600"/>
              </a:spcBef>
            </a:pPr>
            <a:r>
              <a:rPr sz="1100">
                <a:solidFill>
                  <a:srgbClr val="00FFB3"/>
                </a:solidFill>
                <a:latin typeface="Courier New"/>
              </a:rPr>
              <a:t># Break-even fill rate</a:t>
            </a:r>
          </a:p>
          <a:p>
            <a:pPr algn="l">
              <a:spcBef>
                <a:spcPts val="600"/>
              </a:spcBef>
            </a:pPr>
            <a:r>
              <a:rPr sz="1100">
                <a:solidFill>
                  <a:srgbClr val="00FFB3"/>
                </a:solidFill>
                <a:latin typeface="Courier New"/>
              </a:rPr>
              <a:t>f* = (c_fee + c_adv) / raw_filled_avg</a:t>
            </a:r>
          </a:p>
        </p:txBody>
      </p:sp>
      <p:sp>
        <p:nvSpPr>
          <p:cNvPr id="8" name="TextBox 7"/>
          <p:cNvSpPr txBox="1"/>
          <p:nvPr/>
        </p:nvSpPr>
        <p:spPr>
          <a:xfrm>
            <a:off x="6126480" y="868680"/>
            <a:ext cx="5852160" cy="5623560"/>
          </a:xfrm>
          <a:prstGeom prst="rect">
            <a:avLst/>
          </a:prstGeom>
          <a:noFill/>
        </p:spPr>
        <p:txBody>
          <a:bodyPr wrap="square">
            <a:spAutoFit/>
          </a:bodyPr>
          <a:lstStyle/>
          <a:p>
            <a:pPr>
              <a:spcBef>
                <a:spcPts val="400"/>
              </a:spcBef>
            </a:pPr>
            <a:r>
              <a:rPr sz="1200" b="1">
                <a:solidFill>
                  <a:srgbClr val="00D4FF"/>
                </a:solidFill>
              </a:rPr>
              <a:t>▸ </a:t>
            </a:r>
            <a:r>
              <a:rPr sz="1200">
                <a:solidFill>
                  <a:srgbClr val="FFFFFF"/>
                </a:solidFill>
              </a:rPr>
              <a:t>NPA is the unbiased estimator of strategy profitability</a:t>
            </a:r>
          </a:p>
          <a:p>
            <a:pPr>
              <a:spcBef>
                <a:spcPts val="400"/>
              </a:spcBef>
            </a:pPr>
            <a:r>
              <a:rPr sz="1200" b="1">
                <a:solidFill>
                  <a:srgbClr val="00D4FF"/>
                </a:solidFill>
              </a:rPr>
              <a:t>▸ </a:t>
            </a:r>
            <a:r>
              <a:rPr sz="1200">
                <a:solidFill>
                  <a:srgbClr val="FFFFFF"/>
                </a:solidFill>
              </a:rPr>
              <a:t>filled_avg_net is biased — it conditions on fills occurring</a:t>
            </a:r>
          </a:p>
          <a:p>
            <a:pPr>
              <a:spcBef>
                <a:spcPts val="400"/>
              </a:spcBef>
            </a:pPr>
            <a:r>
              <a:rPr sz="1200" b="1">
                <a:solidFill>
                  <a:srgbClr val="00D4FF"/>
                </a:solidFill>
              </a:rPr>
              <a:t>▸ </a:t>
            </a:r>
            <a:r>
              <a:rPr sz="1200">
                <a:solidFill>
                  <a:srgbClr val="FFFFFF"/>
                </a:solidFill>
              </a:rPr>
              <a:t>Break-even fee: filled_avg_net must exceed c_fee + c_adv</a:t>
            </a:r>
          </a:p>
          <a:p>
            <a:pPr>
              <a:spcBef>
                <a:spcPts val="400"/>
              </a:spcBef>
            </a:pPr>
            <a:r>
              <a:rPr sz="1200" b="1">
                <a:solidFill>
                  <a:srgbClr val="00D4FF"/>
                </a:solidFill>
              </a:rPr>
              <a:t>▸ </a:t>
            </a:r>
            <a:r>
              <a:rPr sz="1200">
                <a:solidFill>
                  <a:srgbClr val="FFFFFF"/>
                </a:solidFill>
              </a:rPr>
              <a:t>At maker_fee=1.0 bps, c_fee=0.0001 (round trip)</a:t>
            </a:r>
          </a:p>
          <a:p>
            <a:pPr>
              <a:spcBef>
                <a:spcPts val="400"/>
              </a:spcBef>
            </a:pPr>
            <a:r>
              <a:rPr sz="1200" b="1">
                <a:solidFill>
                  <a:srgbClr val="00D4FF"/>
                </a:solidFill>
              </a:rPr>
              <a:t>▸ </a:t>
            </a:r>
            <a:r>
              <a:rPr sz="1200">
                <a:solidFill>
                  <a:srgbClr val="FFFFFF"/>
                </a:solidFill>
              </a:rPr>
              <a:t>Adverse ~0.1 bps → c_adv=0.00001</a:t>
            </a:r>
          </a:p>
          <a:p>
            <a:pPr>
              <a:spcBef>
                <a:spcPts val="400"/>
              </a:spcBef>
            </a:pPr>
            <a:r>
              <a:rPr sz="1200" b="1">
                <a:solidFill>
                  <a:srgbClr val="00D4FF"/>
                </a:solidFill>
              </a:rPr>
              <a:t>▸ </a:t>
            </a:r>
            <a:r>
              <a:rPr sz="1200">
                <a:solidFill>
                  <a:srgbClr val="FFFFFF"/>
                </a:solidFill>
              </a:rPr>
              <a:t>If raw_filled_avg=0.8 bps &lt; 1.1 bps cost → every fill loses money</a:t>
            </a:r>
          </a:p>
          <a:p>
            <a:pPr>
              <a:spcBef>
                <a:spcPts val="200"/>
              </a:spcBef>
            </a:pPr>
            <a:r>
              <a:rPr sz="1000" b="0">
                <a:solidFill>
                  <a:srgbClr val="00FFB3"/>
                </a:solidFill>
              </a:rPr>
              <a:t>  · </a:t>
            </a:r>
            <a:r>
              <a:rPr sz="1000">
                <a:solidFill>
                  <a:srgbClr val="B0C4D8"/>
                </a:solidFill>
              </a:rPr>
              <a:t>More fills = more losses in this regime</a:t>
            </a:r>
          </a:p>
          <a:p>
            <a:pPr>
              <a:spcBef>
                <a:spcPts val="200"/>
              </a:spcBef>
            </a:pPr>
            <a:r>
              <a:rPr sz="1000" b="0">
                <a:solidFill>
                  <a:srgbClr val="00FFB3"/>
                </a:solidFill>
              </a:rPr>
              <a:t>  · </a:t>
            </a:r>
            <a:r>
              <a:rPr sz="1000">
                <a:solidFill>
                  <a:srgbClr val="B0C4D8"/>
                </a:solidFill>
              </a:rPr>
              <a:t>The gate is the tool to invert this</a:t>
            </a:r>
          </a:p>
        </p:txBody>
      </p:sp>
      <p:sp>
        <p:nvSpPr>
          <p:cNvPr id="9" name="Rectangle 8"/>
          <p:cNvSpPr/>
          <p:nvPr/>
        </p:nvSpPr>
        <p:spPr>
          <a:xfrm>
            <a:off x="0" y="6812280"/>
            <a:ext cx="12191695" cy="45720"/>
          </a:xfrm>
          <a:prstGeom prst="rect">
            <a:avLst/>
          </a:prstGeom>
          <a:solidFill>
            <a:srgbClr val="008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F1F3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12191695" cy="658368"/>
          </a:xfrm>
          <a:prstGeom prst="rect">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10789920" cy="594360"/>
          </a:xfrm>
          <a:prstGeom prst="rect">
            <a:avLst/>
          </a:prstGeom>
          <a:noFill/>
        </p:spPr>
        <p:txBody>
          <a:bodyPr wrap="square">
            <a:spAutoFit/>
          </a:bodyPr>
          <a:lstStyle/>
          <a:p/>
          <a:p>
            <a:pPr algn="l">
              <a:spcBef>
                <a:spcPts val="0"/>
              </a:spcBef>
              <a:spcAft>
                <a:spcPts val="0"/>
              </a:spcAft>
            </a:pPr>
            <a:r>
              <a:rPr sz="2000" b="1" i="0">
                <a:solidFill>
                  <a:srgbClr val="FFFFFF"/>
                </a:solidFill>
              </a:rPr>
              <a:t>Adverse Selection — The Hidden Cost of Passive Execution</a:t>
            </a:r>
          </a:p>
        </p:txBody>
      </p:sp>
      <p:sp>
        <p:nvSpPr>
          <p:cNvPr id="5" name="TextBox 4"/>
          <p:cNvSpPr txBox="1"/>
          <p:nvPr/>
        </p:nvSpPr>
        <p:spPr>
          <a:xfrm>
            <a:off x="11155680" y="91440"/>
            <a:ext cx="914400" cy="457200"/>
          </a:xfrm>
          <a:prstGeom prst="rect">
            <a:avLst/>
          </a:prstGeom>
          <a:noFill/>
        </p:spPr>
        <p:txBody>
          <a:bodyPr wrap="square">
            <a:spAutoFit/>
          </a:bodyPr>
          <a:lstStyle/>
          <a:p/>
          <a:p>
            <a:pPr algn="r">
              <a:spcBef>
                <a:spcPts val="0"/>
              </a:spcBef>
              <a:spcAft>
                <a:spcPts val="0"/>
              </a:spcAft>
            </a:pPr>
            <a:r>
              <a:rPr sz="800" b="0" i="0">
                <a:solidFill>
                  <a:srgbClr val="00D4FF"/>
                </a:solidFill>
              </a:rPr>
              <a:t>3.3</a:t>
            </a:r>
          </a:p>
        </p:txBody>
      </p:sp>
      <p:sp>
        <p:nvSpPr>
          <p:cNvPr id="6" name="TextBox 5"/>
          <p:cNvSpPr txBox="1"/>
          <p:nvPr/>
        </p:nvSpPr>
        <p:spPr>
          <a:xfrm>
            <a:off x="274320" y="804672"/>
            <a:ext cx="6949440" cy="5760720"/>
          </a:xfrm>
          <a:prstGeom prst="rect">
            <a:avLst/>
          </a:prstGeom>
          <a:noFill/>
        </p:spPr>
        <p:txBody>
          <a:bodyPr wrap="square">
            <a:spAutoFit/>
          </a:bodyPr>
          <a:lstStyle/>
          <a:p>
            <a:pPr algn="l">
              <a:spcBef>
                <a:spcPts val="300"/>
              </a:spcBef>
              <a:spcAft>
                <a:spcPts val="200"/>
              </a:spcAft>
            </a:pPr>
            <a:r>
              <a:rPr sz="1300" b="1">
                <a:solidFill>
                  <a:srgbClr val="00D4FF"/>
                </a:solidFill>
              </a:rPr>
              <a:t>▸ </a:t>
            </a:r>
            <a:r>
              <a:rPr sz="1300" b="0">
                <a:solidFill>
                  <a:srgbClr val="FFFFFF"/>
                </a:solidFill>
              </a:rPr>
              <a:t>Adverse selection: we fill disproportionately when market moves against us immediately after</a:t>
            </a:r>
          </a:p>
          <a:p>
            <a:pPr algn="l">
              <a:spcBef>
                <a:spcPts val="300"/>
              </a:spcBef>
              <a:spcAft>
                <a:spcPts val="200"/>
              </a:spcAft>
            </a:pPr>
            <a:r>
              <a:rPr sz="1300" b="1">
                <a:solidFill>
                  <a:srgbClr val="00D4FF"/>
                </a:solidFill>
              </a:rPr>
              <a:t>▸ </a:t>
            </a:r>
            <a:r>
              <a:rPr sz="1300" b="0">
                <a:solidFill>
                  <a:srgbClr val="FFFFFF"/>
                </a:solidFill>
              </a:rPr>
              <a:t>Mechanism: informed traders hit our passive orders at moments of maximum adverse information</a:t>
            </a:r>
          </a:p>
          <a:p>
            <a:pPr algn="l">
              <a:spcBef>
                <a:spcPts val="300"/>
              </a:spcBef>
              <a:spcAft>
                <a:spcPts val="200"/>
              </a:spcAft>
            </a:pPr>
            <a:r>
              <a:rPr sz="1300" b="1">
                <a:solidFill>
                  <a:srgbClr val="00D4FF"/>
                </a:solidFill>
              </a:rPr>
              <a:t>▸ </a:t>
            </a:r>
            <a:r>
              <a:rPr sz="1300" b="0">
                <a:solidFill>
                  <a:srgbClr val="FFFFFF"/>
                </a:solidFill>
              </a:rPr>
              <a:t>adverse_bps calibrated from historical touch events — not assumed, not constant</a:t>
            </a:r>
          </a:p>
          <a:p>
            <a:pPr algn="l">
              <a:spcBef>
                <a:spcPts val="300"/>
              </a:spcBef>
              <a:spcAft>
                <a:spcPts val="200"/>
              </a:spcAft>
            </a:pPr>
            <a:r>
              <a:rPr sz="1300" b="1">
                <a:solidFill>
                  <a:srgbClr val="00D4FF"/>
                </a:solidFill>
              </a:rPr>
              <a:t>▸ </a:t>
            </a:r>
            <a:r>
              <a:rPr sz="1300" b="0">
                <a:solidFill>
                  <a:srgbClr val="FFFFFF"/>
                </a:solidFill>
              </a:rPr>
              <a:t>passive_adverse_mult parameter scales severity — 1.2 = +20% stress condition</a:t>
            </a:r>
          </a:p>
          <a:p>
            <a:pPr algn="l">
              <a:spcBef>
                <a:spcPts val="300"/>
              </a:spcBef>
              <a:spcAft>
                <a:spcPts val="200"/>
              </a:spcAft>
            </a:pPr>
            <a:r>
              <a:rPr sz="1300" b="1">
                <a:solidFill>
                  <a:srgbClr val="00D4FF"/>
                </a:solidFill>
              </a:rPr>
              <a:t>▸ </a:t>
            </a:r>
            <a:r>
              <a:rPr sz="1300" b="0">
                <a:solidFill>
                  <a:srgbClr val="FFFFFF"/>
                </a:solidFill>
              </a:rPr>
              <a:t>Adverse selection cost applied ONLY on fills — verified by test_npa_cost_applied_to_fills_only</a:t>
            </a:r>
          </a:p>
          <a:p>
            <a:pPr lvl="1" algn="l">
              <a:spcBef>
                <a:spcPts val="100"/>
              </a:spcBef>
              <a:spcAft>
                <a:spcPts val="200"/>
              </a:spcAft>
            </a:pPr>
            <a:r>
              <a:rPr sz="1100" b="0">
                <a:solidFill>
                  <a:srgbClr val="00FFB3"/>
                </a:solidFill>
              </a:rPr>
              <a:t>  · </a:t>
            </a:r>
            <a:r>
              <a:rPr sz="1100" b="0">
                <a:solidFill>
                  <a:srgbClr val="B0C4D8"/>
                </a:solidFill>
              </a:rPr>
              <a:t>Adverse cost test: assert all unfilled attempts have net_return == 0.0 exactly</a:t>
            </a:r>
          </a:p>
          <a:p>
            <a:pPr lvl="1" algn="l">
              <a:spcBef>
                <a:spcPts val="100"/>
              </a:spcBef>
              <a:spcAft>
                <a:spcPts val="200"/>
              </a:spcAft>
            </a:pPr>
            <a:r>
              <a:rPr sz="1100" b="0">
                <a:solidFill>
                  <a:srgbClr val="00FFB3"/>
                </a:solidFill>
              </a:rPr>
              <a:t>  · </a:t>
            </a:r>
            <a:r>
              <a:rPr sz="1100" b="0">
                <a:solidFill>
                  <a:srgbClr val="B0C4D8"/>
                </a:solidFill>
              </a:rPr>
              <a:t>test_adverse_bps_scaling_not_amplified: guards against 10,000× unit error in cost application</a:t>
            </a:r>
          </a:p>
        </p:txBody>
      </p:sp>
      <p:sp>
        <p:nvSpPr>
          <p:cNvPr id="7" name="Rectangle 6"/>
          <p:cNvSpPr/>
          <p:nvPr/>
        </p:nvSpPr>
        <p:spPr>
          <a:xfrm>
            <a:off x="7406640" y="804672"/>
            <a:ext cx="4572000" cy="5760720"/>
          </a:xfrm>
          <a:prstGeom prst="rect">
            <a:avLst/>
          </a:prstGeom>
          <a:solidFill>
            <a:srgbClr val="153045"/>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00D4FF"/>
                </a:solidFill>
              </a:rPr>
              <a:t>[ VISUAL ]</a:t>
            </a:r>
          </a:p>
          <a:p>
            <a:pPr algn="ctr"/>
            <a:r>
              <a:rPr sz="700" i="1">
                <a:solidFill>
                  <a:srgbClr val="B0C4D8"/>
                </a:solidFill>
              </a:rPr>
              <a:t>Two panels: left=time series showing price drop after adverse fill, annotated 'adverse_move=0.1bps'. Right=histogram of adverse_bps across 1000 simulated events, right-skewed, with calibrated mean and 90th percentile marked.</a:t>
            </a:r>
          </a:p>
        </p:txBody>
      </p:sp>
      <p:sp>
        <p:nvSpPr>
          <p:cNvPr id="8" name="Rectangle 7"/>
          <p:cNvSpPr/>
          <p:nvPr/>
        </p:nvSpPr>
        <p:spPr>
          <a:xfrm>
            <a:off x="0" y="6812280"/>
            <a:ext cx="12191695" cy="45720"/>
          </a:xfrm>
          <a:prstGeom prst="rect">
            <a:avLst/>
          </a:prstGeom>
          <a:solidFill>
            <a:srgbClr val="008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F1F3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12191695" cy="658368"/>
          </a:xfrm>
          <a:prstGeom prst="rect">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10789920" cy="594360"/>
          </a:xfrm>
          <a:prstGeom prst="rect">
            <a:avLst/>
          </a:prstGeom>
          <a:noFill/>
        </p:spPr>
        <p:txBody>
          <a:bodyPr wrap="square">
            <a:spAutoFit/>
          </a:bodyPr>
          <a:lstStyle/>
          <a:p/>
          <a:p>
            <a:pPr algn="l">
              <a:spcBef>
                <a:spcPts val="0"/>
              </a:spcBef>
              <a:spcAft>
                <a:spcPts val="0"/>
              </a:spcAft>
            </a:pPr>
            <a:r>
              <a:rPr sz="2000" b="1" i="0">
                <a:solidFill>
                  <a:srgbClr val="FFFFFF"/>
                </a:solidFill>
              </a:rPr>
              <a:t>Attempt Spam — Why More Signals Is Not Better</a:t>
            </a:r>
          </a:p>
        </p:txBody>
      </p:sp>
      <p:sp>
        <p:nvSpPr>
          <p:cNvPr id="5" name="TextBox 4"/>
          <p:cNvSpPr txBox="1"/>
          <p:nvPr/>
        </p:nvSpPr>
        <p:spPr>
          <a:xfrm>
            <a:off x="11155680" y="91440"/>
            <a:ext cx="914400" cy="457200"/>
          </a:xfrm>
          <a:prstGeom prst="rect">
            <a:avLst/>
          </a:prstGeom>
          <a:noFill/>
        </p:spPr>
        <p:txBody>
          <a:bodyPr wrap="square">
            <a:spAutoFit/>
          </a:bodyPr>
          <a:lstStyle/>
          <a:p/>
          <a:p>
            <a:pPr algn="r">
              <a:spcBef>
                <a:spcPts val="0"/>
              </a:spcBef>
              <a:spcAft>
                <a:spcPts val="0"/>
              </a:spcAft>
            </a:pPr>
            <a:r>
              <a:rPr sz="800" b="0" i="0">
                <a:solidFill>
                  <a:srgbClr val="00D4FF"/>
                </a:solidFill>
              </a:rPr>
              <a:t>3.4</a:t>
            </a:r>
          </a:p>
        </p:txBody>
      </p:sp>
      <p:sp>
        <p:nvSpPr>
          <p:cNvPr id="6" name="TextBox 5"/>
          <p:cNvSpPr txBox="1"/>
          <p:nvPr/>
        </p:nvSpPr>
        <p:spPr>
          <a:xfrm>
            <a:off x="274320" y="804672"/>
            <a:ext cx="6949440" cy="5760720"/>
          </a:xfrm>
          <a:prstGeom prst="rect">
            <a:avLst/>
          </a:prstGeom>
          <a:noFill/>
        </p:spPr>
        <p:txBody>
          <a:bodyPr wrap="square">
            <a:spAutoFit/>
          </a:bodyPr>
          <a:lstStyle/>
          <a:p>
            <a:pPr algn="l">
              <a:spcBef>
                <a:spcPts val="300"/>
              </a:spcBef>
              <a:spcAft>
                <a:spcPts val="200"/>
              </a:spcAft>
            </a:pPr>
            <a:r>
              <a:rPr sz="1300" b="1">
                <a:solidFill>
                  <a:srgbClr val="00D4FF"/>
                </a:solidFill>
              </a:rPr>
              <a:t>▸ </a:t>
            </a:r>
            <a:r>
              <a:rPr sz="1300" b="0">
                <a:solidFill>
                  <a:srgbClr val="FFFFFF"/>
                </a:solidFill>
              </a:rPr>
              <a:t>High signal frequency → more attempts → NPA dominated by fill costs, not fill returns</a:t>
            </a:r>
          </a:p>
          <a:p>
            <a:pPr algn="l">
              <a:spcBef>
                <a:spcPts val="300"/>
              </a:spcBef>
              <a:spcAft>
                <a:spcPts val="200"/>
              </a:spcAft>
            </a:pPr>
            <a:r>
              <a:rPr sz="1300" b="1">
                <a:solidFill>
                  <a:srgbClr val="00D4FF"/>
                </a:solidFill>
              </a:rPr>
              <a:t>▸ </a:t>
            </a:r>
            <a:r>
              <a:rPr sz="1300" b="0">
                <a:solidFill>
                  <a:srgbClr val="FFFFFF"/>
                </a:solidFill>
              </a:rPr>
              <a:t>If fill_rate=0.5 and all fills lose money → doubling signals doubles losses</a:t>
            </a:r>
          </a:p>
          <a:p>
            <a:pPr algn="l">
              <a:spcBef>
                <a:spcPts val="300"/>
              </a:spcBef>
              <a:spcAft>
                <a:spcPts val="200"/>
              </a:spcAft>
            </a:pPr>
            <a:r>
              <a:rPr sz="1300" b="1">
                <a:solidFill>
                  <a:srgbClr val="00D4FF"/>
                </a:solidFill>
              </a:rPr>
              <a:t>▸ </a:t>
            </a:r>
            <a:r>
              <a:rPr sz="1300" b="0">
                <a:solidFill>
                  <a:srgbClr val="FFFFFF"/>
                </a:solidFill>
              </a:rPr>
              <a:t>NPA is invariant to signal frequency ONLY if fills are profitable</a:t>
            </a:r>
          </a:p>
          <a:p>
            <a:pPr algn="l">
              <a:spcBef>
                <a:spcPts val="300"/>
              </a:spcBef>
              <a:spcAft>
                <a:spcPts val="200"/>
              </a:spcAft>
            </a:pPr>
            <a:r>
              <a:rPr sz="1300" b="1">
                <a:solidFill>
                  <a:srgbClr val="00D4FF"/>
                </a:solidFill>
              </a:rPr>
              <a:t>▸ </a:t>
            </a:r>
            <a:r>
              <a:rPr sz="1300" b="0">
                <a:solidFill>
                  <a:srgbClr val="FFFFFF"/>
                </a:solidFill>
              </a:rPr>
              <a:t>attempts_per_min metric quantifies signal spam rate — high values are warning signs</a:t>
            </a:r>
          </a:p>
          <a:p>
            <a:pPr algn="l">
              <a:spcBef>
                <a:spcPts val="300"/>
              </a:spcBef>
              <a:spcAft>
                <a:spcPts val="200"/>
              </a:spcAft>
            </a:pPr>
            <a:r>
              <a:rPr sz="1300" b="1">
                <a:solidFill>
                  <a:srgbClr val="00D4FF"/>
                </a:solidFill>
              </a:rPr>
              <a:t>▸ </a:t>
            </a:r>
            <a:r>
              <a:rPr sz="1300" b="0">
                <a:solidFill>
                  <a:srgbClr val="FFFFFF"/>
                </a:solidFill>
              </a:rPr>
              <a:t>Gate solution: reduce attempts to only those with high fill-quality expectation</a:t>
            </a:r>
          </a:p>
          <a:p>
            <a:pPr lvl="1" algn="l">
              <a:spcBef>
                <a:spcPts val="100"/>
              </a:spcBef>
              <a:spcAft>
                <a:spcPts val="200"/>
              </a:spcAft>
            </a:pPr>
            <a:r>
              <a:rPr sz="1100" b="0">
                <a:solidFill>
                  <a:srgbClr val="00FFB3"/>
                </a:solidFill>
              </a:rPr>
              <a:t>  · </a:t>
            </a:r>
            <a:r>
              <a:rPr sz="1100" b="0">
                <a:solidFill>
                  <a:srgbClr val="B0C4D8"/>
                </a:solidFill>
              </a:rPr>
              <a:t>Every attempt in loss regime: E[return] = fill_rate × negative_filled_avg_net &lt; 0</a:t>
            </a:r>
          </a:p>
          <a:p>
            <a:pPr lvl="1" algn="l">
              <a:spcBef>
                <a:spcPts val="100"/>
              </a:spcBef>
              <a:spcAft>
                <a:spcPts val="200"/>
              </a:spcAft>
            </a:pPr>
            <a:r>
              <a:rPr sz="1100" b="0">
                <a:solidFill>
                  <a:srgbClr val="00FFB3"/>
                </a:solidFill>
              </a:rPr>
              <a:t>  · </a:t>
            </a:r>
            <a:r>
              <a:rPr sz="1100" b="0">
                <a:solidFill>
                  <a:srgbClr val="B0C4D8"/>
                </a:solidFill>
              </a:rPr>
              <a:t>200 attempts/min at NPA=−0.0001 → systematic and measurable loss rate</a:t>
            </a:r>
          </a:p>
        </p:txBody>
      </p:sp>
      <p:sp>
        <p:nvSpPr>
          <p:cNvPr id="7" name="Rectangle 6"/>
          <p:cNvSpPr/>
          <p:nvPr/>
        </p:nvSpPr>
        <p:spPr>
          <a:xfrm>
            <a:off x="7406640" y="804672"/>
            <a:ext cx="4572000" cy="5760720"/>
          </a:xfrm>
          <a:prstGeom prst="rect">
            <a:avLst/>
          </a:prstGeom>
          <a:solidFill>
            <a:srgbClr val="153045"/>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00D4FF"/>
                </a:solidFill>
              </a:rPr>
              <a:t>[ VISUAL ]</a:t>
            </a:r>
          </a:p>
          <a:p>
            <a:pPr algn="ctr"/>
            <a:r>
              <a:rPr sz="700" i="1">
                <a:solidFill>
                  <a:srgbClr val="B0C4D8"/>
                </a:solidFill>
              </a:rPr>
              <a:t>Two time-series plots, same rule, same window. Top: without gate — 200 attempts/min, dense marks on price chart, cumulative PnL = steady decline. Bottom: with gate — 40 attempts/min, same quality fills remain, cumulative PnL = flat or positive.</a:t>
            </a:r>
          </a:p>
        </p:txBody>
      </p:sp>
      <p:sp>
        <p:nvSpPr>
          <p:cNvPr id="8" name="Rectangle 7"/>
          <p:cNvSpPr/>
          <p:nvPr/>
        </p:nvSpPr>
        <p:spPr>
          <a:xfrm>
            <a:off x="0" y="6812280"/>
            <a:ext cx="12191695" cy="45720"/>
          </a:xfrm>
          <a:prstGeom prst="rect">
            <a:avLst/>
          </a:prstGeom>
          <a:solidFill>
            <a:srgbClr val="008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A3A5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371600" cy="1371600"/>
          </a:xfrm>
          <a:prstGeom prst="rect">
            <a:avLst/>
          </a:prstGeom>
          <a:noFill/>
        </p:spPr>
        <p:txBody>
          <a:bodyPr wrap="square">
            <a:spAutoFit/>
          </a:bodyPr>
          <a:lstStyle/>
          <a:p/>
          <a:p>
            <a:pPr algn="l">
              <a:spcBef>
                <a:spcPts val="0"/>
              </a:spcBef>
              <a:spcAft>
                <a:spcPts val="0"/>
              </a:spcAft>
            </a:pPr>
            <a:r>
              <a:rPr sz="7200" b="1" i="0">
                <a:solidFill>
                  <a:srgbClr val="00D4FF"/>
                </a:solidFill>
              </a:rPr>
              <a:t>IV</a:t>
            </a:r>
          </a:p>
        </p:txBody>
      </p:sp>
      <p:sp>
        <p:nvSpPr>
          <p:cNvPr id="5" name="TextBox 4"/>
          <p:cNvSpPr txBox="1"/>
          <p:nvPr/>
        </p:nvSpPr>
        <p:spPr>
          <a:xfrm>
            <a:off x="2011680" y="2011680"/>
            <a:ext cx="9601200" cy="2286000"/>
          </a:xfrm>
          <a:prstGeom prst="rect">
            <a:avLst/>
          </a:prstGeom>
          <a:noFill/>
        </p:spPr>
        <p:txBody>
          <a:bodyPr wrap="square">
            <a:spAutoFit/>
          </a:bodyPr>
          <a:lstStyle/>
          <a:p/>
          <a:p>
            <a:pPr algn="l">
              <a:spcBef>
                <a:spcPts val="0"/>
              </a:spcBef>
              <a:spcAft>
                <a:spcPts val="600"/>
              </a:spcAft>
            </a:pPr>
            <a:r>
              <a:rPr sz="3400" b="1" i="0">
                <a:solidFill>
                  <a:srgbClr val="FFFFFF"/>
                </a:solidFill>
              </a:rPr>
              <a:t>Ranking Evolution</a:t>
            </a:r>
          </a:p>
          <a:p>
            <a:pPr algn="l">
              <a:spcBef>
                <a:spcPts val="0"/>
              </a:spcBef>
              <a:spcAft>
                <a:spcPts val="0"/>
              </a:spcAft>
            </a:pPr>
            <a:r>
              <a:rPr sz="1600" b="0" i="0">
                <a:solidFill>
                  <a:srgbClr val="B0C4D8"/>
                </a:solidFill>
              </a:rPr>
              <a:t>From Degenerate Scores to Capacity-Honest Evaluation</a:t>
            </a:r>
          </a:p>
        </p:txBody>
      </p:sp>
      <p:sp>
        <p:nvSpPr>
          <p:cNvPr id="6" name="Rectangle 5"/>
          <p:cNvSpPr/>
          <p:nvPr/>
        </p:nvSpPr>
        <p:spPr>
          <a:xfrm>
            <a:off x="2011680" y="1920240"/>
            <a:ext cx="36576" cy="2011680"/>
          </a:xfrm>
          <a:prstGeom prst="rect">
            <a:avLst/>
          </a:prstGeom>
          <a:solidFill>
            <a:srgbClr val="00FF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F1F3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12191695" cy="658368"/>
          </a:xfrm>
          <a:prstGeom prst="rect">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10789920" cy="594360"/>
          </a:xfrm>
          <a:prstGeom prst="rect">
            <a:avLst/>
          </a:prstGeom>
          <a:noFill/>
        </p:spPr>
        <p:txBody>
          <a:bodyPr wrap="square">
            <a:spAutoFit/>
          </a:bodyPr>
          <a:lstStyle/>
          <a:p/>
          <a:p>
            <a:pPr algn="l">
              <a:spcBef>
                <a:spcPts val="0"/>
              </a:spcBef>
              <a:spcAft>
                <a:spcPts val="0"/>
              </a:spcAft>
            </a:pPr>
            <a:r>
              <a:rPr sz="2000" b="1" i="0">
                <a:solidFill>
                  <a:srgbClr val="FFFFFF"/>
                </a:solidFill>
              </a:rPr>
              <a:t>Original Ranking — Three Systematic Flaws</a:t>
            </a:r>
          </a:p>
        </p:txBody>
      </p:sp>
      <p:sp>
        <p:nvSpPr>
          <p:cNvPr id="5" name="TextBox 4"/>
          <p:cNvSpPr txBox="1"/>
          <p:nvPr/>
        </p:nvSpPr>
        <p:spPr>
          <a:xfrm>
            <a:off x="11155680" y="91440"/>
            <a:ext cx="914400" cy="457200"/>
          </a:xfrm>
          <a:prstGeom prst="rect">
            <a:avLst/>
          </a:prstGeom>
          <a:noFill/>
        </p:spPr>
        <p:txBody>
          <a:bodyPr wrap="square">
            <a:spAutoFit/>
          </a:bodyPr>
          <a:lstStyle/>
          <a:p/>
          <a:p>
            <a:pPr algn="r">
              <a:spcBef>
                <a:spcPts val="0"/>
              </a:spcBef>
              <a:spcAft>
                <a:spcPts val="0"/>
              </a:spcAft>
            </a:pPr>
            <a:r>
              <a:rPr sz="800" b="0" i="0">
                <a:solidFill>
                  <a:srgbClr val="00D4FF"/>
                </a:solidFill>
              </a:rPr>
              <a:t>4.1</a:t>
            </a:r>
          </a:p>
        </p:txBody>
      </p:sp>
      <p:sp>
        <p:nvSpPr>
          <p:cNvPr id="6" name="TextBox 5"/>
          <p:cNvSpPr txBox="1"/>
          <p:nvPr/>
        </p:nvSpPr>
        <p:spPr>
          <a:xfrm>
            <a:off x="274320" y="804672"/>
            <a:ext cx="6949440" cy="5760720"/>
          </a:xfrm>
          <a:prstGeom prst="rect">
            <a:avLst/>
          </a:prstGeom>
          <a:noFill/>
        </p:spPr>
        <p:txBody>
          <a:bodyPr wrap="square">
            <a:spAutoFit/>
          </a:bodyPr>
          <a:lstStyle/>
          <a:p>
            <a:pPr algn="l">
              <a:spcBef>
                <a:spcPts val="300"/>
              </a:spcBef>
              <a:spcAft>
                <a:spcPts val="200"/>
              </a:spcAft>
            </a:pPr>
            <a:r>
              <a:rPr sz="1300" b="1">
                <a:solidFill>
                  <a:srgbClr val="00D4FF"/>
                </a:solidFill>
              </a:rPr>
              <a:t>▸ </a:t>
            </a:r>
            <a:r>
              <a:rPr sz="1300" b="0">
                <a:solidFill>
                  <a:srgbClr val="FFFFFF"/>
                </a:solidFill>
              </a:rPr>
              <a:t>Flaw 1 — Conditional metrics only: filled_avg_net ignores fill rate entirely</a:t>
            </a:r>
          </a:p>
          <a:p>
            <a:pPr algn="l">
              <a:spcBef>
                <a:spcPts val="300"/>
              </a:spcBef>
              <a:spcAft>
                <a:spcPts val="200"/>
              </a:spcAft>
            </a:pPr>
            <a:r>
              <a:rPr sz="1300" b="1">
                <a:solidFill>
                  <a:srgbClr val="00D4FF"/>
                </a:solidFill>
              </a:rPr>
              <a:t>▸ </a:t>
            </a:r>
            <a:r>
              <a:rPr sz="1300" b="0">
                <a:solidFill>
                  <a:srgbClr val="FFFFFF"/>
                </a:solidFill>
              </a:rPr>
              <a:t>Flaw 2 — Degeneracy under gating: score=0 when gate fails → all failing pockets identical</a:t>
            </a:r>
          </a:p>
          <a:p>
            <a:pPr algn="l">
              <a:spcBef>
                <a:spcPts val="300"/>
              </a:spcBef>
              <a:spcAft>
                <a:spcPts val="200"/>
              </a:spcAft>
            </a:pPr>
            <a:r>
              <a:rPr sz="1300" b="1">
                <a:solidFill>
                  <a:srgbClr val="00D4FF"/>
                </a:solidFill>
              </a:rPr>
              <a:t>▸ </a:t>
            </a:r>
            <a:r>
              <a:rPr sz="1300" b="0">
                <a:solidFill>
                  <a:srgbClr val="FFFFFF"/>
                </a:solidFill>
              </a:rPr>
              <a:t>Flaw 3 — No capacity exposure: attempts_per_min, val_attempts, fill rate never surfaced</a:t>
            </a:r>
          </a:p>
          <a:p>
            <a:pPr algn="l">
              <a:spcBef>
                <a:spcPts val="300"/>
              </a:spcBef>
              <a:spcAft>
                <a:spcPts val="200"/>
              </a:spcAft>
            </a:pPr>
            <a:r>
              <a:rPr sz="1300" b="1">
                <a:solidFill>
                  <a:srgbClr val="00D4FF"/>
                </a:solidFill>
              </a:rPr>
              <a:t>▸ </a:t>
            </a:r>
            <a:r>
              <a:rPr sz="1300" b="0">
                <a:solidFill>
                  <a:srgbClr val="FFFFFF"/>
                </a:solidFill>
              </a:rPr>
              <a:t>Result: ranking cannot distinguish 'barely failing' from 'catastrophically failing'</a:t>
            </a:r>
          </a:p>
          <a:p>
            <a:pPr algn="l">
              <a:spcBef>
                <a:spcPts val="300"/>
              </a:spcBef>
              <a:spcAft>
                <a:spcPts val="200"/>
              </a:spcAft>
            </a:pPr>
            <a:r>
              <a:rPr sz="1300" b="1">
                <a:solidFill>
                  <a:srgbClr val="00D4FF"/>
                </a:solidFill>
              </a:rPr>
              <a:t>▸ </a:t>
            </a:r>
            <a:r>
              <a:rPr sz="1300" b="0">
                <a:solidFill>
                  <a:srgbClr val="FFFFFF"/>
                </a:solidFill>
              </a:rPr>
              <a:t>Result: pockets with positive per-fill but negative NPA ranked above viable alternatives</a:t>
            </a:r>
          </a:p>
          <a:p>
            <a:pPr lvl="1" algn="l">
              <a:spcBef>
                <a:spcPts val="100"/>
              </a:spcBef>
              <a:spcAft>
                <a:spcPts val="200"/>
              </a:spcAft>
            </a:pPr>
            <a:r>
              <a:rPr sz="1100" b="0">
                <a:solidFill>
                  <a:srgbClr val="00FFB3"/>
                </a:solidFill>
              </a:rPr>
              <a:t>  · </a:t>
            </a:r>
            <a:r>
              <a:rPr sz="1100" b="0">
                <a:solidFill>
                  <a:srgbClr val="B0C4D8"/>
                </a:solidFill>
              </a:rPr>
              <a:t>Original formula: pass_rate × median_bps × worst_split_bps</a:t>
            </a:r>
          </a:p>
          <a:p>
            <a:pPr lvl="1" algn="l">
              <a:spcBef>
                <a:spcPts val="100"/>
              </a:spcBef>
              <a:spcAft>
                <a:spcPts val="200"/>
              </a:spcAft>
            </a:pPr>
            <a:r>
              <a:rPr sz="1100" b="0">
                <a:solidFill>
                  <a:srgbClr val="00FFB3"/>
                </a:solidFill>
              </a:rPr>
              <a:t>  · </a:t>
            </a:r>
            <a:r>
              <a:rPr sz="1100" b="0">
                <a:solidFill>
                  <a:srgbClr val="B0C4D8"/>
                </a:solidFill>
              </a:rPr>
              <a:t>When pass_rate below threshold → score=0 regardless of actual NPA magnitude</a:t>
            </a:r>
          </a:p>
        </p:txBody>
      </p:sp>
      <p:sp>
        <p:nvSpPr>
          <p:cNvPr id="7" name="Rectangle 6"/>
          <p:cNvSpPr/>
          <p:nvPr/>
        </p:nvSpPr>
        <p:spPr>
          <a:xfrm>
            <a:off x="7406640" y="804672"/>
            <a:ext cx="4572000" cy="5760720"/>
          </a:xfrm>
          <a:prstGeom prst="rect">
            <a:avLst/>
          </a:prstGeom>
          <a:solidFill>
            <a:srgbClr val="153045"/>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00D4FF"/>
                </a:solidFill>
              </a:rPr>
              <a:t>[ VISUAL ]</a:t>
            </a:r>
          </a:p>
          <a:p>
            <a:pPr algn="ctr"/>
            <a:r>
              <a:rPr sz="700" i="1">
                <a:solidFill>
                  <a:srgbClr val="B0C4D8"/>
                </a:solidFill>
              </a:rPr>
              <a:t>Before/after comparison. Left: table with score column — many entries at score=0.00, different fill metrics, demonstrating degeneracy. Right: table with score+score_raw_core+score_raw_stress — zero-scored pockets now show visible differentiation. Red bars highlight degeneracy region in left table.</a:t>
            </a:r>
          </a:p>
        </p:txBody>
      </p:sp>
      <p:sp>
        <p:nvSpPr>
          <p:cNvPr id="8" name="Rectangle 7"/>
          <p:cNvSpPr/>
          <p:nvPr/>
        </p:nvSpPr>
        <p:spPr>
          <a:xfrm>
            <a:off x="0" y="6812280"/>
            <a:ext cx="12191695" cy="45720"/>
          </a:xfrm>
          <a:prstGeom prst="rect">
            <a:avLst/>
          </a:prstGeom>
          <a:solidFill>
            <a:srgbClr val="008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F1F3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12191695" cy="658368"/>
          </a:xfrm>
          <a:prstGeom prst="rect">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10789920" cy="594360"/>
          </a:xfrm>
          <a:prstGeom prst="rect">
            <a:avLst/>
          </a:prstGeom>
          <a:noFill/>
        </p:spPr>
        <p:txBody>
          <a:bodyPr wrap="square">
            <a:spAutoFit/>
          </a:bodyPr>
          <a:lstStyle/>
          <a:p/>
          <a:p>
            <a:pPr algn="l">
              <a:spcBef>
                <a:spcPts val="0"/>
              </a:spcBef>
              <a:spcAft>
                <a:spcPts val="0"/>
              </a:spcAft>
            </a:pPr>
            <a:r>
              <a:rPr sz="2000" b="1" i="0">
                <a:solidFill>
                  <a:srgbClr val="FFFFFF"/>
                </a:solidFill>
              </a:rPr>
              <a:t>The New Scoring Framework — NPA-First, Capacity-Aware</a:t>
            </a:r>
          </a:p>
        </p:txBody>
      </p:sp>
      <p:sp>
        <p:nvSpPr>
          <p:cNvPr id="5" name="TextBox 4"/>
          <p:cNvSpPr txBox="1"/>
          <p:nvPr/>
        </p:nvSpPr>
        <p:spPr>
          <a:xfrm>
            <a:off x="11155680" y="91440"/>
            <a:ext cx="914400" cy="457200"/>
          </a:xfrm>
          <a:prstGeom prst="rect">
            <a:avLst/>
          </a:prstGeom>
          <a:noFill/>
        </p:spPr>
        <p:txBody>
          <a:bodyPr wrap="square">
            <a:spAutoFit/>
          </a:bodyPr>
          <a:lstStyle/>
          <a:p/>
          <a:p>
            <a:pPr algn="r">
              <a:spcBef>
                <a:spcPts val="0"/>
              </a:spcBef>
              <a:spcAft>
                <a:spcPts val="0"/>
              </a:spcAft>
            </a:pPr>
            <a:r>
              <a:rPr sz="800" b="0" i="0">
                <a:solidFill>
                  <a:srgbClr val="00D4FF"/>
                </a:solidFill>
              </a:rPr>
              <a:t>4.2</a:t>
            </a:r>
          </a:p>
        </p:txBody>
      </p:sp>
      <p:sp>
        <p:nvSpPr>
          <p:cNvPr id="6" name="Rectangle 5"/>
          <p:cNvSpPr/>
          <p:nvPr/>
        </p:nvSpPr>
        <p:spPr>
          <a:xfrm>
            <a:off x="365760" y="868680"/>
            <a:ext cx="5486400" cy="5623560"/>
          </a:xfrm>
          <a:prstGeom prst="rect">
            <a:avLst/>
          </a:prstGeom>
          <a:solidFill>
            <a:srgbClr val="05121E"/>
          </a:solidFill>
          <a:ln w="9525">
            <a:solidFill>
              <a:srgbClr val="00FF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960120"/>
            <a:ext cx="5120640" cy="5394960"/>
          </a:xfrm>
          <a:prstGeom prst="rect">
            <a:avLst/>
          </a:prstGeom>
          <a:noFill/>
        </p:spPr>
        <p:txBody>
          <a:bodyPr wrap="square">
            <a:spAutoFit/>
          </a:bodyPr>
          <a:lstStyle/>
          <a:p>
            <a:pPr algn="l">
              <a:spcBef>
                <a:spcPts val="600"/>
              </a:spcBef>
            </a:pPr>
            <a:r>
              <a:rPr sz="1100">
                <a:solidFill>
                  <a:srgbClr val="00FFB3"/>
                </a:solidFill>
                <a:latin typeface="Courier New"/>
              </a:rPr>
              <a:t># Grid points</a:t>
            </a:r>
          </a:p>
          <a:p>
            <a:pPr algn="l">
              <a:spcBef>
                <a:spcPts val="600"/>
              </a:spcBef>
            </a:pPr>
            <a:r>
              <a:rPr sz="1100">
                <a:solidFill>
                  <a:srgbClr val="00FFB3"/>
                </a:solidFill>
                <a:latin typeface="Courier New"/>
              </a:rPr>
              <a:t>fee_one  = fee closest to 1.0 bps</a:t>
            </a:r>
          </a:p>
          <a:p>
            <a:pPr algn="l">
              <a:spcBef>
                <a:spcPts val="600"/>
              </a:spcBef>
            </a:pPr>
            <a:r>
              <a:rPr sz="1100">
                <a:solidFill>
                  <a:srgbClr val="00FFB3"/>
                </a:solidFill>
                <a:latin typeface="Courier New"/>
              </a:rPr>
              <a:t>adv_one  = adverse closest to 1.0</a:t>
            </a:r>
          </a:p>
          <a:p>
            <a:pPr algn="l">
              <a:spcBef>
                <a:spcPts val="600"/>
              </a:spcBef>
            </a:pPr>
            <a:r>
              <a:rPr sz="1100">
                <a:solidFill>
                  <a:srgbClr val="00FFB3"/>
                </a:solidFill>
                <a:latin typeface="Courier New"/>
              </a:rPr>
              <a:t>fee_min  = min(fee_grid)</a:t>
            </a:r>
          </a:p>
          <a:p>
            <a:pPr algn="l">
              <a:spcBef>
                <a:spcPts val="600"/>
              </a:spcBef>
            </a:pPr>
            <a:r>
              <a:rPr sz="1100">
                <a:solidFill>
                  <a:srgbClr val="00FFB3"/>
                </a:solidFill>
                <a:latin typeface="Courier New"/>
              </a:rPr>
              <a:t>fee_max  = max(fee_grid)</a:t>
            </a:r>
          </a:p>
          <a:p>
            <a:pPr algn="l">
              <a:spcBef>
                <a:spcPts val="600"/>
              </a:spcBef>
            </a:pPr>
            <a:r>
              <a:rPr sz="1100">
                <a:solidFill>
                  <a:srgbClr val="00FFB3"/>
                </a:solidFill>
                <a:latin typeface="Courier New"/>
              </a:rPr>
              <a:t>adv_max  = max(adverse_grid)</a:t>
            </a:r>
          </a:p>
          <a:p>
            <a:pPr algn="l">
              <a:spcBef>
                <a:spcPts val="600"/>
              </a:spcBef>
            </a:pPr>
            <a:r>
              <a:rPr sz="1100">
                <a:solidFill>
                  <a:srgbClr val="00FFB3"/>
                </a:solidFill>
                <a:latin typeface="Courier New"/>
              </a:rPr>
              <a:t/>
            </a:r>
          </a:p>
          <a:p>
            <a:pPr algn="l">
              <a:spcBef>
                <a:spcPts val="600"/>
              </a:spcBef>
            </a:pPr>
            <a:r>
              <a:rPr sz="1100">
                <a:solidFill>
                  <a:srgbClr val="00FFB3"/>
                </a:solidFill>
                <a:latin typeface="Courier New"/>
              </a:rPr>
              <a:t># Core &amp; stress evals</a:t>
            </a:r>
          </a:p>
          <a:p>
            <a:pPr algn="l">
              <a:spcBef>
                <a:spcPts val="600"/>
              </a:spcBef>
            </a:pPr>
            <a:r>
              <a:rPr sz="1100">
                <a:solidFill>
                  <a:srgbClr val="00FFB3"/>
                </a:solidFill>
                <a:latin typeface="Courier New"/>
              </a:rPr>
              <a:t>core_npa   = eval(fee_one, adv_one).median_NPA</a:t>
            </a:r>
          </a:p>
          <a:p>
            <a:pPr algn="l">
              <a:spcBef>
                <a:spcPts val="600"/>
              </a:spcBef>
            </a:pPr>
            <a:r>
              <a:rPr sz="1100">
                <a:solidFill>
                  <a:srgbClr val="00FFB3"/>
                </a:solidFill>
                <a:latin typeface="Courier New"/>
              </a:rPr>
              <a:t>stress_npa = eval(fee_one, adv_max).median_NPA</a:t>
            </a:r>
          </a:p>
          <a:p>
            <a:pPr algn="l">
              <a:spcBef>
                <a:spcPts val="600"/>
              </a:spcBef>
            </a:pPr>
            <a:r>
              <a:rPr sz="1100">
                <a:solidFill>
                  <a:srgbClr val="00FFB3"/>
                </a:solidFill>
                <a:latin typeface="Courier New"/>
              </a:rPr>
              <a:t/>
            </a:r>
          </a:p>
          <a:p>
            <a:pPr algn="l">
              <a:spcBef>
                <a:spcPts val="600"/>
              </a:spcBef>
            </a:pPr>
            <a:r>
              <a:rPr sz="1100">
                <a:solidFill>
                  <a:srgbClr val="00FFB3"/>
                </a:solidFill>
                <a:latin typeface="Courier New"/>
              </a:rPr>
              <a:t># Score computation</a:t>
            </a:r>
          </a:p>
          <a:p>
            <a:pPr algn="l">
              <a:spcBef>
                <a:spcPts val="600"/>
              </a:spcBef>
            </a:pPr>
            <a:r>
              <a:rPr sz="1100">
                <a:solidFill>
                  <a:srgbClr val="00FFB3"/>
                </a:solidFill>
                <a:latin typeface="Courier New"/>
              </a:rPr>
              <a:t>npa_bps   = core_npa * 10_000</a:t>
            </a:r>
          </a:p>
          <a:p>
            <a:pPr algn="l">
              <a:spcBef>
                <a:spcPts val="600"/>
              </a:spcBef>
            </a:pPr>
            <a:r>
              <a:rPr sz="1100">
                <a:solidFill>
                  <a:srgbClr val="00FFB3"/>
                </a:solidFill>
                <a:latin typeface="Courier New"/>
              </a:rPr>
              <a:t>stab_bps  = stability_std * 10_000</a:t>
            </a:r>
          </a:p>
          <a:p>
            <a:pPr algn="l">
              <a:spcBef>
                <a:spcPts val="600"/>
              </a:spcBef>
            </a:pPr>
            <a:r>
              <a:rPr sz="1100">
                <a:solidFill>
                  <a:srgbClr val="00FFB3"/>
                </a:solidFill>
                <a:latin typeface="Courier New"/>
              </a:rPr>
              <a:t>base      = max(0, npa_bps) / (1 + max(0, stab_bps))</a:t>
            </a:r>
          </a:p>
          <a:p>
            <a:pPr algn="l">
              <a:spcBef>
                <a:spcPts val="600"/>
              </a:spcBef>
            </a:pPr>
            <a:r>
              <a:rPr sz="1100">
                <a:solidFill>
                  <a:srgbClr val="00FFB3"/>
                </a:solidFill>
                <a:latin typeface="Courier New"/>
              </a:rPr>
              <a:t>cap_pen   = 1 + 0.5 * insufficient_fill_rate</a:t>
            </a:r>
          </a:p>
          <a:p>
            <a:pPr algn="l">
              <a:spcBef>
                <a:spcPts val="600"/>
              </a:spcBef>
            </a:pPr>
            <a:r>
              <a:rPr sz="1100">
                <a:solidFill>
                  <a:srgbClr val="00FFB3"/>
                </a:solidFill>
                <a:latin typeface="Courier New"/>
              </a:rPr>
              <a:t/>
            </a:r>
          </a:p>
          <a:p>
            <a:pPr algn="l">
              <a:spcBef>
                <a:spcPts val="600"/>
              </a:spcBef>
            </a:pPr>
            <a:r>
              <a:rPr sz="1100">
                <a:solidFill>
                  <a:srgbClr val="00FFB3"/>
                </a:solidFill>
                <a:latin typeface="Courier New"/>
              </a:rPr>
              <a:t>score = base / cap_pen</a:t>
            </a:r>
          </a:p>
          <a:p>
            <a:pPr algn="l">
              <a:spcBef>
                <a:spcPts val="600"/>
              </a:spcBef>
            </a:pPr>
            <a:r>
              <a:rPr sz="1100">
                <a:solidFill>
                  <a:srgbClr val="00FFB3"/>
                </a:solidFill>
                <a:latin typeface="Courier New"/>
              </a:rPr>
              <a:t>     if (core_npa &gt; 0 AND stress_npa &gt; 0)</a:t>
            </a:r>
          </a:p>
          <a:p>
            <a:pPr algn="l">
              <a:spcBef>
                <a:spcPts val="600"/>
              </a:spcBef>
            </a:pPr>
            <a:r>
              <a:rPr sz="1100">
                <a:solidFill>
                  <a:srgbClr val="00FFB3"/>
                </a:solidFill>
                <a:latin typeface="Courier New"/>
              </a:rPr>
              <a:t>     else 0</a:t>
            </a:r>
          </a:p>
        </p:txBody>
      </p:sp>
      <p:sp>
        <p:nvSpPr>
          <p:cNvPr id="8" name="TextBox 7"/>
          <p:cNvSpPr txBox="1"/>
          <p:nvPr/>
        </p:nvSpPr>
        <p:spPr>
          <a:xfrm>
            <a:off x="6126480" y="868680"/>
            <a:ext cx="5852160" cy="5623560"/>
          </a:xfrm>
          <a:prstGeom prst="rect">
            <a:avLst/>
          </a:prstGeom>
          <a:noFill/>
        </p:spPr>
        <p:txBody>
          <a:bodyPr wrap="square">
            <a:spAutoFit/>
          </a:bodyPr>
          <a:lstStyle/>
          <a:p>
            <a:pPr>
              <a:spcBef>
                <a:spcPts val="400"/>
              </a:spcBef>
            </a:pPr>
            <a:r>
              <a:rPr sz="1200" b="1">
                <a:solidFill>
                  <a:srgbClr val="00D4FF"/>
                </a:solidFill>
              </a:rPr>
              <a:t>▸ </a:t>
            </a:r>
            <a:r>
              <a:rPr sz="1200">
                <a:solidFill>
                  <a:srgbClr val="FFFFFF"/>
                </a:solidFill>
              </a:rPr>
              <a:t>NPA &gt; 0 at core AND stress = robustness gate</a:t>
            </a:r>
          </a:p>
          <a:p>
            <a:pPr>
              <a:spcBef>
                <a:spcPts val="400"/>
              </a:spcBef>
            </a:pPr>
            <a:r>
              <a:rPr sz="1200" b="1">
                <a:solidFill>
                  <a:srgbClr val="00D4FF"/>
                </a:solidFill>
              </a:rPr>
              <a:t>▸ </a:t>
            </a:r>
            <a:r>
              <a:rPr sz="1200">
                <a:solidFill>
                  <a:srgbClr val="FFFFFF"/>
                </a:solidFill>
              </a:rPr>
              <a:t>Higher NPA → higher base score</a:t>
            </a:r>
          </a:p>
          <a:p>
            <a:pPr>
              <a:spcBef>
                <a:spcPts val="400"/>
              </a:spcBef>
            </a:pPr>
            <a:r>
              <a:rPr sz="1200" b="1">
                <a:solidFill>
                  <a:srgbClr val="00D4FF"/>
                </a:solidFill>
              </a:rPr>
              <a:t>▸ </a:t>
            </a:r>
            <a:r>
              <a:rPr sz="1200">
                <a:solidFill>
                  <a:srgbClr val="FFFFFF"/>
                </a:solidFill>
              </a:rPr>
              <a:t>Higher stability_std → lower score (variance penalized)</a:t>
            </a:r>
          </a:p>
          <a:p>
            <a:pPr>
              <a:spcBef>
                <a:spcPts val="400"/>
              </a:spcBef>
            </a:pPr>
            <a:r>
              <a:rPr sz="1200" b="1">
                <a:solidFill>
                  <a:srgbClr val="00D4FF"/>
                </a:solidFill>
              </a:rPr>
              <a:t>▸ </a:t>
            </a:r>
            <a:r>
              <a:rPr sz="1200">
                <a:solidFill>
                  <a:srgbClr val="FFFFFF"/>
                </a:solidFill>
              </a:rPr>
              <a:t>Higher insufficient_fill_rate → capacity penalty</a:t>
            </a:r>
          </a:p>
          <a:p>
            <a:pPr>
              <a:spcBef>
                <a:spcPts val="400"/>
              </a:spcBef>
            </a:pPr>
            <a:r>
              <a:rPr sz="1200" b="1">
                <a:solidFill>
                  <a:srgbClr val="00D4FF"/>
                </a:solidFill>
              </a:rPr>
              <a:t>▸ </a:t>
            </a:r>
            <a:r>
              <a:rPr sz="1200">
                <a:solidFill>
                  <a:srgbClr val="FFFFFF"/>
                </a:solidFill>
              </a:rPr>
              <a:t>score=0 only when NPA fails, not arbitrary threshold</a:t>
            </a:r>
          </a:p>
          <a:p>
            <a:pPr>
              <a:spcBef>
                <a:spcPts val="400"/>
              </a:spcBef>
            </a:pPr>
            <a:r>
              <a:rPr sz="1200" b="1">
                <a:solidFill>
                  <a:srgbClr val="00D4FF"/>
                </a:solidFill>
              </a:rPr>
              <a:t>▸ </a:t>
            </a:r>
            <a:r>
              <a:rPr sz="1200">
                <a:solidFill>
                  <a:srgbClr val="FFFFFF"/>
                </a:solidFill>
              </a:rPr>
              <a:t>score_raw_* always populated — diagnose zero-scored pockets</a:t>
            </a:r>
          </a:p>
          <a:p>
            <a:pPr>
              <a:spcBef>
                <a:spcPts val="200"/>
              </a:spcBef>
            </a:pPr>
            <a:r>
              <a:rPr sz="1000" b="0">
                <a:solidFill>
                  <a:srgbClr val="00FFB3"/>
                </a:solidFill>
              </a:rPr>
              <a:t>  · </a:t>
            </a:r>
            <a:r>
              <a:rPr sz="1000">
                <a:solidFill>
                  <a:srgbClr val="B0C4D8"/>
                </a:solidFill>
              </a:rPr>
              <a:t>Sort key: (score DESC, score_raw_core DESC)</a:t>
            </a:r>
          </a:p>
          <a:p>
            <a:pPr>
              <a:spcBef>
                <a:spcPts val="200"/>
              </a:spcBef>
            </a:pPr>
            <a:r>
              <a:rPr sz="1000" b="0">
                <a:solidFill>
                  <a:srgbClr val="00FFB3"/>
                </a:solidFill>
              </a:rPr>
              <a:t>  · </a:t>
            </a:r>
            <a:r>
              <a:rPr sz="1000">
                <a:solidFill>
                  <a:srgbClr val="B0C4D8"/>
                </a:solidFill>
              </a:rPr>
              <a:t>Zero-gated pockets remain comparable via score_raw_core</a:t>
            </a:r>
          </a:p>
        </p:txBody>
      </p:sp>
      <p:sp>
        <p:nvSpPr>
          <p:cNvPr id="9" name="Rectangle 8"/>
          <p:cNvSpPr/>
          <p:nvPr/>
        </p:nvSpPr>
        <p:spPr>
          <a:xfrm>
            <a:off x="0" y="6812280"/>
            <a:ext cx="12191695" cy="45720"/>
          </a:xfrm>
          <a:prstGeom prst="rect">
            <a:avLst/>
          </a:prstGeom>
          <a:solidFill>
            <a:srgbClr val="008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F1F3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12191695" cy="658368"/>
          </a:xfrm>
          <a:prstGeom prst="rect">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10789920" cy="594360"/>
          </a:xfrm>
          <a:prstGeom prst="rect">
            <a:avLst/>
          </a:prstGeom>
          <a:noFill/>
        </p:spPr>
        <p:txBody>
          <a:bodyPr wrap="square">
            <a:spAutoFit/>
          </a:bodyPr>
          <a:lstStyle/>
          <a:p/>
          <a:p>
            <a:pPr algn="l">
              <a:spcBef>
                <a:spcPts val="0"/>
              </a:spcBef>
              <a:spcAft>
                <a:spcPts val="0"/>
              </a:spcAft>
            </a:pPr>
            <a:r>
              <a:rPr sz="2000" b="1" i="0">
                <a:solidFill>
                  <a:srgbClr val="FFFFFF"/>
                </a:solidFill>
              </a:rPr>
              <a:t>Score Raw Fields — Diagnostic Transparency</a:t>
            </a:r>
          </a:p>
        </p:txBody>
      </p:sp>
      <p:sp>
        <p:nvSpPr>
          <p:cNvPr id="5" name="TextBox 4"/>
          <p:cNvSpPr txBox="1"/>
          <p:nvPr/>
        </p:nvSpPr>
        <p:spPr>
          <a:xfrm>
            <a:off x="11155680" y="91440"/>
            <a:ext cx="914400" cy="457200"/>
          </a:xfrm>
          <a:prstGeom prst="rect">
            <a:avLst/>
          </a:prstGeom>
          <a:noFill/>
        </p:spPr>
        <p:txBody>
          <a:bodyPr wrap="square">
            <a:spAutoFit/>
          </a:bodyPr>
          <a:lstStyle/>
          <a:p/>
          <a:p>
            <a:pPr algn="r">
              <a:spcBef>
                <a:spcPts val="0"/>
              </a:spcBef>
              <a:spcAft>
                <a:spcPts val="0"/>
              </a:spcAft>
            </a:pPr>
            <a:r>
              <a:rPr sz="800" b="0" i="0">
                <a:solidFill>
                  <a:srgbClr val="00D4FF"/>
                </a:solidFill>
              </a:rPr>
              <a:t>4.3</a:t>
            </a:r>
          </a:p>
        </p:txBody>
      </p:sp>
      <p:sp>
        <p:nvSpPr>
          <p:cNvPr id="6" name="TextBox 5"/>
          <p:cNvSpPr txBox="1"/>
          <p:nvPr/>
        </p:nvSpPr>
        <p:spPr>
          <a:xfrm>
            <a:off x="274320" y="804672"/>
            <a:ext cx="6949440" cy="5760720"/>
          </a:xfrm>
          <a:prstGeom prst="rect">
            <a:avLst/>
          </a:prstGeom>
          <a:noFill/>
        </p:spPr>
        <p:txBody>
          <a:bodyPr wrap="square">
            <a:spAutoFit/>
          </a:bodyPr>
          <a:lstStyle/>
          <a:p>
            <a:pPr algn="l">
              <a:spcBef>
                <a:spcPts val="300"/>
              </a:spcBef>
              <a:spcAft>
                <a:spcPts val="200"/>
              </a:spcAft>
            </a:pPr>
            <a:r>
              <a:rPr sz="1300" b="1">
                <a:solidFill>
                  <a:srgbClr val="00D4FF"/>
                </a:solidFill>
              </a:rPr>
              <a:t>▸ </a:t>
            </a:r>
            <a:r>
              <a:rPr sz="1300" b="0">
                <a:solidFill>
                  <a:srgbClr val="FFFFFF"/>
                </a:solidFill>
              </a:rPr>
              <a:t>score_raw_core: median_filled_avg_net at (fee_min, adv≈1.0) — most favorable conditions</a:t>
            </a:r>
          </a:p>
          <a:p>
            <a:pPr algn="l">
              <a:spcBef>
                <a:spcPts val="300"/>
              </a:spcBef>
              <a:spcAft>
                <a:spcPts val="200"/>
              </a:spcAft>
            </a:pPr>
            <a:r>
              <a:rPr sz="1300" b="1">
                <a:solidFill>
                  <a:srgbClr val="00D4FF"/>
                </a:solidFill>
              </a:rPr>
              <a:t>▸ </a:t>
            </a:r>
            <a:r>
              <a:rPr sz="1300" b="0">
                <a:solidFill>
                  <a:srgbClr val="FFFFFF"/>
                </a:solidFill>
              </a:rPr>
              <a:t>score_raw_stress: median_filled_avg_net at (fee_max, adv_max) — worst-case conditions</a:t>
            </a:r>
          </a:p>
          <a:p>
            <a:pPr algn="l">
              <a:spcBef>
                <a:spcPts val="300"/>
              </a:spcBef>
              <a:spcAft>
                <a:spcPts val="200"/>
              </a:spcAft>
            </a:pPr>
            <a:r>
              <a:rPr sz="1300" b="1">
                <a:solidFill>
                  <a:srgbClr val="00D4FF"/>
                </a:solidFill>
              </a:rPr>
              <a:t>▸ </a:t>
            </a:r>
            <a:r>
              <a:rPr sz="1300" b="0">
                <a:solidFill>
                  <a:srgbClr val="FFFFFF"/>
                </a:solidFill>
              </a:rPr>
              <a:t>score_raw_min: min(median_filled_avg_net) across entire evaluation grid</a:t>
            </a:r>
          </a:p>
          <a:p>
            <a:pPr algn="l">
              <a:spcBef>
                <a:spcPts val="300"/>
              </a:spcBef>
              <a:spcAft>
                <a:spcPts val="200"/>
              </a:spcAft>
            </a:pPr>
            <a:r>
              <a:rPr sz="1300" b="1">
                <a:solidFill>
                  <a:srgbClr val="00D4FF"/>
                </a:solidFill>
              </a:rPr>
              <a:t>▸ </a:t>
            </a:r>
            <a:r>
              <a:rPr sz="1300" b="0">
                <a:solidFill>
                  <a:srgbClr val="FFFFFF"/>
                </a:solidFill>
              </a:rPr>
              <a:t>All three fields always populated — even when score = 0</a:t>
            </a:r>
          </a:p>
          <a:p>
            <a:pPr algn="l">
              <a:spcBef>
                <a:spcPts val="300"/>
              </a:spcBef>
              <a:spcAft>
                <a:spcPts val="200"/>
              </a:spcAft>
            </a:pPr>
            <a:r>
              <a:rPr sz="1300" b="1">
                <a:solidFill>
                  <a:srgbClr val="00D4FF"/>
                </a:solidFill>
              </a:rPr>
              <a:t>▸ </a:t>
            </a:r>
            <a:r>
              <a:rPr sz="1300" b="0">
                <a:solidFill>
                  <a:srgbClr val="FFFFFF"/>
                </a:solidFill>
              </a:rPr>
              <a:t>score_raw_core &gt; 0, score_raw_stress &lt; 0 → fragile: profitable but adverse-sensitive</a:t>
            </a:r>
          </a:p>
          <a:p>
            <a:pPr algn="l">
              <a:spcBef>
                <a:spcPts val="300"/>
              </a:spcBef>
              <a:spcAft>
                <a:spcPts val="200"/>
              </a:spcAft>
            </a:pPr>
            <a:r>
              <a:rPr sz="1300" b="1">
                <a:solidFill>
                  <a:srgbClr val="00D4FF"/>
                </a:solidFill>
              </a:rPr>
              <a:t>▸ </a:t>
            </a:r>
            <a:r>
              <a:rPr sz="1300" b="0">
                <a:solidFill>
                  <a:srgbClr val="FFFFFF"/>
                </a:solidFill>
              </a:rPr>
              <a:t>score_raw_core &lt; 0 → fundamentally broken: unprofitable even under favorable conditions</a:t>
            </a:r>
          </a:p>
          <a:p>
            <a:pPr lvl="1" algn="l">
              <a:spcBef>
                <a:spcPts val="100"/>
              </a:spcBef>
              <a:spcAft>
                <a:spcPts val="200"/>
              </a:spcAft>
            </a:pPr>
            <a:r>
              <a:rPr sz="1100" b="0">
                <a:solidFill>
                  <a:srgbClr val="00FFB3"/>
                </a:solidFill>
              </a:rPr>
              <a:t>  · </a:t>
            </a:r>
            <a:r>
              <a:rPr sz="1100" b="0">
                <a:solidFill>
                  <a:srgbClr val="B0C4D8"/>
                </a:solidFill>
              </a:rPr>
              <a:t>Different failure modes require different remediation strategies</a:t>
            </a:r>
          </a:p>
        </p:txBody>
      </p:sp>
      <p:sp>
        <p:nvSpPr>
          <p:cNvPr id="7" name="Rectangle 6"/>
          <p:cNvSpPr/>
          <p:nvPr/>
        </p:nvSpPr>
        <p:spPr>
          <a:xfrm>
            <a:off x="7406640" y="804672"/>
            <a:ext cx="4572000" cy="5760720"/>
          </a:xfrm>
          <a:prstGeom prst="rect">
            <a:avLst/>
          </a:prstGeom>
          <a:solidFill>
            <a:srgbClr val="153045"/>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00D4FF"/>
                </a:solidFill>
              </a:rPr>
              <a:t>[ VISUAL ]</a:t>
            </a:r>
          </a:p>
          <a:p>
            <a:pPr algn="ctr"/>
            <a:r>
              <a:rPr sz="700" i="1">
                <a:solidFill>
                  <a:srgbClr val="B0C4D8"/>
                </a:solidFill>
              </a:rPr>
              <a:t>3×3 matrix heatmap: rows=adverse_mult (0.8,1.0,1.2), cols=fee (0.5,1.0,1.5 bps). Each cell=color-coded median_filled_avg_net (green=positive, red=negative). Circles mark: score_raw_core (fee_min, adv=1.0), score_raw_stress (fee_max, adv_max), score_raw_min (worst cell). Side-by-side ETHUSDT vs BTCUSDT heatmaps.</a:t>
            </a:r>
          </a:p>
        </p:txBody>
      </p:sp>
      <p:sp>
        <p:nvSpPr>
          <p:cNvPr id="8" name="Rectangle 7"/>
          <p:cNvSpPr/>
          <p:nvPr/>
        </p:nvSpPr>
        <p:spPr>
          <a:xfrm>
            <a:off x="0" y="6812280"/>
            <a:ext cx="12191695" cy="45720"/>
          </a:xfrm>
          <a:prstGeom prst="rect">
            <a:avLst/>
          </a:prstGeom>
          <a:solidFill>
            <a:srgbClr val="008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A3A5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371600" cy="1371600"/>
          </a:xfrm>
          <a:prstGeom prst="rect">
            <a:avLst/>
          </a:prstGeom>
          <a:noFill/>
        </p:spPr>
        <p:txBody>
          <a:bodyPr wrap="square">
            <a:spAutoFit/>
          </a:bodyPr>
          <a:lstStyle/>
          <a:p/>
          <a:p>
            <a:pPr algn="l">
              <a:spcBef>
                <a:spcPts val="0"/>
              </a:spcBef>
              <a:spcAft>
                <a:spcPts val="0"/>
              </a:spcAft>
            </a:pPr>
            <a:r>
              <a:rPr sz="7200" b="1" i="0">
                <a:solidFill>
                  <a:srgbClr val="00D4FF"/>
                </a:solidFill>
              </a:rPr>
              <a:t>V</a:t>
            </a:r>
          </a:p>
        </p:txBody>
      </p:sp>
      <p:sp>
        <p:nvSpPr>
          <p:cNvPr id="5" name="TextBox 4"/>
          <p:cNvSpPr txBox="1"/>
          <p:nvPr/>
        </p:nvSpPr>
        <p:spPr>
          <a:xfrm>
            <a:off x="2011680" y="2011680"/>
            <a:ext cx="9601200" cy="2286000"/>
          </a:xfrm>
          <a:prstGeom prst="rect">
            <a:avLst/>
          </a:prstGeom>
          <a:noFill/>
        </p:spPr>
        <p:txBody>
          <a:bodyPr wrap="square">
            <a:spAutoFit/>
          </a:bodyPr>
          <a:lstStyle/>
          <a:p/>
          <a:p>
            <a:pPr algn="l">
              <a:spcBef>
                <a:spcPts val="0"/>
              </a:spcBef>
              <a:spcAft>
                <a:spcPts val="600"/>
              </a:spcAft>
            </a:pPr>
            <a:r>
              <a:rPr sz="3400" b="1" i="0">
                <a:solidFill>
                  <a:srgbClr val="FFFFFF"/>
                </a:solidFill>
              </a:rPr>
              <a:t>Pre-Attempt Gate Implementation</a:t>
            </a:r>
          </a:p>
          <a:p>
            <a:pPr algn="l">
              <a:spcBef>
                <a:spcPts val="0"/>
              </a:spcBef>
              <a:spcAft>
                <a:spcPts val="0"/>
              </a:spcAft>
            </a:pPr>
            <a:r>
              <a:rPr sz="1600" b="0" i="0">
                <a:solidFill>
                  <a:srgbClr val="B0C4D8"/>
                </a:solidFill>
              </a:rPr>
              <a:t>Signal Generation vs Execution Eligibility</a:t>
            </a:r>
          </a:p>
        </p:txBody>
      </p:sp>
      <p:sp>
        <p:nvSpPr>
          <p:cNvPr id="6" name="Rectangle 5"/>
          <p:cNvSpPr/>
          <p:nvPr/>
        </p:nvSpPr>
        <p:spPr>
          <a:xfrm>
            <a:off x="2011680" y="1920240"/>
            <a:ext cx="36576" cy="2011680"/>
          </a:xfrm>
          <a:prstGeom prst="rect">
            <a:avLst/>
          </a:prstGeom>
          <a:solidFill>
            <a:srgbClr val="00FF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F1F3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12191695" cy="658368"/>
          </a:xfrm>
          <a:prstGeom prst="rect">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10789920" cy="594360"/>
          </a:xfrm>
          <a:prstGeom prst="rect">
            <a:avLst/>
          </a:prstGeom>
          <a:noFill/>
        </p:spPr>
        <p:txBody>
          <a:bodyPr wrap="square">
            <a:spAutoFit/>
          </a:bodyPr>
          <a:lstStyle/>
          <a:p/>
          <a:p>
            <a:pPr algn="l">
              <a:spcBef>
                <a:spcPts val="0"/>
              </a:spcBef>
              <a:spcAft>
                <a:spcPts val="0"/>
              </a:spcAft>
            </a:pPr>
            <a:r>
              <a:rPr sz="2000" b="1" i="0">
                <a:solidFill>
                  <a:srgbClr val="FFFFFF"/>
                </a:solidFill>
              </a:rPr>
              <a:t>The Conceptual Separation: Signal vs Attempt</a:t>
            </a:r>
          </a:p>
        </p:txBody>
      </p:sp>
      <p:sp>
        <p:nvSpPr>
          <p:cNvPr id="5" name="TextBox 4"/>
          <p:cNvSpPr txBox="1"/>
          <p:nvPr/>
        </p:nvSpPr>
        <p:spPr>
          <a:xfrm>
            <a:off x="11155680" y="91440"/>
            <a:ext cx="914400" cy="457200"/>
          </a:xfrm>
          <a:prstGeom prst="rect">
            <a:avLst/>
          </a:prstGeom>
          <a:noFill/>
        </p:spPr>
        <p:txBody>
          <a:bodyPr wrap="square">
            <a:spAutoFit/>
          </a:bodyPr>
          <a:lstStyle/>
          <a:p/>
          <a:p>
            <a:pPr algn="r">
              <a:spcBef>
                <a:spcPts val="0"/>
              </a:spcBef>
              <a:spcAft>
                <a:spcPts val="0"/>
              </a:spcAft>
            </a:pPr>
            <a:r>
              <a:rPr sz="800" b="0" i="0">
                <a:solidFill>
                  <a:srgbClr val="00D4FF"/>
                </a:solidFill>
              </a:rPr>
              <a:t>5.1</a:t>
            </a:r>
          </a:p>
        </p:txBody>
      </p:sp>
      <p:sp>
        <p:nvSpPr>
          <p:cNvPr id="6" name="TextBox 5"/>
          <p:cNvSpPr txBox="1"/>
          <p:nvPr/>
        </p:nvSpPr>
        <p:spPr>
          <a:xfrm>
            <a:off x="274320" y="804672"/>
            <a:ext cx="6949440" cy="5760720"/>
          </a:xfrm>
          <a:prstGeom prst="rect">
            <a:avLst/>
          </a:prstGeom>
          <a:noFill/>
        </p:spPr>
        <p:txBody>
          <a:bodyPr wrap="square">
            <a:spAutoFit/>
          </a:bodyPr>
          <a:lstStyle/>
          <a:p>
            <a:pPr algn="l">
              <a:spcBef>
                <a:spcPts val="300"/>
              </a:spcBef>
              <a:spcAft>
                <a:spcPts val="200"/>
              </a:spcAft>
            </a:pPr>
            <a:r>
              <a:rPr sz="1300" b="1">
                <a:solidFill>
                  <a:srgbClr val="00D4FF"/>
                </a:solidFill>
              </a:rPr>
              <a:t>▸ </a:t>
            </a:r>
            <a:r>
              <a:rPr sz="1300" b="0">
                <a:solidFill>
                  <a:srgbClr val="FFFFFF"/>
                </a:solidFill>
              </a:rPr>
              <a:t>Signal: rule fires — microstructure conditions met, direction predicted</a:t>
            </a:r>
          </a:p>
          <a:p>
            <a:pPr algn="l">
              <a:spcBef>
                <a:spcPts val="300"/>
              </a:spcBef>
              <a:spcAft>
                <a:spcPts val="200"/>
              </a:spcAft>
            </a:pPr>
            <a:r>
              <a:rPr sz="1300" b="1">
                <a:solidFill>
                  <a:srgbClr val="00D4FF"/>
                </a:solidFill>
              </a:rPr>
              <a:t>▸ </a:t>
            </a:r>
            <a:r>
              <a:rPr sz="1300" b="0">
                <a:solidFill>
                  <a:srgbClr val="FFFFFF"/>
                </a:solidFill>
              </a:rPr>
              <a:t>Attempt: passive limit order would be placed — eligibility check passed</a:t>
            </a:r>
          </a:p>
          <a:p>
            <a:pPr algn="l">
              <a:spcBef>
                <a:spcPts val="300"/>
              </a:spcBef>
              <a:spcAft>
                <a:spcPts val="200"/>
              </a:spcAft>
            </a:pPr>
            <a:r>
              <a:rPr sz="1300" b="1">
                <a:solidFill>
                  <a:srgbClr val="00D4FF"/>
                </a:solidFill>
              </a:rPr>
              <a:t>▸ </a:t>
            </a:r>
            <a:r>
              <a:rPr sz="1300" b="0">
                <a:solidFill>
                  <a:srgbClr val="FFFFFF"/>
                </a:solidFill>
              </a:rPr>
              <a:t>Signals are necessary but not sufficient for attempts</a:t>
            </a:r>
          </a:p>
          <a:p>
            <a:pPr algn="l">
              <a:spcBef>
                <a:spcPts val="300"/>
              </a:spcBef>
              <a:spcAft>
                <a:spcPts val="200"/>
              </a:spcAft>
            </a:pPr>
            <a:r>
              <a:rPr sz="1300" b="1">
                <a:solidFill>
                  <a:srgbClr val="00D4FF"/>
                </a:solidFill>
              </a:rPr>
              <a:t>▸ </a:t>
            </a:r>
            <a:r>
              <a:rPr sz="1300" b="0">
                <a:solidFill>
                  <a:srgbClr val="FFFFFF"/>
                </a:solidFill>
              </a:rPr>
              <a:t>Gate = filter between signal generation and attempt registration</a:t>
            </a:r>
          </a:p>
          <a:p>
            <a:pPr algn="l">
              <a:spcBef>
                <a:spcPts val="300"/>
              </a:spcBef>
              <a:spcAft>
                <a:spcPts val="200"/>
              </a:spcAft>
            </a:pPr>
            <a:r>
              <a:rPr sz="1300" b="1">
                <a:solidFill>
                  <a:srgbClr val="00D4FF"/>
                </a:solidFill>
              </a:rPr>
              <a:t>▸ </a:t>
            </a:r>
            <a:r>
              <a:rPr sz="1300" b="0">
                <a:solidFill>
                  <a:srgbClr val="FFFFFF"/>
                </a:solidFill>
              </a:rPr>
              <a:t>Gate operates on signal-time features only — DAT-01 compliant, zero lookahead</a:t>
            </a:r>
          </a:p>
          <a:p>
            <a:pPr algn="l">
              <a:spcBef>
                <a:spcPts val="300"/>
              </a:spcBef>
              <a:spcAft>
                <a:spcPts val="200"/>
              </a:spcAft>
            </a:pPr>
            <a:r>
              <a:rPr sz="1300" b="1">
                <a:solidFill>
                  <a:srgbClr val="00D4FF"/>
                </a:solidFill>
              </a:rPr>
              <a:t>▸ </a:t>
            </a:r>
            <a:r>
              <a:rPr sz="1300" b="0">
                <a:solidFill>
                  <a:srgbClr val="FFFFFF"/>
                </a:solidFill>
              </a:rPr>
              <a:t>Gate is deterministic per (row, gate_config) — same input → same decision</a:t>
            </a:r>
          </a:p>
          <a:p>
            <a:pPr lvl="1" algn="l">
              <a:spcBef>
                <a:spcPts val="100"/>
              </a:spcBef>
              <a:spcAft>
                <a:spcPts val="200"/>
              </a:spcAft>
            </a:pPr>
            <a:r>
              <a:rPr sz="1100" b="0">
                <a:solidFill>
                  <a:srgbClr val="00FFB3"/>
                </a:solidFill>
              </a:rPr>
              <a:t>  · </a:t>
            </a:r>
            <a:r>
              <a:rPr sz="1100" b="0">
                <a:solidFill>
                  <a:srgbClr val="B0C4D8"/>
                </a:solidFill>
              </a:rPr>
              <a:t>Gate-blocked signals do NOT consume cooldown — next signal can fire immediately</a:t>
            </a:r>
          </a:p>
          <a:p>
            <a:pPr lvl="1" algn="l">
              <a:spcBef>
                <a:spcPts val="100"/>
              </a:spcBef>
              <a:spcAft>
                <a:spcPts val="200"/>
              </a:spcAft>
            </a:pPr>
            <a:r>
              <a:rPr sz="1100" b="0">
                <a:solidFill>
                  <a:srgbClr val="00FFB3"/>
                </a:solidFill>
              </a:rPr>
              <a:t>  · </a:t>
            </a:r>
            <a:r>
              <a:rPr sz="1100" b="0">
                <a:solidFill>
                  <a:srgbClr val="B0C4D8"/>
                </a:solidFill>
              </a:rPr>
              <a:t>Implemented in _passes_attempt_gate(r, gate) in tools/micro_edge_backtest.py</a:t>
            </a:r>
          </a:p>
        </p:txBody>
      </p:sp>
      <p:sp>
        <p:nvSpPr>
          <p:cNvPr id="7" name="Rectangle 6"/>
          <p:cNvSpPr/>
          <p:nvPr/>
        </p:nvSpPr>
        <p:spPr>
          <a:xfrm>
            <a:off x="7406640" y="804672"/>
            <a:ext cx="4572000" cy="5760720"/>
          </a:xfrm>
          <a:prstGeom prst="rect">
            <a:avLst/>
          </a:prstGeom>
          <a:solidFill>
            <a:srgbClr val="153045"/>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00D4FF"/>
                </a:solidFill>
              </a:rPr>
              <a:t>[ VISUAL ]</a:t>
            </a:r>
          </a:p>
          <a:p>
            <a:pPr algn="ctr"/>
            <a:r>
              <a:rPr sz="700" i="1">
                <a:solidFill>
                  <a:srgbClr val="B0C4D8"/>
                </a:solidFill>
              </a:rPr>
              <a:t>Two-tier flowchart. Tier 1 (Signal Layer): rule_fires→feature_bounds_check→trade_side_resolved. Tier 2 (Gate Layer): _passes_attempt_gate with three decision diamonds (intensity/imbalance/spread). PASS → 'Attempt Registered' (green). BLOCK → counters incremented, advance i (red). Horizontal dashed line labeled 'Signal/Attempt Boundary'.</a:t>
            </a:r>
          </a:p>
        </p:txBody>
      </p:sp>
      <p:sp>
        <p:nvSpPr>
          <p:cNvPr id="8" name="Rectangle 7"/>
          <p:cNvSpPr/>
          <p:nvPr/>
        </p:nvSpPr>
        <p:spPr>
          <a:xfrm>
            <a:off x="0" y="6812280"/>
            <a:ext cx="12191695" cy="45720"/>
          </a:xfrm>
          <a:prstGeom prst="rect">
            <a:avLst/>
          </a:prstGeom>
          <a:solidFill>
            <a:srgbClr val="008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F1F3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12191695" cy="658368"/>
          </a:xfrm>
          <a:prstGeom prst="rect">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10789920" cy="594360"/>
          </a:xfrm>
          <a:prstGeom prst="rect">
            <a:avLst/>
          </a:prstGeom>
          <a:noFill/>
        </p:spPr>
        <p:txBody>
          <a:bodyPr wrap="square">
            <a:spAutoFit/>
          </a:bodyPr>
          <a:lstStyle/>
          <a:p/>
          <a:p>
            <a:pPr algn="l">
              <a:spcBef>
                <a:spcPts val="0"/>
              </a:spcBef>
              <a:spcAft>
                <a:spcPts val="0"/>
              </a:spcAft>
            </a:pPr>
            <a:r>
              <a:rPr sz="2000" b="1" i="0">
                <a:solidFill>
                  <a:srgbClr val="FFFFFF"/>
                </a:solidFill>
              </a:rPr>
              <a:t>Gate Criteria — Selecting for Execution Quality</a:t>
            </a:r>
          </a:p>
        </p:txBody>
      </p:sp>
      <p:sp>
        <p:nvSpPr>
          <p:cNvPr id="5" name="TextBox 4"/>
          <p:cNvSpPr txBox="1"/>
          <p:nvPr/>
        </p:nvSpPr>
        <p:spPr>
          <a:xfrm>
            <a:off x="11155680" y="91440"/>
            <a:ext cx="914400" cy="457200"/>
          </a:xfrm>
          <a:prstGeom prst="rect">
            <a:avLst/>
          </a:prstGeom>
          <a:noFill/>
        </p:spPr>
        <p:txBody>
          <a:bodyPr wrap="square">
            <a:spAutoFit/>
          </a:bodyPr>
          <a:lstStyle/>
          <a:p/>
          <a:p>
            <a:pPr algn="r">
              <a:spcBef>
                <a:spcPts val="0"/>
              </a:spcBef>
              <a:spcAft>
                <a:spcPts val="0"/>
              </a:spcAft>
            </a:pPr>
            <a:r>
              <a:rPr sz="800" b="0" i="0">
                <a:solidFill>
                  <a:srgbClr val="00D4FF"/>
                </a:solidFill>
              </a:rPr>
              <a:t>5.2</a:t>
            </a:r>
          </a:p>
        </p:txBody>
      </p:sp>
      <p:sp>
        <p:nvSpPr>
          <p:cNvPr id="6" name="TextBox 5"/>
          <p:cNvSpPr txBox="1"/>
          <p:nvPr/>
        </p:nvSpPr>
        <p:spPr>
          <a:xfrm>
            <a:off x="274320" y="804672"/>
            <a:ext cx="6949440" cy="5760720"/>
          </a:xfrm>
          <a:prstGeom prst="rect">
            <a:avLst/>
          </a:prstGeom>
          <a:noFill/>
        </p:spPr>
        <p:txBody>
          <a:bodyPr wrap="square">
            <a:spAutoFit/>
          </a:bodyPr>
          <a:lstStyle/>
          <a:p>
            <a:pPr algn="l">
              <a:spcBef>
                <a:spcPts val="300"/>
              </a:spcBef>
              <a:spcAft>
                <a:spcPts val="200"/>
              </a:spcAft>
            </a:pPr>
            <a:r>
              <a:rPr sz="1300" b="1">
                <a:solidFill>
                  <a:srgbClr val="00D4FF"/>
                </a:solidFill>
              </a:rPr>
              <a:t>▸ </a:t>
            </a:r>
            <a:r>
              <a:rPr sz="1300" b="0">
                <a:solidFill>
                  <a:srgbClr val="FFFFFF"/>
                </a:solidFill>
              </a:rPr>
              <a:t>min_trade_intensity_strong: attempt only when trade_intensity &gt; threshold</a:t>
            </a:r>
          </a:p>
          <a:p>
            <a:pPr algn="l">
              <a:spcBef>
                <a:spcPts val="300"/>
              </a:spcBef>
              <a:spcAft>
                <a:spcPts val="200"/>
              </a:spcAft>
            </a:pPr>
            <a:r>
              <a:rPr sz="1300" b="1">
                <a:solidFill>
                  <a:srgbClr val="00D4FF"/>
                </a:solidFill>
              </a:rPr>
              <a:t>▸ </a:t>
            </a:r>
            <a:r>
              <a:rPr sz="1300" b="0">
                <a:solidFill>
                  <a:srgbClr val="FFFFFF"/>
                </a:solidFill>
              </a:rPr>
              <a:t>min_imbalance_strong: attempt only when |imbalance| &gt; threshold</a:t>
            </a:r>
          </a:p>
          <a:p>
            <a:pPr algn="l">
              <a:spcBef>
                <a:spcPts val="300"/>
              </a:spcBef>
              <a:spcAft>
                <a:spcPts val="200"/>
              </a:spcAft>
            </a:pPr>
            <a:r>
              <a:rPr sz="1300" b="1">
                <a:solidFill>
                  <a:srgbClr val="00D4FF"/>
                </a:solidFill>
              </a:rPr>
              <a:t>▸ </a:t>
            </a:r>
            <a:r>
              <a:rPr sz="1300" b="0">
                <a:solidFill>
                  <a:srgbClr val="FFFFFF"/>
                </a:solidFill>
              </a:rPr>
              <a:t>max_spread_tight: attempt only when spread &lt; threshold</a:t>
            </a:r>
          </a:p>
          <a:p>
            <a:pPr algn="l">
              <a:spcBef>
                <a:spcPts val="300"/>
              </a:spcBef>
              <a:spcAft>
                <a:spcPts val="200"/>
              </a:spcAft>
            </a:pPr>
            <a:r>
              <a:rPr sz="1300" b="1">
                <a:solidFill>
                  <a:srgbClr val="00D4FF"/>
                </a:solidFill>
              </a:rPr>
              <a:t>▸ </a:t>
            </a:r>
            <a:r>
              <a:rPr sz="1300" b="0">
                <a:solidFill>
                  <a:srgbClr val="FFFFFF"/>
                </a:solidFill>
              </a:rPr>
              <a:t>All criteria use 'or 0.0' fallback for None feature values — safe, not strict-fail</a:t>
            </a:r>
          </a:p>
          <a:p>
            <a:pPr algn="l">
              <a:spcBef>
                <a:spcPts val="300"/>
              </a:spcBef>
              <a:spcAft>
                <a:spcPts val="200"/>
              </a:spcAft>
            </a:pPr>
            <a:r>
              <a:rPr sz="1300" b="1">
                <a:solidFill>
                  <a:srgbClr val="00D4FF"/>
                </a:solidFill>
              </a:rPr>
              <a:t>▸ </a:t>
            </a:r>
            <a:r>
              <a:rPr sz="1300" b="0">
                <a:solidFill>
                  <a:srgbClr val="FFFFFF"/>
                </a:solidFill>
              </a:rPr>
              <a:t>Default: all zero — gate disabled, fully backward-compatible behavior</a:t>
            </a:r>
          </a:p>
          <a:p>
            <a:pPr algn="l">
              <a:spcBef>
                <a:spcPts val="300"/>
              </a:spcBef>
              <a:spcAft>
                <a:spcPts val="200"/>
              </a:spcAft>
            </a:pPr>
            <a:r>
              <a:rPr sz="1300" b="1">
                <a:solidFill>
                  <a:srgbClr val="00D4FF"/>
                </a:solidFill>
              </a:rPr>
              <a:t>▸ </a:t>
            </a:r>
            <a:r>
              <a:rPr sz="1300" b="0">
                <a:solidFill>
                  <a:srgbClr val="FFFFFF"/>
                </a:solidFill>
              </a:rPr>
              <a:t>Gate is additive: all non-zero criteria must pass (AND logic)</a:t>
            </a:r>
          </a:p>
          <a:p>
            <a:pPr lvl="1" algn="l">
              <a:spcBef>
                <a:spcPts val="100"/>
              </a:spcBef>
              <a:spcAft>
                <a:spcPts val="200"/>
              </a:spcAft>
            </a:pPr>
            <a:r>
              <a:rPr sz="1100" b="0">
                <a:solidFill>
                  <a:srgbClr val="00FFB3"/>
                </a:solidFill>
              </a:rPr>
              <a:t>  · </a:t>
            </a:r>
            <a:r>
              <a:rPr sz="1100" b="0">
                <a:solidFill>
                  <a:srgbClr val="B0C4D8"/>
                </a:solidFill>
              </a:rPr>
              <a:t>High-intensity: order book turns over faster → passive fills at better prices</a:t>
            </a:r>
          </a:p>
          <a:p>
            <a:pPr lvl="1" algn="l">
              <a:spcBef>
                <a:spcPts val="100"/>
              </a:spcBef>
              <a:spcAft>
                <a:spcPts val="200"/>
              </a:spcAft>
            </a:pPr>
            <a:r>
              <a:rPr sz="1100" b="0">
                <a:solidFill>
                  <a:srgbClr val="00FFB3"/>
                </a:solidFill>
              </a:rPr>
              <a:t>  · </a:t>
            </a:r>
            <a:r>
              <a:rPr sz="1100" b="0">
                <a:solidFill>
                  <a:srgbClr val="B0C4D8"/>
                </a:solidFill>
              </a:rPr>
              <a:t>Tight-spread: bid-ask bounce cost scales with spread → lower adverse selection</a:t>
            </a:r>
          </a:p>
        </p:txBody>
      </p:sp>
      <p:sp>
        <p:nvSpPr>
          <p:cNvPr id="7" name="Rectangle 6"/>
          <p:cNvSpPr/>
          <p:nvPr/>
        </p:nvSpPr>
        <p:spPr>
          <a:xfrm>
            <a:off x="7406640" y="804672"/>
            <a:ext cx="4572000" cy="5760720"/>
          </a:xfrm>
          <a:prstGeom prst="rect">
            <a:avLst/>
          </a:prstGeom>
          <a:solidFill>
            <a:srgbClr val="153045"/>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00D4FF"/>
                </a:solidFill>
              </a:rPr>
              <a:t>[ VISUAL ]</a:t>
            </a:r>
          </a:p>
          <a:p>
            <a:pPr algn="ctr"/>
            <a:r>
              <a:rPr sz="700" i="1">
                <a:solidFill>
                  <a:srgbClr val="B0C4D8"/>
                </a:solidFill>
              </a:rPr>
              <a:t>Three horizontal sliders with distribution curves above each. Slider 1: trade_intensity distribution, threshold at 'strong' level, shaded='passes'. Slider 2: |imbalance| distribution with threshold. Slider 3: spread distribution (inverted, tight=right). Below: Venn diagram with three circles; intersection=green 'attempt region'; rest=blocked.</a:t>
            </a:r>
          </a:p>
        </p:txBody>
      </p:sp>
      <p:sp>
        <p:nvSpPr>
          <p:cNvPr id="8" name="Rectangle 7"/>
          <p:cNvSpPr/>
          <p:nvPr/>
        </p:nvSpPr>
        <p:spPr>
          <a:xfrm>
            <a:off x="0" y="6812280"/>
            <a:ext cx="12191695" cy="45720"/>
          </a:xfrm>
          <a:prstGeom prst="rect">
            <a:avLst/>
          </a:prstGeom>
          <a:solidFill>
            <a:srgbClr val="008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F1F3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12191695" cy="658368"/>
          </a:xfrm>
          <a:prstGeom prst="rect">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10789920" cy="594360"/>
          </a:xfrm>
          <a:prstGeom prst="rect">
            <a:avLst/>
          </a:prstGeom>
          <a:noFill/>
        </p:spPr>
        <p:txBody>
          <a:bodyPr wrap="square">
            <a:spAutoFit/>
          </a:bodyPr>
          <a:lstStyle/>
          <a:p/>
          <a:p>
            <a:pPr algn="l">
              <a:spcBef>
                <a:spcPts val="0"/>
              </a:spcBef>
              <a:spcAft>
                <a:spcPts val="0"/>
              </a:spcAft>
            </a:pPr>
            <a:r>
              <a:rPr sz="2000" b="1" i="0">
                <a:solidFill>
                  <a:srgbClr val="FFFFFF"/>
                </a:solidFill>
              </a:rPr>
              <a:t>Gate Impact Metrics — Before/After Measurement</a:t>
            </a:r>
          </a:p>
        </p:txBody>
      </p:sp>
      <p:sp>
        <p:nvSpPr>
          <p:cNvPr id="5" name="TextBox 4"/>
          <p:cNvSpPr txBox="1"/>
          <p:nvPr/>
        </p:nvSpPr>
        <p:spPr>
          <a:xfrm>
            <a:off x="11155680" y="91440"/>
            <a:ext cx="914400" cy="457200"/>
          </a:xfrm>
          <a:prstGeom prst="rect">
            <a:avLst/>
          </a:prstGeom>
          <a:noFill/>
        </p:spPr>
        <p:txBody>
          <a:bodyPr wrap="square">
            <a:spAutoFit/>
          </a:bodyPr>
          <a:lstStyle/>
          <a:p/>
          <a:p>
            <a:pPr algn="r">
              <a:spcBef>
                <a:spcPts val="0"/>
              </a:spcBef>
              <a:spcAft>
                <a:spcPts val="0"/>
              </a:spcAft>
            </a:pPr>
            <a:r>
              <a:rPr sz="800" b="0" i="0">
                <a:solidFill>
                  <a:srgbClr val="00D4FF"/>
                </a:solidFill>
              </a:rPr>
              <a:t>5.3</a:t>
            </a:r>
          </a:p>
        </p:txBody>
      </p:sp>
      <p:sp>
        <p:nvSpPr>
          <p:cNvPr id="6" name="TextBox 5"/>
          <p:cNvSpPr txBox="1"/>
          <p:nvPr/>
        </p:nvSpPr>
        <p:spPr>
          <a:xfrm>
            <a:off x="274320" y="804672"/>
            <a:ext cx="6949440" cy="5760720"/>
          </a:xfrm>
          <a:prstGeom prst="rect">
            <a:avLst/>
          </a:prstGeom>
          <a:noFill/>
        </p:spPr>
        <p:txBody>
          <a:bodyPr wrap="square">
            <a:spAutoFit/>
          </a:bodyPr>
          <a:lstStyle/>
          <a:p>
            <a:pPr algn="l">
              <a:spcBef>
                <a:spcPts val="300"/>
              </a:spcBef>
              <a:spcAft>
                <a:spcPts val="200"/>
              </a:spcAft>
            </a:pPr>
            <a:r>
              <a:rPr sz="1300" b="1">
                <a:solidFill>
                  <a:srgbClr val="00D4FF"/>
                </a:solidFill>
              </a:rPr>
              <a:t>▸ </a:t>
            </a:r>
            <a:r>
              <a:rPr sz="1300" b="0">
                <a:solidFill>
                  <a:srgbClr val="FFFFFF"/>
                </a:solidFill>
              </a:rPr>
              <a:t>n_signals_before_gate: signals reaching gate — total pre-filter count</a:t>
            </a:r>
          </a:p>
          <a:p>
            <a:pPr algn="l">
              <a:spcBef>
                <a:spcPts val="300"/>
              </a:spcBef>
              <a:spcAft>
                <a:spcPts val="200"/>
              </a:spcAft>
            </a:pPr>
            <a:r>
              <a:rPr sz="1300" b="1">
                <a:solidFill>
                  <a:srgbClr val="00D4FF"/>
                </a:solidFill>
              </a:rPr>
              <a:t>▸ </a:t>
            </a:r>
            <a:r>
              <a:rPr sz="1300" b="0">
                <a:solidFill>
                  <a:srgbClr val="FFFFFF"/>
                </a:solidFill>
              </a:rPr>
              <a:t>n_attempts / val_attempts_after_gate: count of attempts post-gate</a:t>
            </a:r>
          </a:p>
          <a:p>
            <a:pPr algn="l">
              <a:spcBef>
                <a:spcPts val="300"/>
              </a:spcBef>
              <a:spcAft>
                <a:spcPts val="200"/>
              </a:spcAft>
            </a:pPr>
            <a:r>
              <a:rPr sz="1300" b="1">
                <a:solidFill>
                  <a:srgbClr val="00D4FF"/>
                </a:solidFill>
              </a:rPr>
              <a:t>▸ </a:t>
            </a:r>
            <a:r>
              <a:rPr sz="1300" b="0">
                <a:solidFill>
                  <a:srgbClr val="FFFFFF"/>
                </a:solidFill>
              </a:rPr>
              <a:t>gate_pass_rate = n_attempts / n_signals_before_gate — selectivity measure</a:t>
            </a:r>
          </a:p>
          <a:p>
            <a:pPr algn="l">
              <a:spcBef>
                <a:spcPts val="300"/>
              </a:spcBef>
              <a:spcAft>
                <a:spcPts val="200"/>
              </a:spcAft>
            </a:pPr>
            <a:r>
              <a:rPr sz="1300" b="1">
                <a:solidFill>
                  <a:srgbClr val="00D4FF"/>
                </a:solidFill>
              </a:rPr>
              <a:t>▸ </a:t>
            </a:r>
            <a:r>
              <a:rPr sz="1300" b="0">
                <a:solidFill>
                  <a:srgbClr val="FFFFFF"/>
                </a:solidFill>
              </a:rPr>
              <a:t>attempt_gate_blocked = n_signals_before_gate − n_attempts — blocked count in debug_stats</a:t>
            </a:r>
          </a:p>
          <a:p>
            <a:pPr algn="l">
              <a:spcBef>
                <a:spcPts val="300"/>
              </a:spcBef>
              <a:spcAft>
                <a:spcPts val="200"/>
              </a:spcAft>
            </a:pPr>
            <a:r>
              <a:rPr sz="1300" b="1">
                <a:solidFill>
                  <a:srgbClr val="00D4FF"/>
                </a:solidFill>
              </a:rPr>
              <a:t>▸ </a:t>
            </a:r>
            <a:r>
              <a:rPr sz="1300" b="0">
                <a:solidFill>
                  <a:srgbClr val="FFFFFF"/>
                </a:solidFill>
              </a:rPr>
              <a:t>val_attempts_before_gate vs val_attempts_after_gate: visible per combo in reports</a:t>
            </a:r>
          </a:p>
          <a:p>
            <a:pPr algn="l">
              <a:spcBef>
                <a:spcPts val="300"/>
              </a:spcBef>
              <a:spcAft>
                <a:spcPts val="200"/>
              </a:spcAft>
            </a:pPr>
            <a:r>
              <a:rPr sz="1300" b="1">
                <a:solidFill>
                  <a:srgbClr val="00D4FF"/>
                </a:solidFill>
              </a:rPr>
              <a:t>▸ </a:t>
            </a:r>
            <a:r>
              <a:rPr sz="1300" b="0">
                <a:solidFill>
                  <a:srgbClr val="FFFFFF"/>
                </a:solidFill>
              </a:rPr>
              <a:t>net_per_attempt_after_gate: NPA on gated attempt pool — the target metric</a:t>
            </a:r>
          </a:p>
          <a:p>
            <a:pPr lvl="1" algn="l">
              <a:spcBef>
                <a:spcPts val="100"/>
              </a:spcBef>
              <a:spcAft>
                <a:spcPts val="200"/>
              </a:spcAft>
            </a:pPr>
            <a:r>
              <a:rPr sz="1100" b="0">
                <a:solidFill>
                  <a:srgbClr val="00FFB3"/>
                </a:solidFill>
              </a:rPr>
              <a:t>  · </a:t>
            </a:r>
            <a:r>
              <a:rPr sz="1100" b="0">
                <a:solidFill>
                  <a:srgbClr val="B0C4D8"/>
                </a:solidFill>
              </a:rPr>
              <a:t>Goal: find gate config where net_per_attempt_after_gate &gt; 0 on held-out splits</a:t>
            </a:r>
          </a:p>
          <a:p>
            <a:pPr lvl="1" algn="l">
              <a:spcBef>
                <a:spcPts val="100"/>
              </a:spcBef>
              <a:spcAft>
                <a:spcPts val="200"/>
              </a:spcAft>
            </a:pPr>
            <a:r>
              <a:rPr sz="1100" b="0">
                <a:solidFill>
                  <a:srgbClr val="00FFB3"/>
                </a:solidFill>
              </a:rPr>
              <a:t>  · </a:t>
            </a:r>
            <a:r>
              <a:rPr sz="1100" b="0">
                <a:solidFill>
                  <a:srgbClr val="B0C4D8"/>
                </a:solidFill>
              </a:rPr>
              <a:t>Target gate_pass_rate: 20–60% — over-restrictive (&lt;5%) or under-filtering (&gt;95%) are both wrong</a:t>
            </a:r>
          </a:p>
        </p:txBody>
      </p:sp>
      <p:sp>
        <p:nvSpPr>
          <p:cNvPr id="7" name="Rectangle 6"/>
          <p:cNvSpPr/>
          <p:nvPr/>
        </p:nvSpPr>
        <p:spPr>
          <a:xfrm>
            <a:off x="7406640" y="804672"/>
            <a:ext cx="4572000" cy="5760720"/>
          </a:xfrm>
          <a:prstGeom prst="rect">
            <a:avLst/>
          </a:prstGeom>
          <a:solidFill>
            <a:srgbClr val="153045"/>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00D4FF"/>
                </a:solidFill>
              </a:rPr>
              <a:t>[ VISUAL ]</a:t>
            </a:r>
          </a:p>
          <a:p>
            <a:pPr algn="ctr"/>
            <a:r>
              <a:rPr sz="700" i="1">
                <a:solidFill>
                  <a:srgbClr val="B0C4D8"/>
                </a:solidFill>
              </a:rPr>
              <a:t>Two-panel bar chart. Left: bars per seed/split showing n_signals total height, split into 'passed gate' (green) and 'blocked' (red). Right: NPA per seed/split — with gate (green) vs without gate (amber). Expected result when calibration works: green bars are higher (less negative or positive).</a:t>
            </a:r>
          </a:p>
        </p:txBody>
      </p:sp>
      <p:sp>
        <p:nvSpPr>
          <p:cNvPr id="8" name="Rectangle 7"/>
          <p:cNvSpPr/>
          <p:nvPr/>
        </p:nvSpPr>
        <p:spPr>
          <a:xfrm>
            <a:off x="0" y="6812280"/>
            <a:ext cx="12191695" cy="45720"/>
          </a:xfrm>
          <a:prstGeom prst="rect">
            <a:avLst/>
          </a:prstGeom>
          <a:solidFill>
            <a:srgbClr val="008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F1F3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12191695" cy="658368"/>
          </a:xfrm>
          <a:prstGeom prst="rect">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10789920" cy="594360"/>
          </a:xfrm>
          <a:prstGeom prst="rect">
            <a:avLst/>
          </a:prstGeom>
          <a:noFill/>
        </p:spPr>
        <p:txBody>
          <a:bodyPr wrap="square">
            <a:spAutoFit/>
          </a:bodyPr>
          <a:lstStyle/>
          <a:p/>
          <a:p>
            <a:pPr algn="l">
              <a:spcBef>
                <a:spcPts val="0"/>
              </a:spcBef>
              <a:spcAft>
                <a:spcPts val="0"/>
              </a:spcAft>
            </a:pPr>
            <a:r>
              <a:rPr sz="2000" b="1" i="0">
                <a:solidFill>
                  <a:srgbClr val="FFFFFF"/>
                </a:solidFill>
              </a:rPr>
              <a:t>Gate Implementation — Core Code Paths</a:t>
            </a:r>
          </a:p>
        </p:txBody>
      </p:sp>
      <p:sp>
        <p:nvSpPr>
          <p:cNvPr id="5" name="TextBox 4"/>
          <p:cNvSpPr txBox="1"/>
          <p:nvPr/>
        </p:nvSpPr>
        <p:spPr>
          <a:xfrm>
            <a:off x="11155680" y="91440"/>
            <a:ext cx="914400" cy="457200"/>
          </a:xfrm>
          <a:prstGeom prst="rect">
            <a:avLst/>
          </a:prstGeom>
          <a:noFill/>
        </p:spPr>
        <p:txBody>
          <a:bodyPr wrap="square">
            <a:spAutoFit/>
          </a:bodyPr>
          <a:lstStyle/>
          <a:p/>
          <a:p>
            <a:pPr algn="r">
              <a:spcBef>
                <a:spcPts val="0"/>
              </a:spcBef>
              <a:spcAft>
                <a:spcPts val="0"/>
              </a:spcAft>
            </a:pPr>
            <a:r>
              <a:rPr sz="800" b="0" i="0">
                <a:solidFill>
                  <a:srgbClr val="00D4FF"/>
                </a:solidFill>
              </a:rPr>
              <a:t>5.4</a:t>
            </a:r>
          </a:p>
        </p:txBody>
      </p:sp>
      <p:sp>
        <p:nvSpPr>
          <p:cNvPr id="6" name="Rectangle 5"/>
          <p:cNvSpPr/>
          <p:nvPr/>
        </p:nvSpPr>
        <p:spPr>
          <a:xfrm>
            <a:off x="365760" y="868680"/>
            <a:ext cx="11430000" cy="5623560"/>
          </a:xfrm>
          <a:prstGeom prst="rect">
            <a:avLst/>
          </a:prstGeom>
          <a:solidFill>
            <a:srgbClr val="05121E"/>
          </a:solidFill>
          <a:ln w="9525">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960120"/>
            <a:ext cx="10972800" cy="5394960"/>
          </a:xfrm>
          <a:prstGeom prst="rect">
            <a:avLst/>
          </a:prstGeom>
          <a:noFill/>
        </p:spPr>
        <p:txBody>
          <a:bodyPr wrap="none">
            <a:spAutoFit/>
          </a:bodyPr>
          <a:lstStyle/>
          <a:p>
            <a:pPr algn="l">
              <a:spcBef>
                <a:spcPts val="100"/>
              </a:spcBef>
            </a:pPr>
            <a:r>
              <a:rPr sz="950">
                <a:solidFill>
                  <a:srgbClr val="60809A"/>
                </a:solidFill>
                <a:latin typeface="Courier New"/>
              </a:rPr>
              <a:t># tools/micro_edge_backtest.py</a:t>
            </a:r>
          </a:p>
          <a:p>
            <a:pPr algn="l">
              <a:spcBef>
                <a:spcPts val="100"/>
              </a:spcBef>
            </a:pPr>
            <a:r>
              <a:rPr sz="950">
                <a:solidFill>
                  <a:srgbClr val="B0C4D8"/>
                </a:solidFill>
                <a:latin typeface="Courier New"/>
              </a:rPr>
              <a:t/>
            </a:r>
          </a:p>
          <a:p>
            <a:pPr algn="l">
              <a:spcBef>
                <a:spcPts val="100"/>
              </a:spcBef>
            </a:pPr>
            <a:r>
              <a:rPr sz="950">
                <a:solidFill>
                  <a:srgbClr val="00FFB3"/>
                </a:solidFill>
                <a:latin typeface="Courier New"/>
              </a:rPr>
              <a:t>def _passes_attempt_gate(r: Dict[str, Any], gate: Dict[str, float]) -&gt; bool:</a:t>
            </a:r>
          </a:p>
          <a:p>
            <a:pPr algn="l">
              <a:spcBef>
                <a:spcPts val="100"/>
              </a:spcBef>
            </a:pPr>
            <a:r>
              <a:rPr sz="950">
                <a:solidFill>
                  <a:srgbClr val="B0C4D8"/>
                </a:solidFill>
                <a:latin typeface="Courier New"/>
              </a:rPr>
              <a:t>    '''Signal-time features only. DAT-01 safe. No lookahead.'''</a:t>
            </a:r>
          </a:p>
          <a:p>
            <a:pPr algn="l">
              <a:spcBef>
                <a:spcPts val="100"/>
              </a:spcBef>
            </a:pPr>
            <a:r>
              <a:rPr sz="950">
                <a:solidFill>
                  <a:srgbClr val="FFA500"/>
                </a:solidFill>
                <a:latin typeface="Courier New"/>
              </a:rPr>
              <a:t>    if not gate:</a:t>
            </a:r>
          </a:p>
          <a:p>
            <a:pPr algn="l">
              <a:spcBef>
                <a:spcPts val="100"/>
              </a:spcBef>
            </a:pPr>
            <a:r>
              <a:rPr sz="950">
                <a:solidFill>
                  <a:srgbClr val="FFA500"/>
                </a:solidFill>
                <a:latin typeface="Courier New"/>
              </a:rPr>
              <a:t>        return True</a:t>
            </a:r>
          </a:p>
          <a:p>
            <a:pPr algn="l">
              <a:spcBef>
                <a:spcPts val="100"/>
              </a:spcBef>
            </a:pPr>
            <a:r>
              <a:rPr sz="950">
                <a:solidFill>
                  <a:srgbClr val="FFA500"/>
                </a:solidFill>
                <a:latin typeface="Courier New"/>
              </a:rPr>
              <a:t>    ti  = float(r.get('trade_intensity') or 0.0)</a:t>
            </a:r>
          </a:p>
          <a:p>
            <a:pPr algn="l">
              <a:spcBef>
                <a:spcPts val="100"/>
              </a:spcBef>
            </a:pPr>
            <a:r>
              <a:rPr sz="950">
                <a:solidFill>
                  <a:srgbClr val="FFA500"/>
                </a:solidFill>
                <a:latin typeface="Courier New"/>
              </a:rPr>
              <a:t>    imb = abs(float(r.get('imbalance') or 0.0))</a:t>
            </a:r>
          </a:p>
          <a:p>
            <a:pPr algn="l">
              <a:spcBef>
                <a:spcPts val="100"/>
              </a:spcBef>
            </a:pPr>
            <a:r>
              <a:rPr sz="950">
                <a:solidFill>
                  <a:srgbClr val="FFA500"/>
                </a:solidFill>
                <a:latin typeface="Courier New"/>
              </a:rPr>
              <a:t>    spr = float(r.get('spread') or 0.0)</a:t>
            </a:r>
          </a:p>
          <a:p>
            <a:pPr algn="l">
              <a:spcBef>
                <a:spcPts val="100"/>
              </a:spcBef>
            </a:pPr>
            <a:r>
              <a:rPr sz="950">
                <a:solidFill>
                  <a:srgbClr val="FFA500"/>
                </a:solidFill>
                <a:latin typeface="Courier New"/>
              </a:rPr>
              <a:t>    if gate.get('min_trade_intensity_strong', 0.0) &gt; 0.0:</a:t>
            </a:r>
          </a:p>
          <a:p>
            <a:pPr algn="l">
              <a:spcBef>
                <a:spcPts val="100"/>
              </a:spcBef>
            </a:pPr>
            <a:r>
              <a:rPr sz="950">
                <a:solidFill>
                  <a:srgbClr val="FFA500"/>
                </a:solidFill>
                <a:latin typeface="Courier New"/>
              </a:rPr>
              <a:t>        if ti &lt; gate['min_trade_intensity_strong']: return False</a:t>
            </a:r>
          </a:p>
          <a:p>
            <a:pPr algn="l">
              <a:spcBef>
                <a:spcPts val="100"/>
              </a:spcBef>
            </a:pPr>
            <a:r>
              <a:rPr sz="950">
                <a:solidFill>
                  <a:srgbClr val="FFA500"/>
                </a:solidFill>
                <a:latin typeface="Courier New"/>
              </a:rPr>
              <a:t>    if gate.get('min_imbalance_strong', 0.0) &gt; 0.0:</a:t>
            </a:r>
          </a:p>
          <a:p>
            <a:pPr algn="l">
              <a:spcBef>
                <a:spcPts val="100"/>
              </a:spcBef>
            </a:pPr>
            <a:r>
              <a:rPr sz="950">
                <a:solidFill>
                  <a:srgbClr val="FFA500"/>
                </a:solidFill>
                <a:latin typeface="Courier New"/>
              </a:rPr>
              <a:t>        if imb &lt; gate['min_imbalance_strong']: return False</a:t>
            </a:r>
          </a:p>
          <a:p>
            <a:pPr algn="l">
              <a:spcBef>
                <a:spcPts val="100"/>
              </a:spcBef>
            </a:pPr>
            <a:r>
              <a:rPr sz="950">
                <a:solidFill>
                  <a:srgbClr val="FFA500"/>
                </a:solidFill>
                <a:latin typeface="Courier New"/>
              </a:rPr>
              <a:t>    if gate.get('max_spread_tight', 0.0) &gt; 0.0:</a:t>
            </a:r>
          </a:p>
          <a:p>
            <a:pPr algn="l">
              <a:spcBef>
                <a:spcPts val="100"/>
              </a:spcBef>
            </a:pPr>
            <a:r>
              <a:rPr sz="950">
                <a:solidFill>
                  <a:srgbClr val="FFA500"/>
                </a:solidFill>
                <a:latin typeface="Courier New"/>
              </a:rPr>
              <a:t>        if spr &gt; gate['max_spread_tight']: return False</a:t>
            </a:r>
          </a:p>
          <a:p>
            <a:pPr algn="l">
              <a:spcBef>
                <a:spcPts val="100"/>
              </a:spcBef>
            </a:pPr>
            <a:r>
              <a:rPr sz="950">
                <a:solidFill>
                  <a:srgbClr val="FFA500"/>
                </a:solidFill>
                <a:latin typeface="Courier New"/>
              </a:rPr>
              <a:t>    return True</a:t>
            </a:r>
          </a:p>
          <a:p>
            <a:pPr algn="l">
              <a:spcBef>
                <a:spcPts val="100"/>
              </a:spcBef>
            </a:pPr>
            <a:r>
              <a:rPr sz="950">
                <a:solidFill>
                  <a:srgbClr val="B0C4D8"/>
                </a:solidFill>
                <a:latin typeface="Courier New"/>
              </a:rPr>
              <a:t/>
            </a:r>
          </a:p>
          <a:p>
            <a:pPr algn="l">
              <a:spcBef>
                <a:spcPts val="100"/>
              </a:spcBef>
            </a:pPr>
            <a:r>
              <a:rPr sz="950">
                <a:solidFill>
                  <a:srgbClr val="60809A"/>
                </a:solidFill>
                <a:latin typeface="Courier New"/>
              </a:rPr>
              <a:t># In simulate_rule_trades — insertion point after trade_side resolved:</a:t>
            </a:r>
          </a:p>
          <a:p>
            <a:pPr algn="l">
              <a:spcBef>
                <a:spcPts val="100"/>
              </a:spcBef>
            </a:pPr>
            <a:r>
              <a:rPr sz="950">
                <a:solidFill>
                  <a:srgbClr val="FFA500"/>
                </a:solidFill>
                <a:latin typeface="Courier New"/>
              </a:rPr>
              <a:t>n_pre_gate_signals += 1</a:t>
            </a:r>
          </a:p>
          <a:p>
            <a:pPr algn="l">
              <a:spcBef>
                <a:spcPts val="100"/>
              </a:spcBef>
            </a:pPr>
            <a:r>
              <a:rPr sz="950">
                <a:solidFill>
                  <a:srgbClr val="FFA500"/>
                </a:solidFill>
                <a:latin typeface="Courier New"/>
              </a:rPr>
              <a:t>if attempt_gate_bounds and not _passes_attempt_gate(r, attempt_gate_bounds):</a:t>
            </a:r>
          </a:p>
          <a:p>
            <a:pPr algn="l">
              <a:spcBef>
                <a:spcPts val="100"/>
              </a:spcBef>
            </a:pPr>
            <a:r>
              <a:rPr sz="950">
                <a:solidFill>
                  <a:srgbClr val="FFA500"/>
                </a:solidFill>
                <a:latin typeface="Courier New"/>
              </a:rPr>
              <a:t>    debug_stats['attempt_gate_blocked'] += 1</a:t>
            </a:r>
          </a:p>
          <a:p>
            <a:pPr algn="l">
              <a:spcBef>
                <a:spcPts val="100"/>
              </a:spcBef>
            </a:pPr>
            <a:r>
              <a:rPr sz="950">
                <a:solidFill>
                  <a:srgbClr val="FFA500"/>
                </a:solidFill>
                <a:latin typeface="Courier New"/>
              </a:rPr>
              <a:t>    i += 1</a:t>
            </a:r>
          </a:p>
          <a:p>
            <a:pPr algn="l">
              <a:spcBef>
                <a:spcPts val="100"/>
              </a:spcBef>
            </a:pPr>
            <a:r>
              <a:rPr sz="950">
                <a:solidFill>
                  <a:srgbClr val="B0C4D8"/>
                </a:solidFill>
                <a:latin typeface="Courier New"/>
              </a:rPr>
              <a:t>    continue   # no cooldown consumed — gate block is transparent to scheduler</a:t>
            </a:r>
          </a:p>
          <a:p>
            <a:pPr algn="l">
              <a:spcBef>
                <a:spcPts val="100"/>
              </a:spcBef>
            </a:pPr>
            <a:r>
              <a:rPr sz="950">
                <a:solidFill>
                  <a:srgbClr val="B0C4D8"/>
                </a:solidFill>
                <a:latin typeface="Courier New"/>
              </a:rPr>
              <a:t/>
            </a:r>
          </a:p>
          <a:p>
            <a:pPr algn="l">
              <a:spcBef>
                <a:spcPts val="100"/>
              </a:spcBef>
            </a:pPr>
            <a:r>
              <a:rPr sz="950">
                <a:solidFill>
                  <a:srgbClr val="60809A"/>
                </a:solidFill>
                <a:latin typeface="Courier New"/>
              </a:rPr>
              <a:t># attempt_level_metrics now includes:</a:t>
            </a:r>
          </a:p>
          <a:p>
            <a:pPr algn="l">
              <a:spcBef>
                <a:spcPts val="100"/>
              </a:spcBef>
            </a:pPr>
            <a:r>
              <a:rPr sz="950">
                <a:solidFill>
                  <a:srgbClr val="60809A"/>
                </a:solidFill>
                <a:latin typeface="Courier New"/>
              </a:rPr>
              <a:t># 'n_signals_before_gate': int(n_pre_gate_signals)</a:t>
            </a:r>
          </a:p>
        </p:txBody>
      </p:sp>
      <p:sp>
        <p:nvSpPr>
          <p:cNvPr id="8" name="Rectangle 7"/>
          <p:cNvSpPr/>
          <p:nvPr/>
        </p:nvSpPr>
        <p:spPr>
          <a:xfrm>
            <a:off x="0" y="6812280"/>
            <a:ext cx="12191695" cy="45720"/>
          </a:xfrm>
          <a:prstGeom prst="rect">
            <a:avLst/>
          </a:prstGeom>
          <a:solidFill>
            <a:srgbClr val="008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A3A5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371600" cy="1371600"/>
          </a:xfrm>
          <a:prstGeom prst="rect">
            <a:avLst/>
          </a:prstGeom>
          <a:noFill/>
        </p:spPr>
        <p:txBody>
          <a:bodyPr wrap="square">
            <a:spAutoFit/>
          </a:bodyPr>
          <a:lstStyle/>
          <a:p/>
          <a:p>
            <a:pPr algn="l">
              <a:spcBef>
                <a:spcPts val="0"/>
              </a:spcBef>
              <a:spcAft>
                <a:spcPts val="0"/>
              </a:spcAft>
            </a:pPr>
            <a:r>
              <a:rPr sz="7200" b="1" i="0">
                <a:solidFill>
                  <a:srgbClr val="00D4FF"/>
                </a:solidFill>
              </a:rPr>
              <a:t>VI</a:t>
            </a:r>
          </a:p>
        </p:txBody>
      </p:sp>
      <p:sp>
        <p:nvSpPr>
          <p:cNvPr id="5" name="TextBox 4"/>
          <p:cNvSpPr txBox="1"/>
          <p:nvPr/>
        </p:nvSpPr>
        <p:spPr>
          <a:xfrm>
            <a:off x="2011680" y="2011680"/>
            <a:ext cx="9601200" cy="2286000"/>
          </a:xfrm>
          <a:prstGeom prst="rect">
            <a:avLst/>
          </a:prstGeom>
          <a:noFill/>
        </p:spPr>
        <p:txBody>
          <a:bodyPr wrap="square">
            <a:spAutoFit/>
          </a:bodyPr>
          <a:lstStyle/>
          <a:p/>
          <a:p>
            <a:pPr algn="l">
              <a:spcBef>
                <a:spcPts val="0"/>
              </a:spcBef>
              <a:spcAft>
                <a:spcPts val="600"/>
              </a:spcAft>
            </a:pPr>
            <a:r>
              <a:rPr sz="3400" b="1" i="0">
                <a:solidFill>
                  <a:srgbClr val="FFFFFF"/>
                </a:solidFill>
              </a:rPr>
              <a:t>Fee and Adverse Sensitivity Analysis</a:t>
            </a:r>
          </a:p>
          <a:p>
            <a:pPr algn="l">
              <a:spcBef>
                <a:spcPts val="0"/>
              </a:spcBef>
              <a:spcAft>
                <a:spcPts val="0"/>
              </a:spcAft>
            </a:pPr>
            <a:r>
              <a:rPr sz="1600" b="0" i="0">
                <a:solidFill>
                  <a:srgbClr val="B0C4D8"/>
                </a:solidFill>
              </a:rPr>
              <a:t>Mapping the Viability Surface</a:t>
            </a:r>
          </a:p>
        </p:txBody>
      </p:sp>
      <p:sp>
        <p:nvSpPr>
          <p:cNvPr id="6" name="Rectangle 5"/>
          <p:cNvSpPr/>
          <p:nvPr/>
        </p:nvSpPr>
        <p:spPr>
          <a:xfrm>
            <a:off x="2011680" y="1920240"/>
            <a:ext cx="36576" cy="2011680"/>
          </a:xfrm>
          <a:prstGeom prst="rect">
            <a:avLst/>
          </a:prstGeom>
          <a:solidFill>
            <a:srgbClr val="00FF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F1F3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12191695" cy="658368"/>
          </a:xfrm>
          <a:prstGeom prst="rect">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10789920" cy="594360"/>
          </a:xfrm>
          <a:prstGeom prst="rect">
            <a:avLst/>
          </a:prstGeom>
          <a:noFill/>
        </p:spPr>
        <p:txBody>
          <a:bodyPr wrap="square">
            <a:spAutoFit/>
          </a:bodyPr>
          <a:lstStyle/>
          <a:p/>
          <a:p>
            <a:pPr algn="l">
              <a:spcBef>
                <a:spcPts val="0"/>
              </a:spcBef>
              <a:spcAft>
                <a:spcPts val="0"/>
              </a:spcAft>
            </a:pPr>
            <a:r>
              <a:rPr sz="2000" b="1" i="0">
                <a:solidFill>
                  <a:srgbClr val="FFFFFF"/>
                </a:solidFill>
              </a:rPr>
              <a:t>The Fee-Adverse Grid — Stress-Testing Alpha Robustness</a:t>
            </a:r>
          </a:p>
        </p:txBody>
      </p:sp>
      <p:sp>
        <p:nvSpPr>
          <p:cNvPr id="5" name="TextBox 4"/>
          <p:cNvSpPr txBox="1"/>
          <p:nvPr/>
        </p:nvSpPr>
        <p:spPr>
          <a:xfrm>
            <a:off x="11155680" y="91440"/>
            <a:ext cx="914400" cy="457200"/>
          </a:xfrm>
          <a:prstGeom prst="rect">
            <a:avLst/>
          </a:prstGeom>
          <a:noFill/>
        </p:spPr>
        <p:txBody>
          <a:bodyPr wrap="square">
            <a:spAutoFit/>
          </a:bodyPr>
          <a:lstStyle/>
          <a:p/>
          <a:p>
            <a:pPr algn="r">
              <a:spcBef>
                <a:spcPts val="0"/>
              </a:spcBef>
              <a:spcAft>
                <a:spcPts val="0"/>
              </a:spcAft>
            </a:pPr>
            <a:r>
              <a:rPr sz="800" b="0" i="0">
                <a:solidFill>
                  <a:srgbClr val="00D4FF"/>
                </a:solidFill>
              </a:rPr>
              <a:t>6.1</a:t>
            </a:r>
          </a:p>
        </p:txBody>
      </p:sp>
      <p:sp>
        <p:nvSpPr>
          <p:cNvPr id="6" name="TextBox 5"/>
          <p:cNvSpPr txBox="1"/>
          <p:nvPr/>
        </p:nvSpPr>
        <p:spPr>
          <a:xfrm>
            <a:off x="274320" y="804672"/>
            <a:ext cx="6949440" cy="5760720"/>
          </a:xfrm>
          <a:prstGeom prst="rect">
            <a:avLst/>
          </a:prstGeom>
          <a:noFill/>
        </p:spPr>
        <p:txBody>
          <a:bodyPr wrap="square">
            <a:spAutoFit/>
          </a:bodyPr>
          <a:lstStyle/>
          <a:p>
            <a:pPr algn="l">
              <a:spcBef>
                <a:spcPts val="300"/>
              </a:spcBef>
              <a:spcAft>
                <a:spcPts val="200"/>
              </a:spcAft>
            </a:pPr>
            <a:r>
              <a:rPr sz="1300" b="1">
                <a:solidFill>
                  <a:srgbClr val="00D4FF"/>
                </a:solidFill>
              </a:rPr>
              <a:t>▸ </a:t>
            </a:r>
            <a:r>
              <a:rPr sz="1300" b="0">
                <a:solidFill>
                  <a:srgbClr val="FFFFFF"/>
                </a:solidFill>
              </a:rPr>
              <a:t>Grid axes: maker_fee_bps ∈ {0.5, 1.0, 1.5} × passive_adverse_mult ∈ {0.8, 1.0, 1.2}</a:t>
            </a:r>
          </a:p>
          <a:p>
            <a:pPr algn="l">
              <a:spcBef>
                <a:spcPts val="300"/>
              </a:spcBef>
              <a:spcAft>
                <a:spcPts val="200"/>
              </a:spcAft>
            </a:pPr>
            <a:r>
              <a:rPr sz="1300" b="1">
                <a:solidFill>
                  <a:srgbClr val="00D4FF"/>
                </a:solidFill>
              </a:rPr>
              <a:t>▸ </a:t>
            </a:r>
            <a:r>
              <a:rPr sz="1300" b="0">
                <a:solidFill>
                  <a:srgbClr val="FFFFFF"/>
                </a:solidFill>
              </a:rPr>
              <a:t>9 evaluation points per pocket — full cross-product, same seeds and splits</a:t>
            </a:r>
          </a:p>
          <a:p>
            <a:pPr algn="l">
              <a:spcBef>
                <a:spcPts val="300"/>
              </a:spcBef>
              <a:spcAft>
                <a:spcPts val="200"/>
              </a:spcAft>
            </a:pPr>
            <a:r>
              <a:rPr sz="1300" b="1">
                <a:solidFill>
                  <a:srgbClr val="00D4FF"/>
                </a:solidFill>
              </a:rPr>
              <a:t>▸ </a:t>
            </a:r>
            <a:r>
              <a:rPr sz="1300" b="0">
                <a:solidFill>
                  <a:srgbClr val="FFFFFF"/>
                </a:solidFill>
              </a:rPr>
              <a:t>Core: (fee=1.0, adv=1.0) — realistic baseline for ranking and NPA gate</a:t>
            </a:r>
          </a:p>
          <a:p>
            <a:pPr algn="l">
              <a:spcBef>
                <a:spcPts val="300"/>
              </a:spcBef>
              <a:spcAft>
                <a:spcPts val="200"/>
              </a:spcAft>
            </a:pPr>
            <a:r>
              <a:rPr sz="1300" b="1">
                <a:solidFill>
                  <a:srgbClr val="00D4FF"/>
                </a:solidFill>
              </a:rPr>
              <a:t>▸ </a:t>
            </a:r>
            <a:r>
              <a:rPr sz="1300" b="0">
                <a:solidFill>
                  <a:srgbClr val="FFFFFF"/>
                </a:solidFill>
              </a:rPr>
              <a:t>Stress: (fee=1.0, adv=1.2) — +20% adverse selection severity</a:t>
            </a:r>
          </a:p>
          <a:p>
            <a:pPr algn="l">
              <a:spcBef>
                <a:spcPts val="300"/>
              </a:spcBef>
              <a:spcAft>
                <a:spcPts val="200"/>
              </a:spcAft>
            </a:pPr>
            <a:r>
              <a:rPr sz="1300" b="1">
                <a:solidFill>
                  <a:srgbClr val="00D4FF"/>
                </a:solidFill>
              </a:rPr>
              <a:t>▸ </a:t>
            </a:r>
            <a:r>
              <a:rPr sz="1300" b="0">
                <a:solidFill>
                  <a:srgbClr val="FFFFFF"/>
                </a:solidFill>
              </a:rPr>
              <a:t>Extreme: (fee=1.5, adv=1.2) — worst-case: maximum fee + maximum adverse</a:t>
            </a:r>
          </a:p>
          <a:p>
            <a:pPr lvl="1" algn="l">
              <a:spcBef>
                <a:spcPts val="100"/>
              </a:spcBef>
              <a:spcAft>
                <a:spcPts val="200"/>
              </a:spcAft>
            </a:pPr>
            <a:r>
              <a:rPr sz="1100" b="0">
                <a:solidFill>
                  <a:srgbClr val="00FFB3"/>
                </a:solidFill>
              </a:rPr>
              <a:t>  · </a:t>
            </a:r>
            <a:r>
              <a:rPr sz="1100" b="0">
                <a:solidFill>
                  <a:srgbClr val="B0C4D8"/>
                </a:solidFill>
              </a:rPr>
              <a:t>Maker fee range: covers Binance fee tier uncertainty and rebate program changes</a:t>
            </a:r>
          </a:p>
          <a:p>
            <a:pPr lvl="1" algn="l">
              <a:spcBef>
                <a:spcPts val="100"/>
              </a:spcBef>
              <a:spcAft>
                <a:spcPts val="200"/>
              </a:spcAft>
            </a:pPr>
            <a:r>
              <a:rPr sz="1100" b="0">
                <a:solidFill>
                  <a:srgbClr val="00FFB3"/>
                </a:solidFill>
              </a:rPr>
              <a:t>  · </a:t>
            </a:r>
            <a:r>
              <a:rPr sz="1100" b="0">
                <a:solidFill>
                  <a:srgbClr val="B0C4D8"/>
                </a:solidFill>
              </a:rPr>
              <a:t>Adverse mult range: covers calibration uncertainty ±20% — structural sensitivity check</a:t>
            </a:r>
          </a:p>
        </p:txBody>
      </p:sp>
      <p:sp>
        <p:nvSpPr>
          <p:cNvPr id="7" name="Rectangle 6"/>
          <p:cNvSpPr/>
          <p:nvPr/>
        </p:nvSpPr>
        <p:spPr>
          <a:xfrm>
            <a:off x="7406640" y="804672"/>
            <a:ext cx="4572000" cy="5760720"/>
          </a:xfrm>
          <a:prstGeom prst="rect">
            <a:avLst/>
          </a:prstGeom>
          <a:solidFill>
            <a:srgbClr val="153045"/>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00D4FF"/>
                </a:solidFill>
              </a:rPr>
              <a:t>[ VISUAL ]</a:t>
            </a:r>
          </a:p>
          <a:p>
            <a:pPr algn="ctr"/>
            <a:r>
              <a:rPr sz="700" i="1">
                <a:solidFill>
                  <a:srgbClr val="B0C4D8"/>
                </a:solidFill>
              </a:rPr>
              <a:t>3×3 heatmap: fee on x-axis (0.5, 1.0, 1.5), adverse_mult on y-axis (0.8, 1.0, 1.2). Each cell color-coded by median_net_per_attempt: green=positive, red=negative. Black border around core cell (1.0, 1.0). Two heatmaps side-by-side: ETHUSDT and BTCUSDT for comparison.</a:t>
            </a:r>
          </a:p>
        </p:txBody>
      </p:sp>
      <p:sp>
        <p:nvSpPr>
          <p:cNvPr id="8" name="Rectangle 7"/>
          <p:cNvSpPr/>
          <p:nvPr/>
        </p:nvSpPr>
        <p:spPr>
          <a:xfrm>
            <a:off x="0" y="6812280"/>
            <a:ext cx="12191695" cy="45720"/>
          </a:xfrm>
          <a:prstGeom prst="rect">
            <a:avLst/>
          </a:prstGeom>
          <a:solidFill>
            <a:srgbClr val="008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F1F3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12191695" cy="658368"/>
          </a:xfrm>
          <a:prstGeom prst="rect">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10789920" cy="594360"/>
          </a:xfrm>
          <a:prstGeom prst="rect">
            <a:avLst/>
          </a:prstGeom>
          <a:noFill/>
        </p:spPr>
        <p:txBody>
          <a:bodyPr wrap="square">
            <a:spAutoFit/>
          </a:bodyPr>
          <a:lstStyle/>
          <a:p/>
          <a:p>
            <a:pPr algn="l">
              <a:spcBef>
                <a:spcPts val="0"/>
              </a:spcBef>
              <a:spcAft>
                <a:spcPts val="0"/>
              </a:spcAft>
            </a:pPr>
            <a:r>
              <a:rPr sz="2000" b="1" i="0">
                <a:solidFill>
                  <a:srgbClr val="FFFFFF"/>
                </a:solidFill>
              </a:rPr>
              <a:t>Break-Even Fee Analysis — Where Alpha Inverts</a:t>
            </a:r>
          </a:p>
        </p:txBody>
      </p:sp>
      <p:sp>
        <p:nvSpPr>
          <p:cNvPr id="5" name="TextBox 4"/>
          <p:cNvSpPr txBox="1"/>
          <p:nvPr/>
        </p:nvSpPr>
        <p:spPr>
          <a:xfrm>
            <a:off x="11155680" y="91440"/>
            <a:ext cx="914400" cy="457200"/>
          </a:xfrm>
          <a:prstGeom prst="rect">
            <a:avLst/>
          </a:prstGeom>
          <a:noFill/>
        </p:spPr>
        <p:txBody>
          <a:bodyPr wrap="square">
            <a:spAutoFit/>
          </a:bodyPr>
          <a:lstStyle/>
          <a:p/>
          <a:p>
            <a:pPr algn="r">
              <a:spcBef>
                <a:spcPts val="0"/>
              </a:spcBef>
              <a:spcAft>
                <a:spcPts val="0"/>
              </a:spcAft>
            </a:pPr>
            <a:r>
              <a:rPr sz="800" b="0" i="0">
                <a:solidFill>
                  <a:srgbClr val="00D4FF"/>
                </a:solidFill>
              </a:rPr>
              <a:t>6.2</a:t>
            </a:r>
          </a:p>
        </p:txBody>
      </p:sp>
      <p:sp>
        <p:nvSpPr>
          <p:cNvPr id="6" name="TextBox 5"/>
          <p:cNvSpPr txBox="1"/>
          <p:nvPr/>
        </p:nvSpPr>
        <p:spPr>
          <a:xfrm>
            <a:off x="274320" y="804672"/>
            <a:ext cx="6949440" cy="5760720"/>
          </a:xfrm>
          <a:prstGeom prst="rect">
            <a:avLst/>
          </a:prstGeom>
          <a:noFill/>
        </p:spPr>
        <p:txBody>
          <a:bodyPr wrap="square">
            <a:spAutoFit/>
          </a:bodyPr>
          <a:lstStyle/>
          <a:p>
            <a:pPr algn="l">
              <a:spcBef>
                <a:spcPts val="300"/>
              </a:spcBef>
              <a:spcAft>
                <a:spcPts val="200"/>
              </a:spcAft>
            </a:pPr>
            <a:r>
              <a:rPr sz="1300" b="1">
                <a:solidFill>
                  <a:srgbClr val="00D4FF"/>
                </a:solidFill>
              </a:rPr>
              <a:t>▸ </a:t>
            </a:r>
            <a:r>
              <a:rPr sz="1300" b="0">
                <a:solidFill>
                  <a:srgbClr val="FFFFFF"/>
                </a:solidFill>
              </a:rPr>
              <a:t>Break-even fee: maker_fee where NPA crosses zero (adverse held constant)</a:t>
            </a:r>
          </a:p>
          <a:p>
            <a:pPr algn="l">
              <a:spcBef>
                <a:spcPts val="300"/>
              </a:spcBef>
              <a:spcAft>
                <a:spcPts val="200"/>
              </a:spcAft>
            </a:pPr>
            <a:r>
              <a:rPr sz="1300" b="1">
                <a:solidFill>
                  <a:srgbClr val="00D4FF"/>
                </a:solidFill>
              </a:rPr>
              <a:t>▸ </a:t>
            </a:r>
            <a:r>
              <a:rPr sz="1300" b="0">
                <a:solidFill>
                  <a:srgbClr val="FFFFFF"/>
                </a:solidFill>
              </a:rPr>
              <a:t>best_fee_survive: max fee where pass_rate ≥ 50% — surfaced in ranking output</a:t>
            </a:r>
          </a:p>
          <a:p>
            <a:pPr algn="l">
              <a:spcBef>
                <a:spcPts val="300"/>
              </a:spcBef>
              <a:spcAft>
                <a:spcPts val="200"/>
              </a:spcAft>
            </a:pPr>
            <a:r>
              <a:rPr sz="1300" b="1">
                <a:solidFill>
                  <a:srgbClr val="00D4FF"/>
                </a:solidFill>
              </a:rPr>
              <a:t>▸ </a:t>
            </a:r>
            <a:r>
              <a:rPr sz="1300" b="0">
                <a:solidFill>
                  <a:srgbClr val="FFFFFF"/>
                </a:solidFill>
              </a:rPr>
              <a:t>Fragile alpha: NPA positive only at fee=0.5 bps — fee-tier arbitrage, not structural edge</a:t>
            </a:r>
          </a:p>
          <a:p>
            <a:pPr algn="l">
              <a:spcBef>
                <a:spcPts val="300"/>
              </a:spcBef>
              <a:spcAft>
                <a:spcPts val="200"/>
              </a:spcAft>
            </a:pPr>
            <a:r>
              <a:rPr sz="1300" b="1">
                <a:solidFill>
                  <a:srgbClr val="00D4FF"/>
                </a:solidFill>
              </a:rPr>
              <a:t>▸ </a:t>
            </a:r>
            <a:r>
              <a:rPr sz="1300" b="0">
                <a:solidFill>
                  <a:srgbClr val="FFFFFF"/>
                </a:solidFill>
              </a:rPr>
              <a:t>Robust alpha: NPA positive at fee=1.0 bps and beyond — genuine microstructure signal</a:t>
            </a:r>
          </a:p>
          <a:p>
            <a:pPr algn="l">
              <a:spcBef>
                <a:spcPts val="300"/>
              </a:spcBef>
              <a:spcAft>
                <a:spcPts val="200"/>
              </a:spcAft>
            </a:pPr>
            <a:r>
              <a:rPr sz="1300" b="1">
                <a:solidFill>
                  <a:srgbClr val="00D4FF"/>
                </a:solidFill>
              </a:rPr>
              <a:t>▸ </a:t>
            </a:r>
            <a:r>
              <a:rPr sz="1300" b="0">
                <a:solidFill>
                  <a:srgbClr val="FFFFFF"/>
                </a:solidFill>
              </a:rPr>
              <a:t>Current empirical finding: best_fee_survive=0.0 for all pockets — NPA &lt; 0 at all fees</a:t>
            </a:r>
          </a:p>
          <a:p>
            <a:pPr lvl="1" algn="l">
              <a:spcBef>
                <a:spcPts val="100"/>
              </a:spcBef>
              <a:spcAft>
                <a:spcPts val="200"/>
              </a:spcAft>
            </a:pPr>
            <a:r>
              <a:rPr sz="1100" b="0">
                <a:solidFill>
                  <a:srgbClr val="00FFB3"/>
                </a:solidFill>
              </a:rPr>
              <a:t>  · </a:t>
            </a:r>
            <a:r>
              <a:rPr sz="1100" b="0">
                <a:solidFill>
                  <a:srgbClr val="B0C4D8"/>
                </a:solidFill>
              </a:rPr>
              <a:t>Fee-dependent strategy: viable only with maker rebates — program-change risk</a:t>
            </a:r>
          </a:p>
          <a:p>
            <a:pPr lvl="1" algn="l">
              <a:spcBef>
                <a:spcPts val="100"/>
              </a:spcBef>
              <a:spcAft>
                <a:spcPts val="200"/>
              </a:spcAft>
            </a:pPr>
            <a:r>
              <a:rPr sz="1100" b="0">
                <a:solidFill>
                  <a:srgbClr val="00FFB3"/>
                </a:solidFill>
              </a:rPr>
              <a:t>  · </a:t>
            </a:r>
            <a:r>
              <a:rPr sz="1100" b="0">
                <a:solidFill>
                  <a:srgbClr val="B0C4D8"/>
                </a:solidFill>
              </a:rPr>
              <a:t>Deployment requirement: NPA &gt; 0 at fee=1.0, adv=1.0 — no rebate dependency</a:t>
            </a:r>
          </a:p>
        </p:txBody>
      </p:sp>
      <p:sp>
        <p:nvSpPr>
          <p:cNvPr id="7" name="Rectangle 6"/>
          <p:cNvSpPr/>
          <p:nvPr/>
        </p:nvSpPr>
        <p:spPr>
          <a:xfrm>
            <a:off x="7406640" y="804672"/>
            <a:ext cx="4572000" cy="5760720"/>
          </a:xfrm>
          <a:prstGeom prst="rect">
            <a:avLst/>
          </a:prstGeom>
          <a:solidFill>
            <a:srgbClr val="153045"/>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00D4FF"/>
                </a:solidFill>
              </a:rPr>
              <a:t>[ VISUAL ]</a:t>
            </a:r>
          </a:p>
          <a:p>
            <a:pPr algn="ctr"/>
            <a:r>
              <a:rPr sz="700" i="1">
                <a:solidFill>
                  <a:srgbClr val="B0C4D8"/>
                </a:solidFill>
              </a:rPr>
              <a:t>Line chart: x=maker_fee_bps (0.5 to 1.5), y=NPA (×10⁻⁴). Multiple lines, one per pocket configuration. Horizontal zero line. x-intercept of each line = break-even fee. Green lines: cross zero at fee&gt;1.0 (robust). Red lines: cross zero at fee&lt;0.5 (fragile). Label break-even crossing points.</a:t>
            </a:r>
          </a:p>
        </p:txBody>
      </p:sp>
      <p:sp>
        <p:nvSpPr>
          <p:cNvPr id="8" name="Rectangle 7"/>
          <p:cNvSpPr/>
          <p:nvPr/>
        </p:nvSpPr>
        <p:spPr>
          <a:xfrm>
            <a:off x="0" y="6812280"/>
            <a:ext cx="12191695" cy="45720"/>
          </a:xfrm>
          <a:prstGeom prst="rect">
            <a:avLst/>
          </a:prstGeom>
          <a:solidFill>
            <a:srgbClr val="008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A3A5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371600" cy="1371600"/>
          </a:xfrm>
          <a:prstGeom prst="rect">
            <a:avLst/>
          </a:prstGeom>
          <a:noFill/>
        </p:spPr>
        <p:txBody>
          <a:bodyPr wrap="square">
            <a:spAutoFit/>
          </a:bodyPr>
          <a:lstStyle/>
          <a:p/>
          <a:p>
            <a:pPr algn="l">
              <a:spcBef>
                <a:spcPts val="0"/>
              </a:spcBef>
              <a:spcAft>
                <a:spcPts val="0"/>
              </a:spcAft>
            </a:pPr>
            <a:r>
              <a:rPr sz="7200" b="1" i="0">
                <a:solidFill>
                  <a:srgbClr val="00D4FF"/>
                </a:solidFill>
              </a:rPr>
              <a:t>VII</a:t>
            </a:r>
          </a:p>
        </p:txBody>
      </p:sp>
      <p:sp>
        <p:nvSpPr>
          <p:cNvPr id="5" name="TextBox 4"/>
          <p:cNvSpPr txBox="1"/>
          <p:nvPr/>
        </p:nvSpPr>
        <p:spPr>
          <a:xfrm>
            <a:off x="2011680" y="2011680"/>
            <a:ext cx="9601200" cy="2286000"/>
          </a:xfrm>
          <a:prstGeom prst="rect">
            <a:avLst/>
          </a:prstGeom>
          <a:noFill/>
        </p:spPr>
        <p:txBody>
          <a:bodyPr wrap="square">
            <a:spAutoFit/>
          </a:bodyPr>
          <a:lstStyle/>
          <a:p/>
          <a:p>
            <a:pPr algn="l">
              <a:spcBef>
                <a:spcPts val="0"/>
              </a:spcBef>
              <a:spcAft>
                <a:spcPts val="600"/>
              </a:spcAft>
            </a:pPr>
            <a:r>
              <a:rPr sz="3400" b="1" i="0">
                <a:solidFill>
                  <a:srgbClr val="FFFFFF"/>
                </a:solidFill>
              </a:rPr>
              <a:t>Determinism and Scientific Validity</a:t>
            </a:r>
          </a:p>
          <a:p>
            <a:pPr algn="l">
              <a:spcBef>
                <a:spcPts val="0"/>
              </a:spcBef>
              <a:spcAft>
                <a:spcPts val="0"/>
              </a:spcAft>
            </a:pPr>
            <a:r>
              <a:rPr sz="1600" b="0" i="0">
                <a:solidFill>
                  <a:srgbClr val="B0C4D8"/>
                </a:solidFill>
              </a:rPr>
              <a:t>Engineering Reproducibility as Quantitative Method</a:t>
            </a:r>
          </a:p>
        </p:txBody>
      </p:sp>
      <p:sp>
        <p:nvSpPr>
          <p:cNvPr id="6" name="Rectangle 5"/>
          <p:cNvSpPr/>
          <p:nvPr/>
        </p:nvSpPr>
        <p:spPr>
          <a:xfrm>
            <a:off x="2011680" y="1920240"/>
            <a:ext cx="36576" cy="2011680"/>
          </a:xfrm>
          <a:prstGeom prst="rect">
            <a:avLst/>
          </a:prstGeom>
          <a:solidFill>
            <a:srgbClr val="00FF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F1F3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12191695" cy="658368"/>
          </a:xfrm>
          <a:prstGeom prst="rect">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10789920" cy="594360"/>
          </a:xfrm>
          <a:prstGeom prst="rect">
            <a:avLst/>
          </a:prstGeom>
          <a:noFill/>
        </p:spPr>
        <p:txBody>
          <a:bodyPr wrap="square">
            <a:spAutoFit/>
          </a:bodyPr>
          <a:lstStyle/>
          <a:p/>
          <a:p>
            <a:pPr algn="l">
              <a:spcBef>
                <a:spcPts val="0"/>
              </a:spcBef>
              <a:spcAft>
                <a:spcPts val="0"/>
              </a:spcAft>
            </a:pPr>
            <a:r>
              <a:rPr sz="2000" b="1" i="0">
                <a:solidFill>
                  <a:srgbClr val="FFFFFF"/>
                </a:solidFill>
              </a:rPr>
              <a:t>Invariant Taxonomy — Data and Research Contracts</a:t>
            </a:r>
          </a:p>
        </p:txBody>
      </p:sp>
      <p:sp>
        <p:nvSpPr>
          <p:cNvPr id="5" name="TextBox 4"/>
          <p:cNvSpPr txBox="1"/>
          <p:nvPr/>
        </p:nvSpPr>
        <p:spPr>
          <a:xfrm>
            <a:off x="11155680" y="91440"/>
            <a:ext cx="914400" cy="457200"/>
          </a:xfrm>
          <a:prstGeom prst="rect">
            <a:avLst/>
          </a:prstGeom>
          <a:noFill/>
        </p:spPr>
        <p:txBody>
          <a:bodyPr wrap="square">
            <a:spAutoFit/>
          </a:bodyPr>
          <a:lstStyle/>
          <a:p/>
          <a:p>
            <a:pPr algn="r">
              <a:spcBef>
                <a:spcPts val="0"/>
              </a:spcBef>
              <a:spcAft>
                <a:spcPts val="0"/>
              </a:spcAft>
            </a:pPr>
            <a:r>
              <a:rPr sz="800" b="0" i="0">
                <a:solidFill>
                  <a:srgbClr val="00D4FF"/>
                </a:solidFill>
              </a:rPr>
              <a:t>7.1</a:t>
            </a:r>
          </a:p>
        </p:txBody>
      </p:sp>
      <p:sp>
        <p:nvSpPr>
          <p:cNvPr id="6" name="Rectangle 5"/>
          <p:cNvSpPr/>
          <p:nvPr/>
        </p:nvSpPr>
        <p:spPr>
          <a:xfrm>
            <a:off x="182880" y="822960"/>
            <a:ext cx="11825935" cy="530352"/>
          </a:xfrm>
          <a:prstGeom prst="rect">
            <a:avLst/>
          </a:prstGeom>
          <a:solidFill>
            <a:srgbClr val="0F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868680"/>
            <a:ext cx="1874520" cy="438912"/>
          </a:xfrm>
          <a:prstGeom prst="rect">
            <a:avLst/>
          </a:prstGeom>
          <a:noFill/>
        </p:spPr>
        <p:txBody>
          <a:bodyPr wrap="square">
            <a:spAutoFit/>
          </a:bodyPr>
          <a:lstStyle/>
          <a:p/>
          <a:p>
            <a:pPr algn="l">
              <a:spcBef>
                <a:spcPts val="0"/>
              </a:spcBef>
              <a:spcAft>
                <a:spcPts val="0"/>
              </a:spcAft>
            </a:pPr>
            <a:r>
              <a:rPr sz="1100" b="1" i="0">
                <a:solidFill>
                  <a:srgbClr val="00D4FF"/>
                </a:solidFill>
              </a:rPr>
              <a:t>DAT-01</a:t>
            </a:r>
          </a:p>
        </p:txBody>
      </p:sp>
      <p:sp>
        <p:nvSpPr>
          <p:cNvPr id="8" name="TextBox 7"/>
          <p:cNvSpPr txBox="1"/>
          <p:nvPr/>
        </p:nvSpPr>
        <p:spPr>
          <a:xfrm>
            <a:off x="2377440" y="868680"/>
            <a:ext cx="3977640" cy="438912"/>
          </a:xfrm>
          <a:prstGeom prst="rect">
            <a:avLst/>
          </a:prstGeom>
          <a:noFill/>
        </p:spPr>
        <p:txBody>
          <a:bodyPr wrap="square">
            <a:spAutoFit/>
          </a:bodyPr>
          <a:lstStyle/>
          <a:p/>
          <a:p>
            <a:pPr algn="l">
              <a:spcBef>
                <a:spcPts val="0"/>
              </a:spcBef>
              <a:spcAft>
                <a:spcPts val="0"/>
              </a:spcAft>
            </a:pPr>
            <a:r>
              <a:rPr sz="1100" b="0" i="0">
                <a:solidFill>
                  <a:srgbClr val="FFFFFF"/>
                </a:solidFill>
              </a:rPr>
              <a:t>No Lookahead</a:t>
            </a:r>
          </a:p>
        </p:txBody>
      </p:sp>
      <p:sp>
        <p:nvSpPr>
          <p:cNvPr id="9" name="TextBox 8"/>
          <p:cNvSpPr txBox="1"/>
          <p:nvPr/>
        </p:nvSpPr>
        <p:spPr>
          <a:xfrm>
            <a:off x="6583680" y="868680"/>
            <a:ext cx="5623560" cy="438912"/>
          </a:xfrm>
          <a:prstGeom prst="rect">
            <a:avLst/>
          </a:prstGeom>
          <a:noFill/>
        </p:spPr>
        <p:txBody>
          <a:bodyPr wrap="square">
            <a:spAutoFit/>
          </a:bodyPr>
          <a:lstStyle/>
          <a:p/>
          <a:p>
            <a:pPr algn="l">
              <a:spcBef>
                <a:spcPts val="0"/>
              </a:spcBef>
              <a:spcAft>
                <a:spcPts val="0"/>
              </a:spcAft>
            </a:pPr>
            <a:r>
              <a:rPr sz="1000" b="0" i="0">
                <a:solidFill>
                  <a:srgbClr val="B0C4D8"/>
                </a:solidFill>
              </a:rPr>
              <a:t>Features computed only from data ≤ signal time — verified structurally</a:t>
            </a:r>
          </a:p>
        </p:txBody>
      </p:sp>
      <p:sp>
        <p:nvSpPr>
          <p:cNvPr id="10" name="Rectangle 9"/>
          <p:cNvSpPr/>
          <p:nvPr/>
        </p:nvSpPr>
        <p:spPr>
          <a:xfrm>
            <a:off x="182880" y="1353312"/>
            <a:ext cx="11825935" cy="530352"/>
          </a:xfrm>
          <a:prstGeom prst="rect">
            <a:avLst/>
          </a:prstGeom>
          <a:solidFill>
            <a:srgbClr val="142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1399032"/>
            <a:ext cx="1874520" cy="438912"/>
          </a:xfrm>
          <a:prstGeom prst="rect">
            <a:avLst/>
          </a:prstGeom>
          <a:noFill/>
        </p:spPr>
        <p:txBody>
          <a:bodyPr wrap="square">
            <a:spAutoFit/>
          </a:bodyPr>
          <a:lstStyle/>
          <a:p/>
          <a:p>
            <a:pPr algn="l">
              <a:spcBef>
                <a:spcPts val="0"/>
              </a:spcBef>
              <a:spcAft>
                <a:spcPts val="0"/>
              </a:spcAft>
            </a:pPr>
            <a:r>
              <a:rPr sz="1100" b="1" i="0">
                <a:solidFill>
                  <a:srgbClr val="00D4FF"/>
                </a:solidFill>
              </a:rPr>
              <a:t>DAT-02</a:t>
            </a:r>
          </a:p>
        </p:txBody>
      </p:sp>
      <p:sp>
        <p:nvSpPr>
          <p:cNvPr id="12" name="TextBox 11"/>
          <p:cNvSpPr txBox="1"/>
          <p:nvPr/>
        </p:nvSpPr>
        <p:spPr>
          <a:xfrm>
            <a:off x="2377440" y="1399032"/>
            <a:ext cx="3977640" cy="438912"/>
          </a:xfrm>
          <a:prstGeom prst="rect">
            <a:avLst/>
          </a:prstGeom>
          <a:noFill/>
        </p:spPr>
        <p:txBody>
          <a:bodyPr wrap="square">
            <a:spAutoFit/>
          </a:bodyPr>
          <a:lstStyle/>
          <a:p/>
          <a:p>
            <a:pPr algn="l">
              <a:spcBef>
                <a:spcPts val="0"/>
              </a:spcBef>
              <a:spcAft>
                <a:spcPts val="0"/>
              </a:spcAft>
            </a:pPr>
            <a:r>
              <a:rPr sz="1100" b="0" i="0">
                <a:solidFill>
                  <a:srgbClr val="FFFFFF"/>
                </a:solidFill>
              </a:rPr>
              <a:t>Timing Alignment</a:t>
            </a:r>
          </a:p>
        </p:txBody>
      </p:sp>
      <p:sp>
        <p:nvSpPr>
          <p:cNvPr id="13" name="TextBox 12"/>
          <p:cNvSpPr txBox="1"/>
          <p:nvPr/>
        </p:nvSpPr>
        <p:spPr>
          <a:xfrm>
            <a:off x="6583680" y="1399032"/>
            <a:ext cx="5623560" cy="438912"/>
          </a:xfrm>
          <a:prstGeom prst="rect">
            <a:avLst/>
          </a:prstGeom>
          <a:noFill/>
        </p:spPr>
        <p:txBody>
          <a:bodyPr wrap="square">
            <a:spAutoFit/>
          </a:bodyPr>
          <a:lstStyle/>
          <a:p/>
          <a:p>
            <a:pPr algn="l">
              <a:spcBef>
                <a:spcPts val="0"/>
              </a:spcBef>
              <a:spcAft>
                <a:spcPts val="0"/>
              </a:spcAft>
            </a:pPr>
            <a:r>
              <a:rPr sz="1000" b="0" i="0">
                <a:solidFill>
                  <a:srgbClr val="B0C4D8"/>
                </a:solidFill>
              </a:rPr>
              <a:t>Feature timestamps aligned to bucket close, not trade arrival</a:t>
            </a:r>
          </a:p>
        </p:txBody>
      </p:sp>
      <p:sp>
        <p:nvSpPr>
          <p:cNvPr id="14" name="Rectangle 13"/>
          <p:cNvSpPr/>
          <p:nvPr/>
        </p:nvSpPr>
        <p:spPr>
          <a:xfrm>
            <a:off x="182880" y="1883664"/>
            <a:ext cx="11825935" cy="530352"/>
          </a:xfrm>
          <a:prstGeom prst="rect">
            <a:avLst/>
          </a:prstGeom>
          <a:solidFill>
            <a:srgbClr val="0F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4320" y="1929384"/>
            <a:ext cx="1874520" cy="438912"/>
          </a:xfrm>
          <a:prstGeom prst="rect">
            <a:avLst/>
          </a:prstGeom>
          <a:noFill/>
        </p:spPr>
        <p:txBody>
          <a:bodyPr wrap="square">
            <a:spAutoFit/>
          </a:bodyPr>
          <a:lstStyle/>
          <a:p/>
          <a:p>
            <a:pPr algn="l">
              <a:spcBef>
                <a:spcPts val="0"/>
              </a:spcBef>
              <a:spcAft>
                <a:spcPts val="0"/>
              </a:spcAft>
            </a:pPr>
            <a:r>
              <a:rPr sz="1100" b="1" i="0">
                <a:solidFill>
                  <a:srgbClr val="00D4FF"/>
                </a:solidFill>
              </a:rPr>
              <a:t>DAT-03</a:t>
            </a:r>
          </a:p>
        </p:txBody>
      </p:sp>
      <p:sp>
        <p:nvSpPr>
          <p:cNvPr id="16" name="TextBox 15"/>
          <p:cNvSpPr txBox="1"/>
          <p:nvPr/>
        </p:nvSpPr>
        <p:spPr>
          <a:xfrm>
            <a:off x="2377440" y="1929384"/>
            <a:ext cx="3977640" cy="438912"/>
          </a:xfrm>
          <a:prstGeom prst="rect">
            <a:avLst/>
          </a:prstGeom>
          <a:noFill/>
        </p:spPr>
        <p:txBody>
          <a:bodyPr wrap="square">
            <a:spAutoFit/>
          </a:bodyPr>
          <a:lstStyle/>
          <a:p/>
          <a:p>
            <a:pPr algn="l">
              <a:spcBef>
                <a:spcPts val="0"/>
              </a:spcBef>
              <a:spcAft>
                <a:spcPts val="0"/>
              </a:spcAft>
            </a:pPr>
            <a:r>
              <a:rPr sz="1100" b="0" i="0">
                <a:solidFill>
                  <a:srgbClr val="FFFFFF"/>
                </a:solidFill>
              </a:rPr>
              <a:t>Deterministic Sim</a:t>
            </a:r>
          </a:p>
        </p:txBody>
      </p:sp>
      <p:sp>
        <p:nvSpPr>
          <p:cNvPr id="17" name="TextBox 16"/>
          <p:cNvSpPr txBox="1"/>
          <p:nvPr/>
        </p:nvSpPr>
        <p:spPr>
          <a:xfrm>
            <a:off x="6583680" y="1929384"/>
            <a:ext cx="5623560" cy="438912"/>
          </a:xfrm>
          <a:prstGeom prst="rect">
            <a:avLst/>
          </a:prstGeom>
          <a:noFill/>
        </p:spPr>
        <p:txBody>
          <a:bodyPr wrap="square">
            <a:spAutoFit/>
          </a:bodyPr>
          <a:lstStyle/>
          <a:p/>
          <a:p>
            <a:pPr algn="l">
              <a:spcBef>
                <a:spcPts val="0"/>
              </a:spcBef>
              <a:spcAft>
                <a:spcPts val="0"/>
              </a:spcAft>
            </a:pPr>
            <a:r>
              <a:rPr sz="1000" b="0" i="0">
                <a:solidFill>
                  <a:srgbClr val="B0C4D8"/>
                </a:solidFill>
              </a:rPr>
              <a:t>Same (seed, input) → same fill decisions, NPA — test_net_per_attempt_deterministic</a:t>
            </a:r>
          </a:p>
        </p:txBody>
      </p:sp>
      <p:sp>
        <p:nvSpPr>
          <p:cNvPr id="18" name="Rectangle 17"/>
          <p:cNvSpPr/>
          <p:nvPr/>
        </p:nvSpPr>
        <p:spPr>
          <a:xfrm>
            <a:off x="182880" y="2414016"/>
            <a:ext cx="11825935" cy="530352"/>
          </a:xfrm>
          <a:prstGeom prst="rect">
            <a:avLst/>
          </a:prstGeom>
          <a:solidFill>
            <a:srgbClr val="142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4320" y="2459736"/>
            <a:ext cx="1874520" cy="438912"/>
          </a:xfrm>
          <a:prstGeom prst="rect">
            <a:avLst/>
          </a:prstGeom>
          <a:noFill/>
        </p:spPr>
        <p:txBody>
          <a:bodyPr wrap="square">
            <a:spAutoFit/>
          </a:bodyPr>
          <a:lstStyle/>
          <a:p/>
          <a:p>
            <a:pPr algn="l">
              <a:spcBef>
                <a:spcPts val="0"/>
              </a:spcBef>
              <a:spcAft>
                <a:spcPts val="0"/>
              </a:spcAft>
            </a:pPr>
            <a:r>
              <a:rPr sz="1100" b="1" i="0">
                <a:solidFill>
                  <a:srgbClr val="00D4FF"/>
                </a:solidFill>
              </a:rPr>
              <a:t>DAT-04</a:t>
            </a:r>
          </a:p>
        </p:txBody>
      </p:sp>
      <p:sp>
        <p:nvSpPr>
          <p:cNvPr id="20" name="TextBox 19"/>
          <p:cNvSpPr txBox="1"/>
          <p:nvPr/>
        </p:nvSpPr>
        <p:spPr>
          <a:xfrm>
            <a:off x="2377440" y="2459736"/>
            <a:ext cx="3977640" cy="438912"/>
          </a:xfrm>
          <a:prstGeom prst="rect">
            <a:avLst/>
          </a:prstGeom>
          <a:noFill/>
        </p:spPr>
        <p:txBody>
          <a:bodyPr wrap="square">
            <a:spAutoFit/>
          </a:bodyPr>
          <a:lstStyle/>
          <a:p/>
          <a:p>
            <a:pPr algn="l">
              <a:spcBef>
                <a:spcPts val="0"/>
              </a:spcBef>
              <a:spcAft>
                <a:spcPts val="0"/>
              </a:spcAft>
            </a:pPr>
            <a:r>
              <a:rPr sz="1100" b="0" i="0">
                <a:solidFill>
                  <a:srgbClr val="FFFFFF"/>
                </a:solidFill>
              </a:rPr>
              <a:t>Cost Unit Correctness</a:t>
            </a:r>
          </a:p>
        </p:txBody>
      </p:sp>
      <p:sp>
        <p:nvSpPr>
          <p:cNvPr id="21" name="TextBox 20"/>
          <p:cNvSpPr txBox="1"/>
          <p:nvPr/>
        </p:nvSpPr>
        <p:spPr>
          <a:xfrm>
            <a:off x="6583680" y="2459736"/>
            <a:ext cx="5623560" cy="438912"/>
          </a:xfrm>
          <a:prstGeom prst="rect">
            <a:avLst/>
          </a:prstGeom>
          <a:noFill/>
        </p:spPr>
        <p:txBody>
          <a:bodyPr wrap="square">
            <a:spAutoFit/>
          </a:bodyPr>
          <a:lstStyle/>
          <a:p/>
          <a:p>
            <a:pPr algn="l">
              <a:spcBef>
                <a:spcPts val="0"/>
              </a:spcBef>
              <a:spcAft>
                <a:spcPts val="0"/>
              </a:spcAft>
            </a:pPr>
            <a:r>
              <a:rPr sz="1000" b="0" i="0">
                <a:solidFill>
                  <a:srgbClr val="B0C4D8"/>
                </a:solidFill>
              </a:rPr>
              <a:t>adverse_bps in bps units, applied as ratio/10000 — test_adverse_bps_scaling</a:t>
            </a:r>
          </a:p>
        </p:txBody>
      </p:sp>
      <p:sp>
        <p:nvSpPr>
          <p:cNvPr id="22" name="Rectangle 21"/>
          <p:cNvSpPr/>
          <p:nvPr/>
        </p:nvSpPr>
        <p:spPr>
          <a:xfrm>
            <a:off x="182880" y="2944368"/>
            <a:ext cx="11825935" cy="530352"/>
          </a:xfrm>
          <a:prstGeom prst="rect">
            <a:avLst/>
          </a:prstGeom>
          <a:solidFill>
            <a:srgbClr val="0F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4320" y="2990088"/>
            <a:ext cx="1874520" cy="438912"/>
          </a:xfrm>
          <a:prstGeom prst="rect">
            <a:avLst/>
          </a:prstGeom>
          <a:noFill/>
        </p:spPr>
        <p:txBody>
          <a:bodyPr wrap="square">
            <a:spAutoFit/>
          </a:bodyPr>
          <a:lstStyle/>
          <a:p/>
          <a:p>
            <a:pPr algn="l">
              <a:spcBef>
                <a:spcPts val="0"/>
              </a:spcBef>
              <a:spcAft>
                <a:spcPts val="0"/>
              </a:spcAft>
            </a:pPr>
            <a:r>
              <a:rPr sz="1100" b="1" i="0">
                <a:solidFill>
                  <a:srgbClr val="00D4FF"/>
                </a:solidFill>
              </a:rPr>
              <a:t>DAT-05</a:t>
            </a:r>
          </a:p>
        </p:txBody>
      </p:sp>
      <p:sp>
        <p:nvSpPr>
          <p:cNvPr id="24" name="TextBox 23"/>
          <p:cNvSpPr txBox="1"/>
          <p:nvPr/>
        </p:nvSpPr>
        <p:spPr>
          <a:xfrm>
            <a:off x="2377440" y="2990088"/>
            <a:ext cx="3977640" cy="438912"/>
          </a:xfrm>
          <a:prstGeom prst="rect">
            <a:avLst/>
          </a:prstGeom>
          <a:noFill/>
        </p:spPr>
        <p:txBody>
          <a:bodyPr wrap="square">
            <a:spAutoFit/>
          </a:bodyPr>
          <a:lstStyle/>
          <a:p/>
          <a:p>
            <a:pPr algn="l">
              <a:spcBef>
                <a:spcPts val="0"/>
              </a:spcBef>
              <a:spcAft>
                <a:spcPts val="0"/>
              </a:spcAft>
            </a:pPr>
            <a:r>
              <a:rPr sz="1100" b="0" i="0">
                <a:solidFill>
                  <a:srgbClr val="FFFFFF"/>
                </a:solidFill>
              </a:rPr>
              <a:t>Schema Stability</a:t>
            </a:r>
          </a:p>
        </p:txBody>
      </p:sp>
      <p:sp>
        <p:nvSpPr>
          <p:cNvPr id="25" name="TextBox 24"/>
          <p:cNvSpPr txBox="1"/>
          <p:nvPr/>
        </p:nvSpPr>
        <p:spPr>
          <a:xfrm>
            <a:off x="6583680" y="2990088"/>
            <a:ext cx="5623560" cy="438912"/>
          </a:xfrm>
          <a:prstGeom prst="rect">
            <a:avLst/>
          </a:prstGeom>
          <a:noFill/>
        </p:spPr>
        <p:txBody>
          <a:bodyPr wrap="square">
            <a:spAutoFit/>
          </a:bodyPr>
          <a:lstStyle/>
          <a:p/>
          <a:p>
            <a:pPr algn="l">
              <a:spcBef>
                <a:spcPts val="0"/>
              </a:spcBef>
              <a:spcAft>
                <a:spcPts val="0"/>
              </a:spcAft>
            </a:pPr>
            <a:r>
              <a:rPr sz="1000" b="0" i="0">
                <a:solidFill>
                  <a:srgbClr val="B0C4D8"/>
                </a:solidFill>
              </a:rPr>
              <a:t>Additive-only JSONL changes: no renames, no removals ever</a:t>
            </a:r>
          </a:p>
        </p:txBody>
      </p:sp>
      <p:sp>
        <p:nvSpPr>
          <p:cNvPr id="26" name="Rectangle 25"/>
          <p:cNvSpPr/>
          <p:nvPr/>
        </p:nvSpPr>
        <p:spPr>
          <a:xfrm>
            <a:off x="182880" y="3474720"/>
            <a:ext cx="11825935" cy="530352"/>
          </a:xfrm>
          <a:prstGeom prst="rect">
            <a:avLst/>
          </a:prstGeom>
          <a:solidFill>
            <a:srgbClr val="142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4320" y="3520440"/>
            <a:ext cx="1874520" cy="438912"/>
          </a:xfrm>
          <a:prstGeom prst="rect">
            <a:avLst/>
          </a:prstGeom>
          <a:noFill/>
        </p:spPr>
        <p:txBody>
          <a:bodyPr wrap="square">
            <a:spAutoFit/>
          </a:bodyPr>
          <a:lstStyle/>
          <a:p/>
          <a:p>
            <a:pPr algn="l">
              <a:spcBef>
                <a:spcPts val="0"/>
              </a:spcBef>
              <a:spcAft>
                <a:spcPts val="0"/>
              </a:spcAft>
            </a:pPr>
            <a:r>
              <a:rPr sz="1100" b="1" i="0">
                <a:solidFill>
                  <a:srgbClr val="00D4FF"/>
                </a:solidFill>
              </a:rPr>
              <a:t>VAL-01</a:t>
            </a:r>
          </a:p>
        </p:txBody>
      </p:sp>
      <p:sp>
        <p:nvSpPr>
          <p:cNvPr id="28" name="TextBox 27"/>
          <p:cNvSpPr txBox="1"/>
          <p:nvPr/>
        </p:nvSpPr>
        <p:spPr>
          <a:xfrm>
            <a:off x="2377440" y="3520440"/>
            <a:ext cx="3977640" cy="438912"/>
          </a:xfrm>
          <a:prstGeom prst="rect">
            <a:avLst/>
          </a:prstGeom>
          <a:noFill/>
        </p:spPr>
        <p:txBody>
          <a:bodyPr wrap="square">
            <a:spAutoFit/>
          </a:bodyPr>
          <a:lstStyle/>
          <a:p/>
          <a:p>
            <a:pPr algn="l">
              <a:spcBef>
                <a:spcPts val="0"/>
              </a:spcBef>
              <a:spcAft>
                <a:spcPts val="0"/>
              </a:spcAft>
            </a:pPr>
            <a:r>
              <a:rPr sz="1100" b="0" i="0">
                <a:solidFill>
                  <a:srgbClr val="FFFFFF"/>
                </a:solidFill>
              </a:rPr>
              <a:t>True Forward Splits</a:t>
            </a:r>
          </a:p>
        </p:txBody>
      </p:sp>
      <p:sp>
        <p:nvSpPr>
          <p:cNvPr id="29" name="TextBox 28"/>
          <p:cNvSpPr txBox="1"/>
          <p:nvPr/>
        </p:nvSpPr>
        <p:spPr>
          <a:xfrm>
            <a:off x="6583680" y="3520440"/>
            <a:ext cx="5623560" cy="438912"/>
          </a:xfrm>
          <a:prstGeom prst="rect">
            <a:avLst/>
          </a:prstGeom>
          <a:noFill/>
        </p:spPr>
        <p:txBody>
          <a:bodyPr wrap="square">
            <a:spAutoFit/>
          </a:bodyPr>
          <a:lstStyle/>
          <a:p/>
          <a:p>
            <a:pPr algn="l">
              <a:spcBef>
                <a:spcPts val="0"/>
              </a:spcBef>
              <a:spcAft>
                <a:spcPts val="0"/>
              </a:spcAft>
            </a:pPr>
            <a:r>
              <a:rPr sz="1000" b="0" i="0">
                <a:solidFill>
                  <a:srgbClr val="B0C4D8"/>
                </a:solidFill>
              </a:rPr>
              <a:t>Validation window never overlaps training window — enforced by split_ranges()</a:t>
            </a:r>
          </a:p>
        </p:txBody>
      </p:sp>
      <p:sp>
        <p:nvSpPr>
          <p:cNvPr id="30" name="Rectangle 29"/>
          <p:cNvSpPr/>
          <p:nvPr/>
        </p:nvSpPr>
        <p:spPr>
          <a:xfrm>
            <a:off x="182880" y="4005072"/>
            <a:ext cx="11825935" cy="530352"/>
          </a:xfrm>
          <a:prstGeom prst="rect">
            <a:avLst/>
          </a:prstGeom>
          <a:solidFill>
            <a:srgbClr val="0F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74320" y="4050792"/>
            <a:ext cx="1874520" cy="438912"/>
          </a:xfrm>
          <a:prstGeom prst="rect">
            <a:avLst/>
          </a:prstGeom>
          <a:noFill/>
        </p:spPr>
        <p:txBody>
          <a:bodyPr wrap="square">
            <a:spAutoFit/>
          </a:bodyPr>
          <a:lstStyle/>
          <a:p/>
          <a:p>
            <a:pPr algn="l">
              <a:spcBef>
                <a:spcPts val="0"/>
              </a:spcBef>
              <a:spcAft>
                <a:spcPts val="0"/>
              </a:spcAft>
            </a:pPr>
            <a:r>
              <a:rPr sz="1100" b="1" i="0">
                <a:solidFill>
                  <a:srgbClr val="00D4FF"/>
                </a:solidFill>
              </a:rPr>
              <a:t>VAL-02</a:t>
            </a:r>
          </a:p>
        </p:txBody>
      </p:sp>
      <p:sp>
        <p:nvSpPr>
          <p:cNvPr id="32" name="TextBox 31"/>
          <p:cNvSpPr txBox="1"/>
          <p:nvPr/>
        </p:nvSpPr>
        <p:spPr>
          <a:xfrm>
            <a:off x="2377440" y="4050792"/>
            <a:ext cx="3977640" cy="438912"/>
          </a:xfrm>
          <a:prstGeom prst="rect">
            <a:avLst/>
          </a:prstGeom>
          <a:noFill/>
        </p:spPr>
        <p:txBody>
          <a:bodyPr wrap="square">
            <a:spAutoFit/>
          </a:bodyPr>
          <a:lstStyle/>
          <a:p/>
          <a:p>
            <a:pPr algn="l">
              <a:spcBef>
                <a:spcPts val="0"/>
              </a:spcBef>
              <a:spcAft>
                <a:spcPts val="0"/>
              </a:spcAft>
            </a:pPr>
            <a:r>
              <a:rPr sz="1100" b="0" i="0">
                <a:solidFill>
                  <a:srgbClr val="FFFFFF"/>
                </a:solidFill>
              </a:rPr>
              <a:t>Ranking Reproducibility</a:t>
            </a:r>
          </a:p>
        </p:txBody>
      </p:sp>
      <p:sp>
        <p:nvSpPr>
          <p:cNvPr id="33" name="TextBox 32"/>
          <p:cNvSpPr txBox="1"/>
          <p:nvPr/>
        </p:nvSpPr>
        <p:spPr>
          <a:xfrm>
            <a:off x="6583680" y="4050792"/>
            <a:ext cx="5623560" cy="438912"/>
          </a:xfrm>
          <a:prstGeom prst="rect">
            <a:avLst/>
          </a:prstGeom>
          <a:noFill/>
        </p:spPr>
        <p:txBody>
          <a:bodyPr wrap="square">
            <a:spAutoFit/>
          </a:bodyPr>
          <a:lstStyle/>
          <a:p/>
          <a:p>
            <a:pPr algn="l">
              <a:spcBef>
                <a:spcPts val="0"/>
              </a:spcBef>
              <a:spcAft>
                <a:spcPts val="0"/>
              </a:spcAft>
            </a:pPr>
            <a:r>
              <a:rPr sz="1000" b="0" i="0">
                <a:solidFill>
                  <a:srgbClr val="B0C4D8"/>
                </a:solidFill>
              </a:rPr>
              <a:t>Same seed → same NPA → same rank — verified by determinism tests</a:t>
            </a:r>
          </a:p>
        </p:txBody>
      </p:sp>
      <p:sp>
        <p:nvSpPr>
          <p:cNvPr id="34" name="Rectangle 33"/>
          <p:cNvSpPr/>
          <p:nvPr/>
        </p:nvSpPr>
        <p:spPr>
          <a:xfrm>
            <a:off x="182880" y="4535424"/>
            <a:ext cx="11825935" cy="530352"/>
          </a:xfrm>
          <a:prstGeom prst="rect">
            <a:avLst/>
          </a:prstGeom>
          <a:solidFill>
            <a:srgbClr val="142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74320" y="4581144"/>
            <a:ext cx="1874520" cy="438912"/>
          </a:xfrm>
          <a:prstGeom prst="rect">
            <a:avLst/>
          </a:prstGeom>
          <a:noFill/>
        </p:spPr>
        <p:txBody>
          <a:bodyPr wrap="square">
            <a:spAutoFit/>
          </a:bodyPr>
          <a:lstStyle/>
          <a:p/>
          <a:p>
            <a:pPr algn="l">
              <a:spcBef>
                <a:spcPts val="0"/>
              </a:spcBef>
              <a:spcAft>
                <a:spcPts val="0"/>
              </a:spcAft>
            </a:pPr>
            <a:r>
              <a:rPr sz="1100" b="1" i="0">
                <a:solidFill>
                  <a:srgbClr val="00D4FF"/>
                </a:solidFill>
              </a:rPr>
              <a:t>VAL-03</a:t>
            </a:r>
          </a:p>
        </p:txBody>
      </p:sp>
      <p:sp>
        <p:nvSpPr>
          <p:cNvPr id="36" name="TextBox 35"/>
          <p:cNvSpPr txBox="1"/>
          <p:nvPr/>
        </p:nvSpPr>
        <p:spPr>
          <a:xfrm>
            <a:off x="2377440" y="4581144"/>
            <a:ext cx="3977640" cy="438912"/>
          </a:xfrm>
          <a:prstGeom prst="rect">
            <a:avLst/>
          </a:prstGeom>
          <a:noFill/>
        </p:spPr>
        <p:txBody>
          <a:bodyPr wrap="square">
            <a:spAutoFit/>
          </a:bodyPr>
          <a:lstStyle/>
          <a:p/>
          <a:p>
            <a:pPr algn="l">
              <a:spcBef>
                <a:spcPts val="0"/>
              </a:spcBef>
              <a:spcAft>
                <a:spcPts val="0"/>
              </a:spcAft>
            </a:pPr>
            <a:r>
              <a:rPr sz="1100" b="0" i="0">
                <a:solidFill>
                  <a:srgbClr val="FFFFFF"/>
                </a:solidFill>
              </a:rPr>
              <a:t>Candidate Parsing</a:t>
            </a:r>
          </a:p>
        </p:txBody>
      </p:sp>
      <p:sp>
        <p:nvSpPr>
          <p:cNvPr id="37" name="TextBox 36"/>
          <p:cNvSpPr txBox="1"/>
          <p:nvPr/>
        </p:nvSpPr>
        <p:spPr>
          <a:xfrm>
            <a:off x="6583680" y="4581144"/>
            <a:ext cx="5623560" cy="438912"/>
          </a:xfrm>
          <a:prstGeom prst="rect">
            <a:avLst/>
          </a:prstGeom>
          <a:noFill/>
        </p:spPr>
        <p:txBody>
          <a:bodyPr wrap="square">
            <a:spAutoFit/>
          </a:bodyPr>
          <a:lstStyle/>
          <a:p/>
          <a:p>
            <a:pPr algn="l">
              <a:spcBef>
                <a:spcPts val="0"/>
              </a:spcBef>
              <a:spcAft>
                <a:spcPts val="0"/>
              </a:spcAft>
            </a:pPr>
            <a:r>
              <a:rPr sz="1000" b="0" i="0">
                <a:solidFill>
                  <a:srgbClr val="B0C4D8"/>
                </a:solidFill>
              </a:rPr>
              <a:t>Parser handles alias columns, deduplication, YES/true/1 pass values</a:t>
            </a:r>
          </a:p>
        </p:txBody>
      </p:sp>
      <p:sp>
        <p:nvSpPr>
          <p:cNvPr id="38" name="Rectangle 37"/>
          <p:cNvSpPr/>
          <p:nvPr/>
        </p:nvSpPr>
        <p:spPr>
          <a:xfrm>
            <a:off x="182880" y="5065776"/>
            <a:ext cx="11825935" cy="530352"/>
          </a:xfrm>
          <a:prstGeom prst="rect">
            <a:avLst/>
          </a:prstGeom>
          <a:solidFill>
            <a:srgbClr val="0F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74320" y="5111496"/>
            <a:ext cx="1874520" cy="438912"/>
          </a:xfrm>
          <a:prstGeom prst="rect">
            <a:avLst/>
          </a:prstGeom>
          <a:noFill/>
        </p:spPr>
        <p:txBody>
          <a:bodyPr wrap="square">
            <a:spAutoFit/>
          </a:bodyPr>
          <a:lstStyle/>
          <a:p/>
          <a:p>
            <a:pPr algn="l">
              <a:spcBef>
                <a:spcPts val="0"/>
              </a:spcBef>
              <a:spcAft>
                <a:spcPts val="0"/>
              </a:spcAft>
            </a:pPr>
            <a:r>
              <a:rPr sz="1100" b="1" i="0">
                <a:solidFill>
                  <a:srgbClr val="00D4FF"/>
                </a:solidFill>
              </a:rPr>
              <a:t>SAF-01</a:t>
            </a:r>
          </a:p>
        </p:txBody>
      </p:sp>
      <p:sp>
        <p:nvSpPr>
          <p:cNvPr id="40" name="TextBox 39"/>
          <p:cNvSpPr txBox="1"/>
          <p:nvPr/>
        </p:nvSpPr>
        <p:spPr>
          <a:xfrm>
            <a:off x="2377440" y="5111496"/>
            <a:ext cx="3977640" cy="438912"/>
          </a:xfrm>
          <a:prstGeom prst="rect">
            <a:avLst/>
          </a:prstGeom>
          <a:noFill/>
        </p:spPr>
        <p:txBody>
          <a:bodyPr wrap="square">
            <a:spAutoFit/>
          </a:bodyPr>
          <a:lstStyle/>
          <a:p/>
          <a:p>
            <a:pPr algn="l">
              <a:spcBef>
                <a:spcPts val="0"/>
              </a:spcBef>
              <a:spcAft>
                <a:spcPts val="0"/>
              </a:spcAft>
            </a:pPr>
            <a:r>
              <a:rPr sz="1100" b="0" i="0">
                <a:solidFill>
                  <a:srgbClr val="FFFFFF"/>
                </a:solidFill>
              </a:rPr>
              <a:t>Exit Privilege</a:t>
            </a:r>
          </a:p>
        </p:txBody>
      </p:sp>
      <p:sp>
        <p:nvSpPr>
          <p:cNvPr id="41" name="TextBox 40"/>
          <p:cNvSpPr txBox="1"/>
          <p:nvPr/>
        </p:nvSpPr>
        <p:spPr>
          <a:xfrm>
            <a:off x="6583680" y="5111496"/>
            <a:ext cx="5623560" cy="438912"/>
          </a:xfrm>
          <a:prstGeom prst="rect">
            <a:avLst/>
          </a:prstGeom>
          <a:noFill/>
        </p:spPr>
        <p:txBody>
          <a:bodyPr wrap="square">
            <a:spAutoFit/>
          </a:bodyPr>
          <a:lstStyle/>
          <a:p/>
          <a:p>
            <a:pPr algn="l">
              <a:spcBef>
                <a:spcPts val="0"/>
              </a:spcBef>
              <a:spcAft>
                <a:spcPts val="0"/>
              </a:spcAft>
            </a:pPr>
            <a:r>
              <a:rPr sz="1000" b="0" i="0">
                <a:solidFill>
                  <a:srgbClr val="B0C4D8"/>
                </a:solidFill>
              </a:rPr>
              <a:t>reduce_only orders bypass all entry gates — never blocked by kill-switch</a:t>
            </a:r>
          </a:p>
        </p:txBody>
      </p:sp>
      <p:sp>
        <p:nvSpPr>
          <p:cNvPr id="42" name="Rectangle 41"/>
          <p:cNvSpPr/>
          <p:nvPr/>
        </p:nvSpPr>
        <p:spPr>
          <a:xfrm>
            <a:off x="182880" y="5596128"/>
            <a:ext cx="11825935" cy="530352"/>
          </a:xfrm>
          <a:prstGeom prst="rect">
            <a:avLst/>
          </a:prstGeom>
          <a:solidFill>
            <a:srgbClr val="142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74320" y="5641848"/>
            <a:ext cx="1874520" cy="438912"/>
          </a:xfrm>
          <a:prstGeom prst="rect">
            <a:avLst/>
          </a:prstGeom>
          <a:noFill/>
        </p:spPr>
        <p:txBody>
          <a:bodyPr wrap="square">
            <a:spAutoFit/>
          </a:bodyPr>
          <a:lstStyle/>
          <a:p/>
          <a:p>
            <a:pPr algn="l">
              <a:spcBef>
                <a:spcPts val="0"/>
              </a:spcBef>
              <a:spcAft>
                <a:spcPts val="0"/>
              </a:spcAft>
            </a:pPr>
            <a:r>
              <a:rPr sz="1100" b="1" i="0">
                <a:solidFill>
                  <a:srgbClr val="00D4FF"/>
                </a:solidFill>
              </a:rPr>
              <a:t>SAF-02</a:t>
            </a:r>
          </a:p>
        </p:txBody>
      </p:sp>
      <p:sp>
        <p:nvSpPr>
          <p:cNvPr id="44" name="TextBox 43"/>
          <p:cNvSpPr txBox="1"/>
          <p:nvPr/>
        </p:nvSpPr>
        <p:spPr>
          <a:xfrm>
            <a:off x="2377440" y="5641848"/>
            <a:ext cx="3977640" cy="438912"/>
          </a:xfrm>
          <a:prstGeom prst="rect">
            <a:avLst/>
          </a:prstGeom>
          <a:noFill/>
        </p:spPr>
        <p:txBody>
          <a:bodyPr wrap="square">
            <a:spAutoFit/>
          </a:bodyPr>
          <a:lstStyle/>
          <a:p/>
          <a:p>
            <a:pPr algn="l">
              <a:spcBef>
                <a:spcPts val="0"/>
              </a:spcBef>
              <a:spcAft>
                <a:spcPts val="0"/>
              </a:spcAft>
            </a:pPr>
            <a:r>
              <a:rPr sz="1100" b="0" i="0">
                <a:solidFill>
                  <a:srgbClr val="FFFFFF"/>
                </a:solidFill>
              </a:rPr>
              <a:t>Bounded Retries</a:t>
            </a:r>
          </a:p>
        </p:txBody>
      </p:sp>
      <p:sp>
        <p:nvSpPr>
          <p:cNvPr id="45" name="TextBox 44"/>
          <p:cNvSpPr txBox="1"/>
          <p:nvPr/>
        </p:nvSpPr>
        <p:spPr>
          <a:xfrm>
            <a:off x="6583680" y="5641848"/>
            <a:ext cx="5623560" cy="438912"/>
          </a:xfrm>
          <a:prstGeom prst="rect">
            <a:avLst/>
          </a:prstGeom>
          <a:noFill/>
        </p:spPr>
        <p:txBody>
          <a:bodyPr wrap="square">
            <a:spAutoFit/>
          </a:bodyPr>
          <a:lstStyle/>
          <a:p/>
          <a:p>
            <a:pPr algn="l">
              <a:spcBef>
                <a:spcPts val="0"/>
              </a:spcBef>
              <a:spcAft>
                <a:spcPts val="0"/>
              </a:spcAft>
            </a:pPr>
            <a:r>
              <a:rPr sz="1000" b="0" i="0">
                <a:solidFill>
                  <a:srgbClr val="B0C4D8"/>
                </a:solidFill>
              </a:rPr>
              <a:t>No infinite retry loops — errors classified retryable/fatal/idempotent</a:t>
            </a:r>
          </a:p>
        </p:txBody>
      </p:sp>
      <p:sp>
        <p:nvSpPr>
          <p:cNvPr id="46" name="Rectangle 45"/>
          <p:cNvSpPr/>
          <p:nvPr/>
        </p:nvSpPr>
        <p:spPr>
          <a:xfrm>
            <a:off x="0" y="6812280"/>
            <a:ext cx="12191695" cy="45720"/>
          </a:xfrm>
          <a:prstGeom prst="rect">
            <a:avLst/>
          </a:prstGeom>
          <a:solidFill>
            <a:srgbClr val="008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F1F3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12191695" cy="658368"/>
          </a:xfrm>
          <a:prstGeom prst="rect">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10789920" cy="594360"/>
          </a:xfrm>
          <a:prstGeom prst="rect">
            <a:avLst/>
          </a:prstGeom>
          <a:noFill/>
        </p:spPr>
        <p:txBody>
          <a:bodyPr wrap="square">
            <a:spAutoFit/>
          </a:bodyPr>
          <a:lstStyle/>
          <a:p/>
          <a:p>
            <a:pPr algn="l">
              <a:spcBef>
                <a:spcPts val="0"/>
              </a:spcBef>
              <a:spcAft>
                <a:spcPts val="0"/>
              </a:spcAft>
            </a:pPr>
            <a:r>
              <a:rPr sz="2000" b="1" i="0">
                <a:solidFill>
                  <a:srgbClr val="FFFFFF"/>
                </a:solidFill>
              </a:rPr>
              <a:t>Test Architecture — 79 Executable Specifications</a:t>
            </a:r>
          </a:p>
        </p:txBody>
      </p:sp>
      <p:sp>
        <p:nvSpPr>
          <p:cNvPr id="5" name="TextBox 4"/>
          <p:cNvSpPr txBox="1"/>
          <p:nvPr/>
        </p:nvSpPr>
        <p:spPr>
          <a:xfrm>
            <a:off x="11155680" y="91440"/>
            <a:ext cx="914400" cy="457200"/>
          </a:xfrm>
          <a:prstGeom prst="rect">
            <a:avLst/>
          </a:prstGeom>
          <a:noFill/>
        </p:spPr>
        <p:txBody>
          <a:bodyPr wrap="square">
            <a:spAutoFit/>
          </a:bodyPr>
          <a:lstStyle/>
          <a:p/>
          <a:p>
            <a:pPr algn="r">
              <a:spcBef>
                <a:spcPts val="0"/>
              </a:spcBef>
              <a:spcAft>
                <a:spcPts val="0"/>
              </a:spcAft>
            </a:pPr>
            <a:r>
              <a:rPr sz="800" b="0" i="0">
                <a:solidFill>
                  <a:srgbClr val="00D4FF"/>
                </a:solidFill>
              </a:rPr>
              <a:t>7.2</a:t>
            </a:r>
          </a:p>
        </p:txBody>
      </p:sp>
      <p:sp>
        <p:nvSpPr>
          <p:cNvPr id="6" name="TextBox 5"/>
          <p:cNvSpPr txBox="1"/>
          <p:nvPr/>
        </p:nvSpPr>
        <p:spPr>
          <a:xfrm>
            <a:off x="274320" y="804672"/>
            <a:ext cx="6949440" cy="5760720"/>
          </a:xfrm>
          <a:prstGeom prst="rect">
            <a:avLst/>
          </a:prstGeom>
          <a:noFill/>
        </p:spPr>
        <p:txBody>
          <a:bodyPr wrap="square">
            <a:spAutoFit/>
          </a:bodyPr>
          <a:lstStyle/>
          <a:p>
            <a:pPr algn="l">
              <a:spcBef>
                <a:spcPts val="300"/>
              </a:spcBef>
              <a:spcAft>
                <a:spcPts val="200"/>
              </a:spcAft>
            </a:pPr>
            <a:r>
              <a:rPr sz="1300" b="1">
                <a:solidFill>
                  <a:srgbClr val="00D4FF"/>
                </a:solidFill>
              </a:rPr>
              <a:t>▸ </a:t>
            </a:r>
            <a:r>
              <a:rPr sz="1300" b="0">
                <a:solidFill>
                  <a:srgbClr val="FFFFFF"/>
                </a:solidFill>
              </a:rPr>
              <a:t>79 tests in tests/ directory — all pass as of 2026-02-20</a:t>
            </a:r>
          </a:p>
          <a:p>
            <a:pPr algn="l">
              <a:spcBef>
                <a:spcPts val="300"/>
              </a:spcBef>
              <a:spcAft>
                <a:spcPts val="200"/>
              </a:spcAft>
            </a:pPr>
            <a:r>
              <a:rPr sz="1300" b="1">
                <a:solidFill>
                  <a:srgbClr val="00D4FF"/>
                </a:solidFill>
              </a:rPr>
              <a:t>▸ </a:t>
            </a:r>
            <a:r>
              <a:rPr sz="1300" b="0">
                <a:solidFill>
                  <a:srgbClr val="FFFFFF"/>
                </a:solidFill>
              </a:rPr>
              <a:t>Framework: pytest with monkeypatching for full dependency isolation</a:t>
            </a:r>
          </a:p>
          <a:p>
            <a:pPr algn="l">
              <a:spcBef>
                <a:spcPts val="300"/>
              </a:spcBef>
              <a:spcAft>
                <a:spcPts val="200"/>
              </a:spcAft>
            </a:pPr>
            <a:r>
              <a:rPr sz="1300" b="1">
                <a:solidFill>
                  <a:srgbClr val="00D4FF"/>
                </a:solidFill>
              </a:rPr>
              <a:t>▸ </a:t>
            </a:r>
            <a:r>
              <a:rPr sz="1300" b="0">
                <a:solidFill>
                  <a:srgbClr val="FFFFFF"/>
                </a:solidFill>
              </a:rPr>
              <a:t>Isolation pattern: patch _load_symbol_trades_and_marks, build_bucket_features, simulate_rule_trades</a:t>
            </a:r>
          </a:p>
          <a:p>
            <a:pPr algn="l">
              <a:spcBef>
                <a:spcPts val="300"/>
              </a:spcBef>
              <a:spcAft>
                <a:spcPts val="200"/>
              </a:spcAft>
            </a:pPr>
            <a:r>
              <a:rPr sz="1300" b="1">
                <a:solidFill>
                  <a:srgbClr val="00D4FF"/>
                </a:solidFill>
              </a:rPr>
              <a:t>▸ </a:t>
            </a:r>
            <a:r>
              <a:rPr sz="1300" b="0">
                <a:solidFill>
                  <a:srgbClr val="FFFFFF"/>
                </a:solidFill>
              </a:rPr>
              <a:t>Tests are deterministic: fixed seeds, fixed mock outputs, no time.time() in hot paths</a:t>
            </a:r>
          </a:p>
          <a:p>
            <a:pPr algn="l">
              <a:spcBef>
                <a:spcPts val="300"/>
              </a:spcBef>
              <a:spcAft>
                <a:spcPts val="200"/>
              </a:spcAft>
            </a:pPr>
            <a:r>
              <a:rPr sz="1300" b="1">
                <a:solidFill>
                  <a:srgbClr val="00D4FF"/>
                </a:solidFill>
              </a:rPr>
              <a:t>▸ </a:t>
            </a:r>
            <a:r>
              <a:rPr sz="1300" b="0">
                <a:solidFill>
                  <a:srgbClr val="FFFFFF"/>
                </a:solidFill>
              </a:rPr>
              <a:t>New tests added this session: test_npa_cost_applied_to_fills_only, test_attempt_gate_reduces_n_attempts</a:t>
            </a:r>
          </a:p>
          <a:p>
            <a:pPr lvl="1" algn="l">
              <a:spcBef>
                <a:spcPts val="100"/>
              </a:spcBef>
              <a:spcAft>
                <a:spcPts val="200"/>
              </a:spcAft>
            </a:pPr>
            <a:r>
              <a:rPr sz="1100" b="0">
                <a:solidFill>
                  <a:srgbClr val="00FFB3"/>
                </a:solidFill>
              </a:rPr>
              <a:t>  · </a:t>
            </a:r>
            <a:r>
              <a:rPr sz="1100" b="0">
                <a:solidFill>
                  <a:srgbClr val="B0C4D8"/>
                </a:solidFill>
              </a:rPr>
              <a:t>test_npa_cost_applied_to_fills_only: assert all unfilled attempts have net_return==0.0 exactly</a:t>
            </a:r>
          </a:p>
          <a:p>
            <a:pPr lvl="1" algn="l">
              <a:spcBef>
                <a:spcPts val="100"/>
              </a:spcBef>
              <a:spcAft>
                <a:spcPts val="200"/>
              </a:spcAft>
            </a:pPr>
            <a:r>
              <a:rPr sz="1100" b="0">
                <a:solidFill>
                  <a:srgbClr val="00FFB3"/>
                </a:solidFill>
              </a:rPr>
              <a:t>  · </a:t>
            </a:r>
            <a:r>
              <a:rPr sz="1100" b="0">
                <a:solidFill>
                  <a:srgbClr val="B0C4D8"/>
                </a:solidFill>
              </a:rPr>
              <a:t>test_attempt_gate_reduces_n_attempts: assert n_gated &lt; n_no_gate and gate_blocked &gt; 0</a:t>
            </a:r>
          </a:p>
        </p:txBody>
      </p:sp>
      <p:sp>
        <p:nvSpPr>
          <p:cNvPr id="7" name="Rectangle 6"/>
          <p:cNvSpPr/>
          <p:nvPr/>
        </p:nvSpPr>
        <p:spPr>
          <a:xfrm>
            <a:off x="7406640" y="804672"/>
            <a:ext cx="4572000" cy="5760720"/>
          </a:xfrm>
          <a:prstGeom prst="rect">
            <a:avLst/>
          </a:prstGeom>
          <a:solidFill>
            <a:srgbClr val="153045"/>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00D4FF"/>
                </a:solidFill>
              </a:rPr>
              <a:t>[ VISUAL ]</a:t>
            </a:r>
          </a:p>
          <a:p>
            <a:pPr algn="ctr"/>
            <a:r>
              <a:rPr sz="700" i="1">
                <a:solidFill>
                  <a:srgbClr val="B0C4D8"/>
                </a:solidFill>
              </a:rPr>
              <a:t>Test coverage matrix. Rows=components (cost_model/fill_sim/validator/ranker/gate). Columns=invariant types (DAT-01 through VAL-03, EXE-01 through SAF-02). Cells: filled=tested, empty=not tested, half=partial. Test count annotation per row. Footer: '79 passing — 0 failing'.</a:t>
            </a:r>
          </a:p>
        </p:txBody>
      </p:sp>
      <p:sp>
        <p:nvSpPr>
          <p:cNvPr id="8" name="Rectangle 7"/>
          <p:cNvSpPr/>
          <p:nvPr/>
        </p:nvSpPr>
        <p:spPr>
          <a:xfrm>
            <a:off x="0" y="6812280"/>
            <a:ext cx="12191695" cy="45720"/>
          </a:xfrm>
          <a:prstGeom prst="rect">
            <a:avLst/>
          </a:prstGeom>
          <a:solidFill>
            <a:srgbClr val="008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A3A5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371600" cy="1371600"/>
          </a:xfrm>
          <a:prstGeom prst="rect">
            <a:avLst/>
          </a:prstGeom>
          <a:noFill/>
        </p:spPr>
        <p:txBody>
          <a:bodyPr wrap="square">
            <a:spAutoFit/>
          </a:bodyPr>
          <a:lstStyle/>
          <a:p/>
          <a:p>
            <a:pPr algn="l">
              <a:spcBef>
                <a:spcPts val="0"/>
              </a:spcBef>
              <a:spcAft>
                <a:spcPts val="0"/>
              </a:spcAft>
            </a:pPr>
            <a:r>
              <a:rPr sz="7200" b="1" i="0">
                <a:solidFill>
                  <a:srgbClr val="00D4FF"/>
                </a:solidFill>
              </a:rPr>
              <a:t>VIII</a:t>
            </a:r>
          </a:p>
        </p:txBody>
      </p:sp>
      <p:sp>
        <p:nvSpPr>
          <p:cNvPr id="5" name="TextBox 4"/>
          <p:cNvSpPr txBox="1"/>
          <p:nvPr/>
        </p:nvSpPr>
        <p:spPr>
          <a:xfrm>
            <a:off x="2011680" y="2011680"/>
            <a:ext cx="9601200" cy="2286000"/>
          </a:xfrm>
          <a:prstGeom prst="rect">
            <a:avLst/>
          </a:prstGeom>
          <a:noFill/>
        </p:spPr>
        <p:txBody>
          <a:bodyPr wrap="square">
            <a:spAutoFit/>
          </a:bodyPr>
          <a:lstStyle/>
          <a:p/>
          <a:p>
            <a:pPr algn="l">
              <a:spcBef>
                <a:spcPts val="0"/>
              </a:spcBef>
              <a:spcAft>
                <a:spcPts val="600"/>
              </a:spcAft>
            </a:pPr>
            <a:r>
              <a:rPr sz="3400" b="1" i="0">
                <a:solidFill>
                  <a:srgbClr val="FFFFFF"/>
                </a:solidFill>
              </a:rPr>
              <a:t>Current Findings and Reality Check</a:t>
            </a:r>
          </a:p>
          <a:p>
            <a:pPr algn="l">
              <a:spcBef>
                <a:spcPts val="0"/>
              </a:spcBef>
              <a:spcAft>
                <a:spcPts val="0"/>
              </a:spcAft>
            </a:pPr>
            <a:r>
              <a:rPr sz="1600" b="0" i="0">
                <a:solidFill>
                  <a:srgbClr val="B0C4D8"/>
                </a:solidFill>
              </a:rPr>
              <a:t>Honest Assessment of Present Alpha State</a:t>
            </a:r>
          </a:p>
        </p:txBody>
      </p:sp>
      <p:sp>
        <p:nvSpPr>
          <p:cNvPr id="6" name="Rectangle 5"/>
          <p:cNvSpPr/>
          <p:nvPr/>
        </p:nvSpPr>
        <p:spPr>
          <a:xfrm>
            <a:off x="2011680" y="1920240"/>
            <a:ext cx="36576" cy="2011680"/>
          </a:xfrm>
          <a:prstGeom prst="rect">
            <a:avLst/>
          </a:prstGeom>
          <a:solidFill>
            <a:srgbClr val="00FF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F1F3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12191695" cy="658368"/>
          </a:xfrm>
          <a:prstGeom prst="rect">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10789920" cy="594360"/>
          </a:xfrm>
          <a:prstGeom prst="rect">
            <a:avLst/>
          </a:prstGeom>
          <a:noFill/>
        </p:spPr>
        <p:txBody>
          <a:bodyPr wrap="square">
            <a:spAutoFit/>
          </a:bodyPr>
          <a:lstStyle/>
          <a:p/>
          <a:p>
            <a:pPr algn="l">
              <a:spcBef>
                <a:spcPts val="0"/>
              </a:spcBef>
              <a:spcAft>
                <a:spcPts val="0"/>
              </a:spcAft>
            </a:pPr>
            <a:r>
              <a:rPr sz="2000" b="1" i="0">
                <a:solidFill>
                  <a:srgbClr val="FFFFFF"/>
                </a:solidFill>
              </a:rPr>
              <a:t>Empirical Results — What the Data Actually Shows</a:t>
            </a:r>
          </a:p>
        </p:txBody>
      </p:sp>
      <p:sp>
        <p:nvSpPr>
          <p:cNvPr id="5" name="TextBox 4"/>
          <p:cNvSpPr txBox="1"/>
          <p:nvPr/>
        </p:nvSpPr>
        <p:spPr>
          <a:xfrm>
            <a:off x="11155680" y="91440"/>
            <a:ext cx="914400" cy="457200"/>
          </a:xfrm>
          <a:prstGeom prst="rect">
            <a:avLst/>
          </a:prstGeom>
          <a:noFill/>
        </p:spPr>
        <p:txBody>
          <a:bodyPr wrap="square">
            <a:spAutoFit/>
          </a:bodyPr>
          <a:lstStyle/>
          <a:p/>
          <a:p>
            <a:pPr algn="r">
              <a:spcBef>
                <a:spcPts val="0"/>
              </a:spcBef>
              <a:spcAft>
                <a:spcPts val="0"/>
              </a:spcAft>
            </a:pPr>
            <a:r>
              <a:rPr sz="800" b="0" i="0">
                <a:solidFill>
                  <a:srgbClr val="00D4FF"/>
                </a:solidFill>
              </a:rPr>
              <a:t>8.1</a:t>
            </a:r>
          </a:p>
        </p:txBody>
      </p:sp>
      <p:sp>
        <p:nvSpPr>
          <p:cNvPr id="6" name="TextBox 5"/>
          <p:cNvSpPr txBox="1"/>
          <p:nvPr/>
        </p:nvSpPr>
        <p:spPr>
          <a:xfrm>
            <a:off x="274320" y="804672"/>
            <a:ext cx="6949440" cy="5760720"/>
          </a:xfrm>
          <a:prstGeom prst="rect">
            <a:avLst/>
          </a:prstGeom>
          <a:noFill/>
        </p:spPr>
        <p:txBody>
          <a:bodyPr wrap="square">
            <a:spAutoFit/>
          </a:bodyPr>
          <a:lstStyle/>
          <a:p>
            <a:pPr algn="l">
              <a:spcBef>
                <a:spcPts val="300"/>
              </a:spcBef>
              <a:spcAft>
                <a:spcPts val="200"/>
              </a:spcAft>
            </a:pPr>
            <a:r>
              <a:rPr sz="1300" b="1">
                <a:solidFill>
                  <a:srgbClr val="00D4FF"/>
                </a:solidFill>
              </a:rPr>
              <a:t>▸ </a:t>
            </a:r>
            <a:r>
              <a:rPr sz="1300" b="0">
                <a:solidFill>
                  <a:srgbClr val="FFFFFF"/>
                </a:solidFill>
              </a:rPr>
              <a:t>Per-fill: filled_avg_net ≈ +2×10⁻⁵ to +4×10⁻⁵ at fee=0.5, adv=1.0 — marginal positive</a:t>
            </a:r>
          </a:p>
          <a:p>
            <a:pPr algn="l">
              <a:spcBef>
                <a:spcPts val="300"/>
              </a:spcBef>
              <a:spcAft>
                <a:spcPts val="200"/>
              </a:spcAft>
            </a:pPr>
            <a:r>
              <a:rPr sz="1300" b="1">
                <a:solidFill>
                  <a:srgbClr val="00D4FF"/>
                </a:solidFill>
              </a:rPr>
              <a:t>▸ </a:t>
            </a:r>
            <a:r>
              <a:rPr sz="1300" b="0">
                <a:solidFill>
                  <a:srgbClr val="FFFFFF"/>
                </a:solidFill>
              </a:rPr>
              <a:t>Per-attempt: net_per_attempt ≈ −6×10⁻⁵ to −1×10⁻⁴ at realistic conditions — consistently negative</a:t>
            </a:r>
          </a:p>
          <a:p>
            <a:pPr algn="l">
              <a:spcBef>
                <a:spcPts val="300"/>
              </a:spcBef>
              <a:spcAft>
                <a:spcPts val="200"/>
              </a:spcAft>
            </a:pPr>
            <a:r>
              <a:rPr sz="1300" b="1">
                <a:solidFill>
                  <a:srgbClr val="00D4FF"/>
                </a:solidFill>
              </a:rPr>
              <a:t>▸ </a:t>
            </a:r>
            <a:r>
              <a:rPr sz="1300" b="0">
                <a:solidFill>
                  <a:srgbClr val="FFFFFF"/>
                </a:solidFill>
              </a:rPr>
              <a:t>Attempt fill rate: ~50% — half of passive order attempts result in fills</a:t>
            </a:r>
          </a:p>
          <a:p>
            <a:pPr algn="l">
              <a:spcBef>
                <a:spcPts val="300"/>
              </a:spcBef>
              <a:spcAft>
                <a:spcPts val="200"/>
              </a:spcAft>
            </a:pPr>
            <a:r>
              <a:rPr sz="1300" b="1">
                <a:solidFill>
                  <a:srgbClr val="00D4FF"/>
                </a:solidFill>
              </a:rPr>
              <a:t>▸ </a:t>
            </a:r>
            <a:r>
              <a:rPr sz="1300" b="0">
                <a:solidFill>
                  <a:srgbClr val="FFFFFF"/>
                </a:solidFill>
              </a:rPr>
              <a:t>score = 0 for all ranked pockets: robustness gate fails at core conditions</a:t>
            </a:r>
          </a:p>
          <a:p>
            <a:pPr algn="l">
              <a:spcBef>
                <a:spcPts val="300"/>
              </a:spcBef>
              <a:spcAft>
                <a:spcPts val="200"/>
              </a:spcAft>
            </a:pPr>
            <a:r>
              <a:rPr sz="1300" b="1">
                <a:solidFill>
                  <a:srgbClr val="00D4FF"/>
                </a:solidFill>
              </a:rPr>
              <a:t>▸ </a:t>
            </a:r>
            <a:r>
              <a:rPr sz="1300" b="0">
                <a:solidFill>
                  <a:srgbClr val="FFFFFF"/>
                </a:solidFill>
              </a:rPr>
              <a:t>score_raw_core &gt; 0 for top pockets: per-fill edge exists at favorable fee conditions</a:t>
            </a:r>
          </a:p>
          <a:p>
            <a:pPr algn="l">
              <a:spcBef>
                <a:spcPts val="300"/>
              </a:spcBef>
              <a:spcAft>
                <a:spcPts val="200"/>
              </a:spcAft>
            </a:pPr>
            <a:r>
              <a:rPr sz="1300" b="1">
                <a:solidFill>
                  <a:srgbClr val="00D4FF"/>
                </a:solidFill>
              </a:rPr>
              <a:t>▸ </a:t>
            </a:r>
            <a:r>
              <a:rPr sz="1300" b="0">
                <a:solidFill>
                  <a:srgbClr val="FFFFFF"/>
                </a:solidFill>
              </a:rPr>
              <a:t>score_raw_stress &lt; 0 for all pockets: adverse selection stress inverts the edge</a:t>
            </a:r>
          </a:p>
          <a:p>
            <a:pPr lvl="1" algn="l">
              <a:spcBef>
                <a:spcPts val="100"/>
              </a:spcBef>
              <a:spcAft>
                <a:spcPts val="200"/>
              </a:spcAft>
            </a:pPr>
            <a:r>
              <a:rPr sz="1100" b="0">
                <a:solidFill>
                  <a:srgbClr val="00FFB3"/>
                </a:solidFill>
              </a:rPr>
              <a:t>  · </a:t>
            </a:r>
            <a:r>
              <a:rPr sz="1100" b="0">
                <a:solidFill>
                  <a:srgbClr val="B0C4D8"/>
                </a:solidFill>
              </a:rPr>
              <a:t>Interpretation: costs (fee + adverse) dominate per-fill gross returns</a:t>
            </a:r>
          </a:p>
          <a:p>
            <a:pPr lvl="1" algn="l">
              <a:spcBef>
                <a:spcPts val="100"/>
              </a:spcBef>
              <a:spcAft>
                <a:spcPts val="200"/>
              </a:spcAft>
            </a:pPr>
            <a:r>
              <a:rPr sz="1100" b="0">
                <a:solidFill>
                  <a:srgbClr val="00FFB3"/>
                </a:solidFill>
              </a:rPr>
              <a:t>  · </a:t>
            </a:r>
            <a:r>
              <a:rPr sz="1100" b="0">
                <a:solidFill>
                  <a:srgbClr val="B0C4D8"/>
                </a:solidFill>
              </a:rPr>
              <a:t>filled_avg_net ≈ 0.4 bps &lt; 1.1 bps total cost → net fill return is negative</a:t>
            </a:r>
          </a:p>
        </p:txBody>
      </p:sp>
      <p:sp>
        <p:nvSpPr>
          <p:cNvPr id="7" name="Rectangle 6"/>
          <p:cNvSpPr/>
          <p:nvPr/>
        </p:nvSpPr>
        <p:spPr>
          <a:xfrm>
            <a:off x="7406640" y="804672"/>
            <a:ext cx="4572000" cy="5760720"/>
          </a:xfrm>
          <a:prstGeom prst="rect">
            <a:avLst/>
          </a:prstGeom>
          <a:solidFill>
            <a:srgbClr val="153045"/>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00D4FF"/>
                </a:solidFill>
              </a:rPr>
              <a:t>[ VISUAL ]</a:t>
            </a:r>
          </a:p>
          <a:p>
            <a:pPr algn="ctr"/>
            <a:r>
              <a:rPr sz="700" i="1">
                <a:solidFill>
                  <a:srgbClr val="B0C4D8"/>
                </a:solidFill>
              </a:rPr>
              <a:t>Two-panel bar chart. Left: per-fill results by pocket — some positive bars at fee=0.5 (green). Right: per-attempt results at fee=1.0 — all bars clearly negative (red). Zero line on both panels. Annotations: 'fill_rate=50%', 'fee_cost=1.0bps'. Arrow labeled 'NPA = fill_rate × (filled_avg_net − costs)' showing the collapse.</a:t>
            </a:r>
          </a:p>
        </p:txBody>
      </p:sp>
      <p:sp>
        <p:nvSpPr>
          <p:cNvPr id="8" name="Rectangle 7"/>
          <p:cNvSpPr/>
          <p:nvPr/>
        </p:nvSpPr>
        <p:spPr>
          <a:xfrm>
            <a:off x="0" y="6812280"/>
            <a:ext cx="12191695" cy="45720"/>
          </a:xfrm>
          <a:prstGeom prst="rect">
            <a:avLst/>
          </a:prstGeom>
          <a:solidFill>
            <a:srgbClr val="008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F1F3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12191695" cy="658368"/>
          </a:xfrm>
          <a:prstGeom prst="rect">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10789920" cy="594360"/>
          </a:xfrm>
          <a:prstGeom prst="rect">
            <a:avLst/>
          </a:prstGeom>
          <a:noFill/>
        </p:spPr>
        <p:txBody>
          <a:bodyPr wrap="square">
            <a:spAutoFit/>
          </a:bodyPr>
          <a:lstStyle/>
          <a:p/>
          <a:p>
            <a:pPr algn="l">
              <a:spcBef>
                <a:spcPts val="0"/>
              </a:spcBef>
              <a:spcAft>
                <a:spcPts val="0"/>
              </a:spcAft>
            </a:pPr>
            <a:r>
              <a:rPr sz="2000" b="1" i="0">
                <a:solidFill>
                  <a:srgbClr val="FFFFFF"/>
                </a:solidFill>
              </a:rPr>
              <a:t>Why Negative NPA Is a System Success, Not a System Failure</a:t>
            </a:r>
          </a:p>
        </p:txBody>
      </p:sp>
      <p:sp>
        <p:nvSpPr>
          <p:cNvPr id="5" name="TextBox 4"/>
          <p:cNvSpPr txBox="1"/>
          <p:nvPr/>
        </p:nvSpPr>
        <p:spPr>
          <a:xfrm>
            <a:off x="11155680" y="91440"/>
            <a:ext cx="914400" cy="457200"/>
          </a:xfrm>
          <a:prstGeom prst="rect">
            <a:avLst/>
          </a:prstGeom>
          <a:noFill/>
        </p:spPr>
        <p:txBody>
          <a:bodyPr wrap="square">
            <a:spAutoFit/>
          </a:bodyPr>
          <a:lstStyle/>
          <a:p/>
          <a:p>
            <a:pPr algn="r">
              <a:spcBef>
                <a:spcPts val="0"/>
              </a:spcBef>
              <a:spcAft>
                <a:spcPts val="0"/>
              </a:spcAft>
            </a:pPr>
            <a:r>
              <a:rPr sz="800" b="0" i="0">
                <a:solidFill>
                  <a:srgbClr val="00D4FF"/>
                </a:solidFill>
              </a:rPr>
              <a:t>8.2</a:t>
            </a:r>
          </a:p>
        </p:txBody>
      </p:sp>
      <p:sp>
        <p:nvSpPr>
          <p:cNvPr id="6" name="Rectangle 5"/>
          <p:cNvSpPr/>
          <p:nvPr/>
        </p:nvSpPr>
        <p:spPr>
          <a:xfrm>
            <a:off x="5989320" y="822960"/>
            <a:ext cx="27432" cy="5760720"/>
          </a:xfrm>
          <a:prstGeom prst="rect">
            <a:avLst/>
          </a:prstGeom>
          <a:solidFill>
            <a:srgbClr val="6080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822960"/>
            <a:ext cx="5577840" cy="365760"/>
          </a:xfrm>
          <a:prstGeom prst="rect">
            <a:avLst/>
          </a:prstGeom>
          <a:noFill/>
        </p:spPr>
        <p:txBody>
          <a:bodyPr wrap="square">
            <a:spAutoFit/>
          </a:bodyPr>
          <a:lstStyle/>
          <a:p/>
          <a:p>
            <a:pPr algn="l">
              <a:spcBef>
                <a:spcPts val="0"/>
              </a:spcBef>
              <a:spcAft>
                <a:spcPts val="0"/>
              </a:spcAft>
            </a:pPr>
            <a:r>
              <a:rPr sz="1100" b="1" i="0">
                <a:solidFill>
                  <a:srgbClr val="00FFB3"/>
                </a:solidFill>
              </a:rPr>
              <a:t>System Achievements</a:t>
            </a:r>
          </a:p>
        </p:txBody>
      </p:sp>
      <p:sp>
        <p:nvSpPr>
          <p:cNvPr id="8" name="TextBox 7"/>
          <p:cNvSpPr txBox="1"/>
          <p:nvPr/>
        </p:nvSpPr>
        <p:spPr>
          <a:xfrm>
            <a:off x="320040" y="1234440"/>
            <a:ext cx="5577840" cy="5303520"/>
          </a:xfrm>
          <a:prstGeom prst="rect">
            <a:avLst/>
          </a:prstGeom>
          <a:noFill/>
        </p:spPr>
        <p:txBody>
          <a:bodyPr wrap="square">
            <a:spAutoFit/>
          </a:bodyPr>
          <a:lstStyle/>
          <a:p>
            <a:pPr>
              <a:spcBef>
                <a:spcPts val="300"/>
              </a:spcBef>
            </a:pPr>
            <a:r>
              <a:rPr sz="1100" b="1">
                <a:solidFill>
                  <a:srgbClr val="00D4FF"/>
                </a:solidFill>
              </a:rPr>
              <a:t>▸ </a:t>
            </a:r>
            <a:r>
              <a:rPr sz="1100">
                <a:solidFill>
                  <a:srgbClr val="FFFFFF"/>
                </a:solidFill>
              </a:rPr>
              <a:t>System correctly measured an illusion — did not deploy it</a:t>
            </a:r>
          </a:p>
          <a:p>
            <a:pPr>
              <a:spcBef>
                <a:spcPts val="300"/>
              </a:spcBef>
            </a:pPr>
            <a:r>
              <a:rPr sz="1100" b="1">
                <a:solidFill>
                  <a:srgbClr val="00D4FF"/>
                </a:solidFill>
              </a:rPr>
              <a:t>▸ </a:t>
            </a:r>
            <a:r>
              <a:rPr sz="1100">
                <a:solidFill>
                  <a:srgbClr val="FFFFFF"/>
                </a:solidFill>
              </a:rPr>
              <a:t>Alternative: deploy without NPA awareness → guaranteed live losses</a:t>
            </a:r>
          </a:p>
          <a:p>
            <a:pPr>
              <a:spcBef>
                <a:spcPts val="300"/>
              </a:spcBef>
            </a:pPr>
            <a:r>
              <a:rPr sz="1100" b="1">
                <a:solidFill>
                  <a:srgbClr val="00D4FF"/>
                </a:solidFill>
              </a:rPr>
              <a:t>▸ </a:t>
            </a:r>
            <a:r>
              <a:rPr sz="1100">
                <a:solidFill>
                  <a:srgbClr val="FFFFFF"/>
                </a:solidFill>
              </a:rPr>
              <a:t>Measurement fidelity is the primary product</a:t>
            </a:r>
          </a:p>
          <a:p>
            <a:pPr>
              <a:spcBef>
                <a:spcPts val="300"/>
              </a:spcBef>
            </a:pPr>
            <a:r>
              <a:rPr sz="1100" b="1">
                <a:solidFill>
                  <a:srgbClr val="00D4FF"/>
                </a:solidFill>
              </a:rPr>
              <a:t>▸ </a:t>
            </a:r>
            <a:r>
              <a:rPr sz="1100">
                <a:solidFill>
                  <a:srgbClr val="FFFFFF"/>
                </a:solidFill>
              </a:rPr>
              <a:t>False positive deployment rate = 0%</a:t>
            </a:r>
          </a:p>
          <a:p>
            <a:pPr>
              <a:spcBef>
                <a:spcPts val="300"/>
              </a:spcBef>
            </a:pPr>
            <a:r>
              <a:rPr sz="1100" b="1">
                <a:solidFill>
                  <a:srgbClr val="00D4FF"/>
                </a:solidFill>
              </a:rPr>
              <a:t>▸ </a:t>
            </a:r>
            <a:r>
              <a:rPr sz="1100">
                <a:solidFill>
                  <a:srgbClr val="FFFFFF"/>
                </a:solidFill>
              </a:rPr>
              <a:t>Pipeline's value: what it prevents as much as what it finds</a:t>
            </a:r>
          </a:p>
          <a:p>
            <a:pPr>
              <a:spcBef>
                <a:spcPts val="300"/>
              </a:spcBef>
            </a:pPr>
            <a:r>
              <a:rPr sz="1100" b="1">
                <a:solidFill>
                  <a:srgbClr val="00D4FF"/>
                </a:solidFill>
              </a:rPr>
              <a:t>▸ </a:t>
            </a:r>
            <a:r>
              <a:rPr sz="1100">
                <a:solidFill>
                  <a:srgbClr val="FFFFFF"/>
                </a:solidFill>
              </a:rPr>
              <a:t>Every negative result narrows the search space for genuine alpha</a:t>
            </a:r>
          </a:p>
        </p:txBody>
      </p:sp>
      <p:sp>
        <p:nvSpPr>
          <p:cNvPr id="9" name="TextBox 8"/>
          <p:cNvSpPr txBox="1"/>
          <p:nvPr/>
        </p:nvSpPr>
        <p:spPr>
          <a:xfrm>
            <a:off x="6126480" y="822960"/>
            <a:ext cx="5577840" cy="365760"/>
          </a:xfrm>
          <a:prstGeom prst="rect">
            <a:avLst/>
          </a:prstGeom>
          <a:noFill/>
        </p:spPr>
        <p:txBody>
          <a:bodyPr wrap="square">
            <a:spAutoFit/>
          </a:bodyPr>
          <a:lstStyle/>
          <a:p/>
          <a:p>
            <a:pPr algn="l">
              <a:spcBef>
                <a:spcPts val="0"/>
              </a:spcBef>
              <a:spcAft>
                <a:spcPts val="0"/>
              </a:spcAft>
            </a:pPr>
            <a:r>
              <a:rPr sz="1100" b="1" i="0">
                <a:solidFill>
                  <a:srgbClr val="00FFB3"/>
                </a:solidFill>
              </a:rPr>
              <a:t>What Comes Next</a:t>
            </a:r>
          </a:p>
        </p:txBody>
      </p:sp>
      <p:sp>
        <p:nvSpPr>
          <p:cNvPr id="10" name="TextBox 9"/>
          <p:cNvSpPr txBox="1"/>
          <p:nvPr/>
        </p:nvSpPr>
        <p:spPr>
          <a:xfrm>
            <a:off x="6126480" y="1234440"/>
            <a:ext cx="5577840" cy="5303520"/>
          </a:xfrm>
          <a:prstGeom prst="rect">
            <a:avLst/>
          </a:prstGeom>
          <a:noFill/>
        </p:spPr>
        <p:txBody>
          <a:bodyPr wrap="square">
            <a:spAutoFit/>
          </a:bodyPr>
          <a:lstStyle/>
          <a:p>
            <a:pPr>
              <a:spcBef>
                <a:spcPts val="300"/>
              </a:spcBef>
            </a:pPr>
            <a:r>
              <a:rPr sz="1100" b="1">
                <a:solidFill>
                  <a:srgbClr val="00D4FF"/>
                </a:solidFill>
              </a:rPr>
              <a:t>▸ </a:t>
            </a:r>
            <a:r>
              <a:rPr sz="1100">
                <a:solidFill>
                  <a:srgbClr val="FFFFFF"/>
                </a:solidFill>
              </a:rPr>
              <a:t>Counterfactual: deploy on per-fill metrics → live fee losses + adverse</a:t>
            </a:r>
          </a:p>
          <a:p>
            <a:pPr>
              <a:spcBef>
                <a:spcPts val="300"/>
              </a:spcBef>
            </a:pPr>
            <a:r>
              <a:rPr sz="1100" b="1">
                <a:solidFill>
                  <a:srgbClr val="00D4FF"/>
                </a:solidFill>
              </a:rPr>
              <a:t>▸ </a:t>
            </a:r>
            <a:r>
              <a:rPr sz="1100">
                <a:solidFill>
                  <a:srgbClr val="FFFFFF"/>
                </a:solidFill>
              </a:rPr>
              <a:t>Exchange fees are real and immediate — no simulation artifact</a:t>
            </a:r>
          </a:p>
          <a:p>
            <a:pPr>
              <a:spcBef>
                <a:spcPts val="300"/>
              </a:spcBef>
            </a:pPr>
            <a:r>
              <a:rPr sz="1100" b="1">
                <a:solidFill>
                  <a:srgbClr val="00D4FF"/>
                </a:solidFill>
              </a:rPr>
              <a:t>▸ </a:t>
            </a:r>
            <a:r>
              <a:rPr sz="1100">
                <a:solidFill>
                  <a:srgbClr val="FFFFFF"/>
                </a:solidFill>
              </a:rPr>
              <a:t>The pipeline identified failure mechanism precisely: cost domination</a:t>
            </a:r>
          </a:p>
          <a:p>
            <a:pPr>
              <a:spcBef>
                <a:spcPts val="300"/>
              </a:spcBef>
            </a:pPr>
            <a:r>
              <a:rPr sz="1100" b="1">
                <a:solidFill>
                  <a:srgbClr val="00D4FF"/>
                </a:solidFill>
              </a:rPr>
              <a:t>▸ </a:t>
            </a:r>
            <a:r>
              <a:rPr sz="1100">
                <a:solidFill>
                  <a:srgbClr val="FFFFFF"/>
                </a:solidFill>
              </a:rPr>
              <a:t>Quantified the gap: NPA ≈ −0.1 bps at realistic conditions</a:t>
            </a:r>
          </a:p>
          <a:p>
            <a:pPr>
              <a:spcBef>
                <a:spcPts val="300"/>
              </a:spcBef>
            </a:pPr>
            <a:r>
              <a:rPr sz="1100" b="1">
                <a:solidFill>
                  <a:srgbClr val="00D4FF"/>
                </a:solidFill>
              </a:rPr>
              <a:t>▸ </a:t>
            </a:r>
            <a:r>
              <a:rPr sz="1100">
                <a:solidFill>
                  <a:srgbClr val="FFFFFF"/>
                </a:solidFill>
              </a:rPr>
              <a:t>Proposed the remediation: pre-attempt gate to raise quality bar</a:t>
            </a:r>
          </a:p>
          <a:p>
            <a:pPr>
              <a:spcBef>
                <a:spcPts val="300"/>
              </a:spcBef>
            </a:pPr>
            <a:r>
              <a:rPr sz="1100" b="1">
                <a:solidFill>
                  <a:srgbClr val="00D4FF"/>
                </a:solidFill>
              </a:rPr>
              <a:t>▸ </a:t>
            </a:r>
            <a:r>
              <a:rPr sz="1100">
                <a:solidFill>
                  <a:srgbClr val="FFFFFF"/>
                </a:solidFill>
              </a:rPr>
              <a:t>Next hypothesis is falsifiable: gate → NPA &gt; 0 on held-out splits</a:t>
            </a:r>
          </a:p>
        </p:txBody>
      </p:sp>
      <p:sp>
        <p:nvSpPr>
          <p:cNvPr id="11" name="Rectangle 10"/>
          <p:cNvSpPr/>
          <p:nvPr/>
        </p:nvSpPr>
        <p:spPr>
          <a:xfrm>
            <a:off x="0" y="6812280"/>
            <a:ext cx="12191695" cy="45720"/>
          </a:xfrm>
          <a:prstGeom prst="rect">
            <a:avLst/>
          </a:prstGeom>
          <a:solidFill>
            <a:srgbClr val="008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A3A5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371600" cy="1371600"/>
          </a:xfrm>
          <a:prstGeom prst="rect">
            <a:avLst/>
          </a:prstGeom>
          <a:noFill/>
        </p:spPr>
        <p:txBody>
          <a:bodyPr wrap="square">
            <a:spAutoFit/>
          </a:bodyPr>
          <a:lstStyle/>
          <a:p/>
          <a:p>
            <a:pPr algn="l">
              <a:spcBef>
                <a:spcPts val="0"/>
              </a:spcBef>
              <a:spcAft>
                <a:spcPts val="0"/>
              </a:spcAft>
            </a:pPr>
            <a:r>
              <a:rPr sz="7200" b="1" i="0">
                <a:solidFill>
                  <a:srgbClr val="00D4FF"/>
                </a:solidFill>
              </a:rPr>
              <a:t>IX</a:t>
            </a:r>
          </a:p>
        </p:txBody>
      </p:sp>
      <p:sp>
        <p:nvSpPr>
          <p:cNvPr id="5" name="TextBox 4"/>
          <p:cNvSpPr txBox="1"/>
          <p:nvPr/>
        </p:nvSpPr>
        <p:spPr>
          <a:xfrm>
            <a:off x="2011680" y="2011680"/>
            <a:ext cx="9601200" cy="2286000"/>
          </a:xfrm>
          <a:prstGeom prst="rect">
            <a:avLst/>
          </a:prstGeom>
          <a:noFill/>
        </p:spPr>
        <p:txBody>
          <a:bodyPr wrap="square">
            <a:spAutoFit/>
          </a:bodyPr>
          <a:lstStyle/>
          <a:p/>
          <a:p>
            <a:pPr algn="l">
              <a:spcBef>
                <a:spcPts val="0"/>
              </a:spcBef>
              <a:spcAft>
                <a:spcPts val="600"/>
              </a:spcAft>
            </a:pPr>
            <a:r>
              <a:rPr sz="3400" b="1" i="0">
                <a:solidFill>
                  <a:srgbClr val="FFFFFF"/>
                </a:solidFill>
              </a:rPr>
              <a:t>Next Evolution Path</a:t>
            </a:r>
          </a:p>
          <a:p>
            <a:pPr algn="l">
              <a:spcBef>
                <a:spcPts val="0"/>
              </a:spcBef>
              <a:spcAft>
                <a:spcPts val="0"/>
              </a:spcAft>
            </a:pPr>
            <a:r>
              <a:rPr sz="1600" b="0" i="0">
                <a:solidFill>
                  <a:srgbClr val="B0C4D8"/>
                </a:solidFill>
              </a:rPr>
              <a:t>Engineering the Path to Positive NPA</a:t>
            </a:r>
          </a:p>
        </p:txBody>
      </p:sp>
      <p:sp>
        <p:nvSpPr>
          <p:cNvPr id="6" name="Rectangle 5"/>
          <p:cNvSpPr/>
          <p:nvPr/>
        </p:nvSpPr>
        <p:spPr>
          <a:xfrm>
            <a:off x="2011680" y="1920240"/>
            <a:ext cx="36576" cy="2011680"/>
          </a:xfrm>
          <a:prstGeom prst="rect">
            <a:avLst/>
          </a:prstGeom>
          <a:solidFill>
            <a:srgbClr val="00FF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F1F3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12191695" cy="658368"/>
          </a:xfrm>
          <a:prstGeom prst="rect">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10789920" cy="594360"/>
          </a:xfrm>
          <a:prstGeom prst="rect">
            <a:avLst/>
          </a:prstGeom>
          <a:noFill/>
        </p:spPr>
        <p:txBody>
          <a:bodyPr wrap="square">
            <a:spAutoFit/>
          </a:bodyPr>
          <a:lstStyle/>
          <a:p/>
          <a:p>
            <a:pPr algn="l">
              <a:spcBef>
                <a:spcPts val="0"/>
              </a:spcBef>
              <a:spcAft>
                <a:spcPts val="0"/>
              </a:spcAft>
            </a:pPr>
            <a:r>
              <a:rPr sz="2000" b="1" i="0">
                <a:solidFill>
                  <a:srgbClr val="FFFFFF"/>
                </a:solidFill>
              </a:rPr>
              <a:t>Signal Refinement — Raising Selection Quality</a:t>
            </a:r>
          </a:p>
        </p:txBody>
      </p:sp>
      <p:sp>
        <p:nvSpPr>
          <p:cNvPr id="5" name="TextBox 4"/>
          <p:cNvSpPr txBox="1"/>
          <p:nvPr/>
        </p:nvSpPr>
        <p:spPr>
          <a:xfrm>
            <a:off x="11155680" y="91440"/>
            <a:ext cx="914400" cy="457200"/>
          </a:xfrm>
          <a:prstGeom prst="rect">
            <a:avLst/>
          </a:prstGeom>
          <a:noFill/>
        </p:spPr>
        <p:txBody>
          <a:bodyPr wrap="square">
            <a:spAutoFit/>
          </a:bodyPr>
          <a:lstStyle/>
          <a:p/>
          <a:p>
            <a:pPr algn="r">
              <a:spcBef>
                <a:spcPts val="0"/>
              </a:spcBef>
              <a:spcAft>
                <a:spcPts val="0"/>
              </a:spcAft>
            </a:pPr>
            <a:r>
              <a:rPr sz="800" b="0" i="0">
                <a:solidFill>
                  <a:srgbClr val="00D4FF"/>
                </a:solidFill>
              </a:rPr>
              <a:t>9.1</a:t>
            </a:r>
          </a:p>
        </p:txBody>
      </p:sp>
      <p:sp>
        <p:nvSpPr>
          <p:cNvPr id="6" name="TextBox 5"/>
          <p:cNvSpPr txBox="1"/>
          <p:nvPr/>
        </p:nvSpPr>
        <p:spPr>
          <a:xfrm>
            <a:off x="274320" y="804672"/>
            <a:ext cx="6949440" cy="5760720"/>
          </a:xfrm>
          <a:prstGeom prst="rect">
            <a:avLst/>
          </a:prstGeom>
          <a:noFill/>
        </p:spPr>
        <p:txBody>
          <a:bodyPr wrap="square">
            <a:spAutoFit/>
          </a:bodyPr>
          <a:lstStyle/>
          <a:p>
            <a:pPr algn="l">
              <a:spcBef>
                <a:spcPts val="300"/>
              </a:spcBef>
              <a:spcAft>
                <a:spcPts val="200"/>
              </a:spcAft>
            </a:pPr>
            <a:r>
              <a:rPr sz="1300" b="1">
                <a:solidFill>
                  <a:srgbClr val="00D4FF"/>
                </a:solidFill>
              </a:rPr>
              <a:t>▸ </a:t>
            </a:r>
            <a:r>
              <a:rPr sz="1300" b="0">
                <a:solidFill>
                  <a:srgbClr val="FFFFFF"/>
                </a:solidFill>
              </a:rPr>
              <a:t>Current signal: intensity_spike_imbalance_cont — broad threshold rule, high firing rate</a:t>
            </a:r>
          </a:p>
          <a:p>
            <a:pPr algn="l">
              <a:spcBef>
                <a:spcPts val="300"/>
              </a:spcBef>
              <a:spcAft>
                <a:spcPts val="200"/>
              </a:spcAft>
            </a:pPr>
            <a:r>
              <a:rPr sz="1300" b="1">
                <a:solidFill>
                  <a:srgbClr val="00D4FF"/>
                </a:solidFill>
              </a:rPr>
              <a:t>▸ </a:t>
            </a:r>
            <a:r>
              <a:rPr sz="1300" b="0">
                <a:solidFill>
                  <a:srgbClr val="FFFFFF"/>
                </a:solidFill>
              </a:rPr>
              <a:t>V2 features: v2_min_score, v2_min_persistence, v2_min_confidence — richer information space</a:t>
            </a:r>
          </a:p>
          <a:p>
            <a:pPr algn="l">
              <a:spcBef>
                <a:spcPts val="300"/>
              </a:spcBef>
              <a:spcAft>
                <a:spcPts val="200"/>
              </a:spcAft>
            </a:pPr>
            <a:r>
              <a:rPr sz="1300" b="1">
                <a:solidFill>
                  <a:srgbClr val="00D4FF"/>
                </a:solidFill>
              </a:rPr>
              <a:t>▸ </a:t>
            </a:r>
            <a:r>
              <a:rPr sz="1300" b="0">
                <a:solidFill>
                  <a:srgbClr val="FFFFFF"/>
                </a:solidFill>
              </a:rPr>
              <a:t>v2_imbalance_persist: consecutive buckets above threshold → low-noise signal filter</a:t>
            </a:r>
          </a:p>
          <a:p>
            <a:pPr algn="l">
              <a:spcBef>
                <a:spcPts val="300"/>
              </a:spcBef>
              <a:spcAft>
                <a:spcPts val="200"/>
              </a:spcAft>
            </a:pPr>
            <a:r>
              <a:rPr sz="1300" b="1">
                <a:solidFill>
                  <a:srgbClr val="00D4FF"/>
                </a:solidFill>
              </a:rPr>
              <a:t>▸ </a:t>
            </a:r>
            <a:r>
              <a:rPr sz="1300" b="0">
                <a:solidFill>
                  <a:srgbClr val="FFFFFF"/>
                </a:solidFill>
              </a:rPr>
              <a:t>v2_flip_rate: rapidly reversing imbalance → unreliable signal; low flip_rate = stable</a:t>
            </a:r>
          </a:p>
          <a:p>
            <a:pPr algn="l">
              <a:spcBef>
                <a:spcPts val="300"/>
              </a:spcBef>
              <a:spcAft>
                <a:spcPts val="200"/>
              </a:spcAft>
            </a:pPr>
            <a:r>
              <a:rPr sz="1300" b="1">
                <a:solidFill>
                  <a:srgbClr val="00D4FF"/>
                </a:solidFill>
              </a:rPr>
              <a:t>▸ </a:t>
            </a:r>
            <a:r>
              <a:rPr sz="1300" b="0">
                <a:solidFill>
                  <a:srgbClr val="FFFFFF"/>
                </a:solidFill>
              </a:rPr>
              <a:t>Hypothesis: signals scoring highly on V2 features have materially higher filled_avg_net</a:t>
            </a:r>
          </a:p>
          <a:p>
            <a:pPr lvl="1" algn="l">
              <a:spcBef>
                <a:spcPts val="100"/>
              </a:spcBef>
              <a:spcAft>
                <a:spcPts val="200"/>
              </a:spcAft>
            </a:pPr>
            <a:r>
              <a:rPr sz="1100" b="0">
                <a:solidFill>
                  <a:srgbClr val="00FFB3"/>
                </a:solidFill>
              </a:rPr>
              <a:t>  · </a:t>
            </a:r>
            <a:r>
              <a:rPr sz="1100" b="0">
                <a:solidFill>
                  <a:srgbClr val="B0C4D8"/>
                </a:solidFill>
              </a:rPr>
              <a:t>Test: compare filled_avg_net distribution at V2 thresholds vs base thresholds on same window</a:t>
            </a:r>
          </a:p>
          <a:p>
            <a:pPr lvl="1" algn="l">
              <a:spcBef>
                <a:spcPts val="100"/>
              </a:spcBef>
              <a:spcAft>
                <a:spcPts val="200"/>
              </a:spcAft>
            </a:pPr>
            <a:r>
              <a:rPr sz="1100" b="0">
                <a:solidFill>
                  <a:srgbClr val="00FFB3"/>
                </a:solidFill>
              </a:rPr>
              <a:t>  · </a:t>
            </a:r>
            <a:r>
              <a:rPr sz="1100" b="0">
                <a:solidFill>
                  <a:srgbClr val="B0C4D8"/>
                </a:solidFill>
              </a:rPr>
              <a:t>If confirmed: V2 filtering converts high-frequency low-quality → low-frequency high-quality</a:t>
            </a:r>
          </a:p>
        </p:txBody>
      </p:sp>
      <p:sp>
        <p:nvSpPr>
          <p:cNvPr id="7" name="Rectangle 6"/>
          <p:cNvSpPr/>
          <p:nvPr/>
        </p:nvSpPr>
        <p:spPr>
          <a:xfrm>
            <a:off x="7406640" y="804672"/>
            <a:ext cx="4572000" cy="5760720"/>
          </a:xfrm>
          <a:prstGeom prst="rect">
            <a:avLst/>
          </a:prstGeom>
          <a:solidFill>
            <a:srgbClr val="153045"/>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00D4FF"/>
                </a:solidFill>
              </a:rPr>
              <a:t>[ VISUAL ]</a:t>
            </a:r>
          </a:p>
          <a:p>
            <a:pPr algn="ctr"/>
            <a:r>
              <a:rPr sz="700" i="1">
                <a:solidFill>
                  <a:srgbClr val="B0C4D8"/>
                </a:solidFill>
              </a:rPr>
              <a:t>Side-by-side kernel density plots: left=distribution of filled_avg_net for all current signals. Right=distribution for signals surviving V2 filtering. Hypothesis: right distribution shifted rightward (higher per-fill returns). Label: 'TBD — pending V2 gate sweep'. Target: distributions separate with p-value &lt; 0.05.</a:t>
            </a:r>
          </a:p>
        </p:txBody>
      </p:sp>
      <p:sp>
        <p:nvSpPr>
          <p:cNvPr id="8" name="Rectangle 7"/>
          <p:cNvSpPr/>
          <p:nvPr/>
        </p:nvSpPr>
        <p:spPr>
          <a:xfrm>
            <a:off x="0" y="6812280"/>
            <a:ext cx="12191695" cy="45720"/>
          </a:xfrm>
          <a:prstGeom prst="rect">
            <a:avLst/>
          </a:prstGeom>
          <a:solidFill>
            <a:srgbClr val="008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F1F3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12191695" cy="658368"/>
          </a:xfrm>
          <a:prstGeom prst="rect">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10789920" cy="594360"/>
          </a:xfrm>
          <a:prstGeom prst="rect">
            <a:avLst/>
          </a:prstGeom>
          <a:noFill/>
        </p:spPr>
        <p:txBody>
          <a:bodyPr wrap="square">
            <a:spAutoFit/>
          </a:bodyPr>
          <a:lstStyle/>
          <a:p/>
          <a:p>
            <a:pPr algn="l">
              <a:spcBef>
                <a:spcPts val="0"/>
              </a:spcBef>
              <a:spcAft>
                <a:spcPts val="0"/>
              </a:spcAft>
            </a:pPr>
            <a:r>
              <a:rPr sz="2000" b="1" i="0">
                <a:solidFill>
                  <a:srgbClr val="FFFFFF"/>
                </a:solidFill>
              </a:rPr>
              <a:t>Gate Calibration — Finding the Optimal Threshold Vector</a:t>
            </a:r>
          </a:p>
        </p:txBody>
      </p:sp>
      <p:sp>
        <p:nvSpPr>
          <p:cNvPr id="5" name="TextBox 4"/>
          <p:cNvSpPr txBox="1"/>
          <p:nvPr/>
        </p:nvSpPr>
        <p:spPr>
          <a:xfrm>
            <a:off x="11155680" y="91440"/>
            <a:ext cx="914400" cy="457200"/>
          </a:xfrm>
          <a:prstGeom prst="rect">
            <a:avLst/>
          </a:prstGeom>
          <a:noFill/>
        </p:spPr>
        <p:txBody>
          <a:bodyPr wrap="square">
            <a:spAutoFit/>
          </a:bodyPr>
          <a:lstStyle/>
          <a:p/>
          <a:p>
            <a:pPr algn="r">
              <a:spcBef>
                <a:spcPts val="0"/>
              </a:spcBef>
              <a:spcAft>
                <a:spcPts val="0"/>
              </a:spcAft>
            </a:pPr>
            <a:r>
              <a:rPr sz="800" b="0" i="0">
                <a:solidFill>
                  <a:srgbClr val="00D4FF"/>
                </a:solidFill>
              </a:rPr>
              <a:t>9.2</a:t>
            </a:r>
          </a:p>
        </p:txBody>
      </p:sp>
      <p:sp>
        <p:nvSpPr>
          <p:cNvPr id="6" name="TextBox 5"/>
          <p:cNvSpPr txBox="1"/>
          <p:nvPr/>
        </p:nvSpPr>
        <p:spPr>
          <a:xfrm>
            <a:off x="274320" y="804672"/>
            <a:ext cx="6949440" cy="5760720"/>
          </a:xfrm>
          <a:prstGeom prst="rect">
            <a:avLst/>
          </a:prstGeom>
          <a:noFill/>
        </p:spPr>
        <p:txBody>
          <a:bodyPr wrap="square">
            <a:spAutoFit/>
          </a:bodyPr>
          <a:lstStyle/>
          <a:p>
            <a:pPr algn="l">
              <a:spcBef>
                <a:spcPts val="300"/>
              </a:spcBef>
              <a:spcAft>
                <a:spcPts val="200"/>
              </a:spcAft>
            </a:pPr>
            <a:r>
              <a:rPr sz="1300" b="1">
                <a:solidFill>
                  <a:srgbClr val="00D4FF"/>
                </a:solidFill>
              </a:rPr>
              <a:t>▸ </a:t>
            </a:r>
            <a:r>
              <a:rPr sz="1300" b="0">
                <a:solidFill>
                  <a:srgbClr val="FFFFFF"/>
                </a:solidFill>
              </a:rPr>
              <a:t>Sweep: min_intensity_strong ∈ {2500, 3000, 3500, 4000, 5000}</a:t>
            </a:r>
          </a:p>
          <a:p>
            <a:pPr algn="l">
              <a:spcBef>
                <a:spcPts val="300"/>
              </a:spcBef>
              <a:spcAft>
                <a:spcPts val="200"/>
              </a:spcAft>
            </a:pPr>
            <a:r>
              <a:rPr sz="1300" b="1">
                <a:solidFill>
                  <a:srgbClr val="00D4FF"/>
                </a:solidFill>
              </a:rPr>
              <a:t>▸ </a:t>
            </a:r>
            <a:r>
              <a:rPr sz="1300" b="0">
                <a:solidFill>
                  <a:srgbClr val="FFFFFF"/>
                </a:solidFill>
              </a:rPr>
              <a:t>Sweep: min_imbalance_strong ∈ {0.5, 0.6, 0.7, 0.8}</a:t>
            </a:r>
          </a:p>
          <a:p>
            <a:pPr algn="l">
              <a:spcBef>
                <a:spcPts val="300"/>
              </a:spcBef>
              <a:spcAft>
                <a:spcPts val="200"/>
              </a:spcAft>
            </a:pPr>
            <a:r>
              <a:rPr sz="1300" b="1">
                <a:solidFill>
                  <a:srgbClr val="00D4FF"/>
                </a:solidFill>
              </a:rPr>
              <a:t>▸ </a:t>
            </a:r>
            <a:r>
              <a:rPr sz="1300" b="0">
                <a:solidFill>
                  <a:srgbClr val="FFFFFF"/>
                </a:solidFill>
              </a:rPr>
              <a:t>Sweep: max_spread_tight ∈ {0.0002, 0.0003, 0.0004, 0.0005}</a:t>
            </a:r>
          </a:p>
          <a:p>
            <a:pPr algn="l">
              <a:spcBef>
                <a:spcPts val="300"/>
              </a:spcBef>
              <a:spcAft>
                <a:spcPts val="200"/>
              </a:spcAft>
            </a:pPr>
            <a:r>
              <a:rPr sz="1300" b="1">
                <a:solidFill>
                  <a:srgbClr val="00D4FF"/>
                </a:solidFill>
              </a:rPr>
              <a:t>▸ </a:t>
            </a:r>
            <a:r>
              <a:rPr sz="1300" b="0">
                <a:solidFill>
                  <a:srgbClr val="FFFFFF"/>
                </a:solidFill>
              </a:rPr>
              <a:t>Total: 5 × 4 × 4 = 80 gate configurations per pocket — tractable (&lt;30s per pocket)</a:t>
            </a:r>
          </a:p>
          <a:p>
            <a:pPr algn="l">
              <a:spcBef>
                <a:spcPts val="300"/>
              </a:spcBef>
              <a:spcAft>
                <a:spcPts val="200"/>
              </a:spcAft>
            </a:pPr>
            <a:r>
              <a:rPr sz="1300" b="1">
                <a:solidFill>
                  <a:srgbClr val="00D4FF"/>
                </a:solidFill>
              </a:rPr>
              <a:t>▸ </a:t>
            </a:r>
            <a:r>
              <a:rPr sz="1300" b="0">
                <a:solidFill>
                  <a:srgbClr val="FFFFFF"/>
                </a:solidFill>
              </a:rPr>
              <a:t>Objective: maximize net_per_attempt_after_gate on held-out validation splits</a:t>
            </a:r>
          </a:p>
          <a:p>
            <a:pPr algn="l">
              <a:spcBef>
                <a:spcPts val="300"/>
              </a:spcBef>
              <a:spcAft>
                <a:spcPts val="200"/>
              </a:spcAft>
            </a:pPr>
            <a:r>
              <a:rPr sz="1300" b="1">
                <a:solidFill>
                  <a:srgbClr val="00D4FF"/>
                </a:solidFill>
              </a:rPr>
              <a:t>▸ </a:t>
            </a:r>
            <a:r>
              <a:rPr sz="1300" b="0">
                <a:solidFill>
                  <a:srgbClr val="FFFFFF"/>
                </a:solidFill>
              </a:rPr>
              <a:t>Guard: gate_pass_rate &gt; 0.15 — prevent over-restrictive gates (&lt; 30 attempts = noisy estimate)</a:t>
            </a:r>
          </a:p>
          <a:p>
            <a:pPr lvl="1" algn="l">
              <a:spcBef>
                <a:spcPts val="100"/>
              </a:spcBef>
              <a:spcAft>
                <a:spcPts val="200"/>
              </a:spcAft>
            </a:pPr>
            <a:r>
              <a:rPr sz="1100" b="0">
                <a:solidFill>
                  <a:srgbClr val="00FFB3"/>
                </a:solidFill>
              </a:rPr>
              <a:t>  · </a:t>
            </a:r>
            <a:r>
              <a:rPr sz="1100" b="0">
                <a:solidFill>
                  <a:srgbClr val="B0C4D8"/>
                </a:solidFill>
              </a:rPr>
              <a:t>Calibration discipline: sweep on training window, evaluate on validation window only</a:t>
            </a:r>
          </a:p>
          <a:p>
            <a:pPr lvl="1" algn="l">
              <a:spcBef>
                <a:spcPts val="100"/>
              </a:spcBef>
              <a:spcAft>
                <a:spcPts val="200"/>
              </a:spcAft>
            </a:pPr>
            <a:r>
              <a:rPr sz="1100" b="0">
                <a:solidFill>
                  <a:srgbClr val="00FFB3"/>
                </a:solidFill>
              </a:rPr>
              <a:t>  · </a:t>
            </a:r>
            <a:r>
              <a:rPr sz="1100" b="0">
                <a:solidFill>
                  <a:srgbClr val="B0C4D8"/>
                </a:solidFill>
              </a:rPr>
              <a:t>Cross-validate gate configuration across multiple symbols for generalization evidence</a:t>
            </a:r>
          </a:p>
        </p:txBody>
      </p:sp>
      <p:sp>
        <p:nvSpPr>
          <p:cNvPr id="7" name="Rectangle 6"/>
          <p:cNvSpPr/>
          <p:nvPr/>
        </p:nvSpPr>
        <p:spPr>
          <a:xfrm>
            <a:off x="7406640" y="804672"/>
            <a:ext cx="4572000" cy="5760720"/>
          </a:xfrm>
          <a:prstGeom prst="rect">
            <a:avLst/>
          </a:prstGeom>
          <a:solidFill>
            <a:srgbClr val="153045"/>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00D4FF"/>
                </a:solidFill>
              </a:rPr>
              <a:t>[ VISUAL ]</a:t>
            </a:r>
          </a:p>
          <a:p>
            <a:pPr algn="ctr"/>
            <a:r>
              <a:rPr sz="700" i="1">
                <a:solidFill>
                  <a:srgbClr val="B0C4D8"/>
                </a:solidFill>
              </a:rPr>
              <a:t>3D surface plot (or 2D heatmap with third dimension as annotation). x=min_intensity_strong, y=min_imbalance_strong, color=NPA at optimal max_spread_tight. Overlaid contour lines. Region where gate_pass_rate &lt; 0.15 marked 'insufficient data'. Peak NPA point highlighted = target gate configuration.</a:t>
            </a:r>
          </a:p>
        </p:txBody>
      </p:sp>
      <p:sp>
        <p:nvSpPr>
          <p:cNvPr id="8" name="Rectangle 7"/>
          <p:cNvSpPr/>
          <p:nvPr/>
        </p:nvSpPr>
        <p:spPr>
          <a:xfrm>
            <a:off x="0" y="6812280"/>
            <a:ext cx="12191695" cy="45720"/>
          </a:xfrm>
          <a:prstGeom prst="rect">
            <a:avLst/>
          </a:prstGeom>
          <a:solidFill>
            <a:srgbClr val="008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F1F3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12191695" cy="658368"/>
          </a:xfrm>
          <a:prstGeom prst="rect">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10789920" cy="594360"/>
          </a:xfrm>
          <a:prstGeom prst="rect">
            <a:avLst/>
          </a:prstGeom>
          <a:noFill/>
        </p:spPr>
        <p:txBody>
          <a:bodyPr wrap="square">
            <a:spAutoFit/>
          </a:bodyPr>
          <a:lstStyle/>
          <a:p/>
          <a:p>
            <a:pPr algn="l">
              <a:spcBef>
                <a:spcPts val="0"/>
              </a:spcBef>
              <a:spcAft>
                <a:spcPts val="0"/>
              </a:spcAft>
            </a:pPr>
            <a:r>
              <a:rPr sz="2000" b="1" i="0">
                <a:solidFill>
                  <a:srgbClr val="FFFFFF"/>
                </a:solidFill>
              </a:rPr>
              <a:t>Capacity Optimization and Ranking Sensitivity</a:t>
            </a:r>
          </a:p>
        </p:txBody>
      </p:sp>
      <p:sp>
        <p:nvSpPr>
          <p:cNvPr id="5" name="TextBox 4"/>
          <p:cNvSpPr txBox="1"/>
          <p:nvPr/>
        </p:nvSpPr>
        <p:spPr>
          <a:xfrm>
            <a:off x="11155680" y="91440"/>
            <a:ext cx="914400" cy="457200"/>
          </a:xfrm>
          <a:prstGeom prst="rect">
            <a:avLst/>
          </a:prstGeom>
          <a:noFill/>
        </p:spPr>
        <p:txBody>
          <a:bodyPr wrap="square">
            <a:spAutoFit/>
          </a:bodyPr>
          <a:lstStyle/>
          <a:p/>
          <a:p>
            <a:pPr algn="r">
              <a:spcBef>
                <a:spcPts val="0"/>
              </a:spcBef>
              <a:spcAft>
                <a:spcPts val="0"/>
              </a:spcAft>
            </a:pPr>
            <a:r>
              <a:rPr sz="800" b="0" i="0">
                <a:solidFill>
                  <a:srgbClr val="00D4FF"/>
                </a:solidFill>
              </a:rPr>
              <a:t>9.3</a:t>
            </a:r>
          </a:p>
        </p:txBody>
      </p:sp>
      <p:sp>
        <p:nvSpPr>
          <p:cNvPr id="6" name="TextBox 5"/>
          <p:cNvSpPr txBox="1"/>
          <p:nvPr/>
        </p:nvSpPr>
        <p:spPr>
          <a:xfrm>
            <a:off x="274320" y="804672"/>
            <a:ext cx="6949440" cy="5760720"/>
          </a:xfrm>
          <a:prstGeom prst="rect">
            <a:avLst/>
          </a:prstGeom>
          <a:noFill/>
        </p:spPr>
        <p:txBody>
          <a:bodyPr wrap="square">
            <a:spAutoFit/>
          </a:bodyPr>
          <a:lstStyle/>
          <a:p>
            <a:pPr algn="l">
              <a:spcBef>
                <a:spcPts val="300"/>
              </a:spcBef>
              <a:spcAft>
                <a:spcPts val="200"/>
              </a:spcAft>
            </a:pPr>
            <a:r>
              <a:rPr sz="1300" b="1">
                <a:solidFill>
                  <a:srgbClr val="00D4FF"/>
                </a:solidFill>
              </a:rPr>
              <a:t>▸ </a:t>
            </a:r>
            <a:r>
              <a:rPr sz="1300" b="0">
                <a:solidFill>
                  <a:srgbClr val="FFFFFF"/>
                </a:solidFill>
              </a:rPr>
              <a:t>Capacity problem: high attempts_per_min at negative NPA = high-frequency loss generation</a:t>
            </a:r>
          </a:p>
          <a:p>
            <a:pPr algn="l">
              <a:spcBef>
                <a:spcPts val="300"/>
              </a:spcBef>
              <a:spcAft>
                <a:spcPts val="200"/>
              </a:spcAft>
            </a:pPr>
            <a:r>
              <a:rPr sz="1300" b="1">
                <a:solidFill>
                  <a:srgbClr val="00D4FF"/>
                </a:solidFill>
              </a:rPr>
              <a:t>▸ </a:t>
            </a:r>
            <a:r>
              <a:rPr sz="1300" b="0">
                <a:solidFill>
                  <a:srgbClr val="FFFFFF"/>
                </a:solidFill>
              </a:rPr>
              <a:t>Two remediation paths: (a) reduce attempt frequency via gate, (b) improve NPA directly</a:t>
            </a:r>
          </a:p>
          <a:p>
            <a:pPr algn="l">
              <a:spcBef>
                <a:spcPts val="300"/>
              </a:spcBef>
              <a:spcAft>
                <a:spcPts val="200"/>
              </a:spcAft>
            </a:pPr>
            <a:r>
              <a:rPr sz="1300" b="1">
                <a:solidFill>
                  <a:srgbClr val="00D4FF"/>
                </a:solidFill>
              </a:rPr>
              <a:t>▸ </a:t>
            </a:r>
            <a:r>
              <a:rPr sz="1300" b="0">
                <a:solidFill>
                  <a:srgbClr val="FFFFFF"/>
                </a:solidFill>
              </a:rPr>
              <a:t>Feature enrichment: order book depth snapshots, tick direction velocity, aggressor imbalance</a:t>
            </a:r>
          </a:p>
          <a:p>
            <a:pPr algn="l">
              <a:spcBef>
                <a:spcPts val="300"/>
              </a:spcBef>
              <a:spcAft>
                <a:spcPts val="200"/>
              </a:spcAft>
            </a:pPr>
            <a:r>
              <a:rPr sz="1300" b="1">
                <a:solidFill>
                  <a:srgbClr val="00D4FF"/>
                </a:solidFill>
              </a:rPr>
              <a:t>▸ </a:t>
            </a:r>
            <a:r>
              <a:rPr sz="1300" b="0">
                <a:solidFill>
                  <a:srgbClr val="FFFFFF"/>
                </a:solidFill>
              </a:rPr>
              <a:t>Alternative rules: search for rules with higher score_raw_core at reasonable attempt frequency</a:t>
            </a:r>
          </a:p>
          <a:p>
            <a:pPr algn="l">
              <a:spcBef>
                <a:spcPts val="300"/>
              </a:spcBef>
              <a:spcAft>
                <a:spcPts val="200"/>
              </a:spcAft>
            </a:pPr>
            <a:r>
              <a:rPr sz="1300" b="1">
                <a:solidFill>
                  <a:srgbClr val="00D4FF"/>
                </a:solidFill>
              </a:rPr>
              <a:t>▸ </a:t>
            </a:r>
            <a:r>
              <a:rPr sz="1300" b="0">
                <a:solidFill>
                  <a:srgbClr val="FFFFFF"/>
                </a:solidFill>
              </a:rPr>
              <a:t>Sensitivity analysis: bootstrap (seed, split) sets — measure ranking order stability</a:t>
            </a:r>
          </a:p>
          <a:p>
            <a:pPr lvl="1" algn="l">
              <a:spcBef>
                <a:spcPts val="100"/>
              </a:spcBef>
              <a:spcAft>
                <a:spcPts val="200"/>
              </a:spcAft>
            </a:pPr>
            <a:r>
              <a:rPr sz="1100" b="0">
                <a:solidFill>
                  <a:srgbClr val="00FFB3"/>
                </a:solidFill>
              </a:rPr>
              <a:t>  · </a:t>
            </a:r>
            <a:r>
              <a:rPr sz="1100" b="0">
                <a:solidFill>
                  <a:srgbClr val="B0C4D8"/>
                </a:solidFill>
              </a:rPr>
              <a:t>Stable ranking: pocket maintains rank across 90%+ of bootstrap samples → trustworthy</a:t>
            </a:r>
          </a:p>
          <a:p>
            <a:pPr lvl="1" algn="l">
              <a:spcBef>
                <a:spcPts val="100"/>
              </a:spcBef>
              <a:spcAft>
                <a:spcPts val="200"/>
              </a:spcAft>
            </a:pPr>
            <a:r>
              <a:rPr sz="1100" b="0">
                <a:solidFill>
                  <a:srgbClr val="00FFB3"/>
                </a:solidFill>
              </a:rPr>
              <a:t>  · </a:t>
            </a:r>
            <a:r>
              <a:rPr sz="1100" b="0">
                <a:solidFill>
                  <a:srgbClr val="B0C4D8"/>
                </a:solidFill>
              </a:rPr>
              <a:t>Unstable ranking: frequent swaps across samples → evaluation window too short, signal too noisy</a:t>
            </a:r>
          </a:p>
        </p:txBody>
      </p:sp>
      <p:sp>
        <p:nvSpPr>
          <p:cNvPr id="7" name="Rectangle 6"/>
          <p:cNvSpPr/>
          <p:nvPr/>
        </p:nvSpPr>
        <p:spPr>
          <a:xfrm>
            <a:off x="7406640" y="804672"/>
            <a:ext cx="4572000" cy="5760720"/>
          </a:xfrm>
          <a:prstGeom prst="rect">
            <a:avLst/>
          </a:prstGeom>
          <a:solidFill>
            <a:srgbClr val="153045"/>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00D4FF"/>
                </a:solidFill>
              </a:rPr>
              <a:t>[ VISUAL ]</a:t>
            </a:r>
          </a:p>
          <a:p>
            <a:pPr algn="ctr"/>
            <a:r>
              <a:rPr sz="700" i="1">
                <a:solidFill>
                  <a:srgbClr val="B0C4D8"/>
                </a:solidFill>
              </a:rPr>
              <a:t>Ranked list of top-10 pockets shown three times: current config, alternative seeds, alternative splits. Colored arrows show how rankings change (up=improvement, down=degradation). 'Stability score' annotation per pocket: frequency of appearing in top-5 across configurations.</a:t>
            </a:r>
          </a:p>
        </p:txBody>
      </p:sp>
      <p:sp>
        <p:nvSpPr>
          <p:cNvPr id="8" name="Rectangle 7"/>
          <p:cNvSpPr/>
          <p:nvPr/>
        </p:nvSpPr>
        <p:spPr>
          <a:xfrm>
            <a:off x="0" y="6812280"/>
            <a:ext cx="12191695" cy="45720"/>
          </a:xfrm>
          <a:prstGeom prst="rect">
            <a:avLst/>
          </a:prstGeom>
          <a:solidFill>
            <a:srgbClr val="008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A3A5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371600" cy="1371600"/>
          </a:xfrm>
          <a:prstGeom prst="rect">
            <a:avLst/>
          </a:prstGeom>
          <a:noFill/>
        </p:spPr>
        <p:txBody>
          <a:bodyPr wrap="square">
            <a:spAutoFit/>
          </a:bodyPr>
          <a:lstStyle/>
          <a:p/>
          <a:p>
            <a:pPr algn="l">
              <a:spcBef>
                <a:spcPts val="0"/>
              </a:spcBef>
              <a:spcAft>
                <a:spcPts val="0"/>
              </a:spcAft>
            </a:pPr>
            <a:r>
              <a:rPr sz="7200" b="1" i="0">
                <a:solidFill>
                  <a:srgbClr val="00D4FF"/>
                </a:solidFill>
              </a:rPr>
              <a:t>X</a:t>
            </a:r>
          </a:p>
        </p:txBody>
      </p:sp>
      <p:sp>
        <p:nvSpPr>
          <p:cNvPr id="5" name="TextBox 4"/>
          <p:cNvSpPr txBox="1"/>
          <p:nvPr/>
        </p:nvSpPr>
        <p:spPr>
          <a:xfrm>
            <a:off x="2011680" y="2011680"/>
            <a:ext cx="9601200" cy="2286000"/>
          </a:xfrm>
          <a:prstGeom prst="rect">
            <a:avLst/>
          </a:prstGeom>
          <a:noFill/>
        </p:spPr>
        <p:txBody>
          <a:bodyPr wrap="square">
            <a:spAutoFit/>
          </a:bodyPr>
          <a:lstStyle/>
          <a:p/>
          <a:p>
            <a:pPr algn="l">
              <a:spcBef>
                <a:spcPts val="0"/>
              </a:spcBef>
              <a:spcAft>
                <a:spcPts val="600"/>
              </a:spcAft>
            </a:pPr>
            <a:r>
              <a:rPr sz="3400" b="1" i="0">
                <a:solidFill>
                  <a:srgbClr val="FFFFFF"/>
                </a:solidFill>
              </a:rPr>
              <a:t>Philosophical and Systems Insight</a:t>
            </a:r>
          </a:p>
          <a:p>
            <a:pPr algn="l">
              <a:spcBef>
                <a:spcPts val="0"/>
              </a:spcBef>
              <a:spcAft>
                <a:spcPts val="0"/>
              </a:spcAft>
            </a:pPr>
            <a:r>
              <a:rPr sz="1600" b="0" i="0">
                <a:solidFill>
                  <a:srgbClr val="B0C4D8"/>
                </a:solidFill>
              </a:rPr>
              <a:t>The Deeper Principles That Govern the Design</a:t>
            </a:r>
          </a:p>
        </p:txBody>
      </p:sp>
      <p:sp>
        <p:nvSpPr>
          <p:cNvPr id="6" name="Rectangle 5"/>
          <p:cNvSpPr/>
          <p:nvPr/>
        </p:nvSpPr>
        <p:spPr>
          <a:xfrm>
            <a:off x="2011680" y="1920240"/>
            <a:ext cx="36576" cy="2011680"/>
          </a:xfrm>
          <a:prstGeom prst="rect">
            <a:avLst/>
          </a:prstGeom>
          <a:solidFill>
            <a:srgbClr val="00FF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F1F3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12191695" cy="658368"/>
          </a:xfrm>
          <a:prstGeom prst="rect">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10789920" cy="594360"/>
          </a:xfrm>
          <a:prstGeom prst="rect">
            <a:avLst/>
          </a:prstGeom>
          <a:noFill/>
        </p:spPr>
        <p:txBody>
          <a:bodyPr wrap="square">
            <a:spAutoFit/>
          </a:bodyPr>
          <a:lstStyle/>
          <a:p/>
          <a:p>
            <a:pPr algn="l">
              <a:spcBef>
                <a:spcPts val="0"/>
              </a:spcBef>
              <a:spcAft>
                <a:spcPts val="0"/>
              </a:spcAft>
            </a:pPr>
            <a:r>
              <a:rPr sz="2000" b="1" i="0">
                <a:solidFill>
                  <a:srgbClr val="FFFFFF"/>
                </a:solidFill>
              </a:rPr>
              <a:t>Markets Punish Naive Alpha — Execution Realism Determines Truth</a:t>
            </a:r>
          </a:p>
        </p:txBody>
      </p:sp>
      <p:sp>
        <p:nvSpPr>
          <p:cNvPr id="5" name="TextBox 4"/>
          <p:cNvSpPr txBox="1"/>
          <p:nvPr/>
        </p:nvSpPr>
        <p:spPr>
          <a:xfrm>
            <a:off x="11155680" y="91440"/>
            <a:ext cx="914400" cy="457200"/>
          </a:xfrm>
          <a:prstGeom prst="rect">
            <a:avLst/>
          </a:prstGeom>
          <a:noFill/>
        </p:spPr>
        <p:txBody>
          <a:bodyPr wrap="square">
            <a:spAutoFit/>
          </a:bodyPr>
          <a:lstStyle/>
          <a:p/>
          <a:p>
            <a:pPr algn="r">
              <a:spcBef>
                <a:spcPts val="0"/>
              </a:spcBef>
              <a:spcAft>
                <a:spcPts val="0"/>
              </a:spcAft>
            </a:pPr>
            <a:r>
              <a:rPr sz="800" b="0" i="0">
                <a:solidFill>
                  <a:srgbClr val="00D4FF"/>
                </a:solidFill>
              </a:rPr>
              <a:t>10.1</a:t>
            </a:r>
          </a:p>
        </p:txBody>
      </p:sp>
      <p:sp>
        <p:nvSpPr>
          <p:cNvPr id="6" name="TextBox 5"/>
          <p:cNvSpPr txBox="1"/>
          <p:nvPr/>
        </p:nvSpPr>
        <p:spPr>
          <a:xfrm>
            <a:off x="274320" y="804672"/>
            <a:ext cx="6949440" cy="5760720"/>
          </a:xfrm>
          <a:prstGeom prst="rect">
            <a:avLst/>
          </a:prstGeom>
          <a:noFill/>
        </p:spPr>
        <p:txBody>
          <a:bodyPr wrap="square">
            <a:spAutoFit/>
          </a:bodyPr>
          <a:lstStyle/>
          <a:p>
            <a:pPr algn="l">
              <a:spcBef>
                <a:spcPts val="300"/>
              </a:spcBef>
              <a:spcAft>
                <a:spcPts val="200"/>
              </a:spcAft>
            </a:pPr>
            <a:r>
              <a:rPr sz="1300" b="1">
                <a:solidFill>
                  <a:srgbClr val="00D4FF"/>
                </a:solidFill>
              </a:rPr>
              <a:t>▸ </a:t>
            </a:r>
            <a:r>
              <a:rPr sz="1300" b="0">
                <a:solidFill>
                  <a:srgbClr val="FFFFFF"/>
                </a:solidFill>
              </a:rPr>
              <a:t>Apparent alpha = gross return on fills, measured without costs</a:t>
            </a:r>
          </a:p>
          <a:p>
            <a:pPr algn="l">
              <a:spcBef>
                <a:spcPts val="300"/>
              </a:spcBef>
              <a:spcAft>
                <a:spcPts val="200"/>
              </a:spcAft>
            </a:pPr>
            <a:r>
              <a:rPr sz="1300" b="1">
                <a:solidFill>
                  <a:srgbClr val="00D4FF"/>
                </a:solidFill>
              </a:rPr>
              <a:t>▸ </a:t>
            </a:r>
            <a:r>
              <a:rPr sz="1300" b="0">
                <a:solidFill>
                  <a:srgbClr val="FFFFFF"/>
                </a:solidFill>
              </a:rPr>
              <a:t>Real alpha = net return per attempt, after all execution costs, spread over all signals</a:t>
            </a:r>
          </a:p>
          <a:p>
            <a:pPr algn="l">
              <a:spcBef>
                <a:spcPts val="300"/>
              </a:spcBef>
              <a:spcAft>
                <a:spcPts val="200"/>
              </a:spcAft>
            </a:pPr>
            <a:r>
              <a:rPr sz="1300" b="1">
                <a:solidFill>
                  <a:srgbClr val="00D4FF"/>
                </a:solidFill>
              </a:rPr>
              <a:t>▸ </a:t>
            </a:r>
            <a:r>
              <a:rPr sz="1300" b="0">
                <a:solidFill>
                  <a:srgbClr val="FFFFFF"/>
                </a:solidFill>
              </a:rPr>
              <a:t>The gap between apparent and real is the cost of market participation</a:t>
            </a:r>
          </a:p>
          <a:p>
            <a:pPr algn="l">
              <a:spcBef>
                <a:spcPts val="300"/>
              </a:spcBef>
              <a:spcAft>
                <a:spcPts val="200"/>
              </a:spcAft>
            </a:pPr>
            <a:r>
              <a:rPr sz="1300" b="1">
                <a:solidFill>
                  <a:srgbClr val="00D4FF"/>
                </a:solidFill>
              </a:rPr>
              <a:t>▸ </a:t>
            </a:r>
            <a:r>
              <a:rPr sz="1300" b="0">
                <a:solidFill>
                  <a:srgbClr val="FFFFFF"/>
                </a:solidFill>
              </a:rPr>
              <a:t>In microstructure strategies, this gap frequently exceeds the apparent edge</a:t>
            </a:r>
          </a:p>
          <a:p>
            <a:pPr algn="l">
              <a:spcBef>
                <a:spcPts val="300"/>
              </a:spcBef>
              <a:spcAft>
                <a:spcPts val="200"/>
              </a:spcAft>
            </a:pPr>
            <a:r>
              <a:rPr sz="1300" b="1">
                <a:solidFill>
                  <a:srgbClr val="00D4FF"/>
                </a:solidFill>
              </a:rPr>
              <a:t>▸ </a:t>
            </a:r>
            <a:r>
              <a:rPr sz="1300" b="0">
                <a:solidFill>
                  <a:srgbClr val="FFFFFF"/>
                </a:solidFill>
              </a:rPr>
              <a:t>The purpose of execution realism is to measure this gap with maximum fidelity</a:t>
            </a:r>
          </a:p>
          <a:p>
            <a:pPr lvl="1" algn="l">
              <a:spcBef>
                <a:spcPts val="100"/>
              </a:spcBef>
              <a:spcAft>
                <a:spcPts val="200"/>
              </a:spcAft>
            </a:pPr>
            <a:r>
              <a:rPr sz="1100" b="0">
                <a:solidFill>
                  <a:srgbClr val="00FFB3"/>
                </a:solidFill>
              </a:rPr>
              <a:t>  · </a:t>
            </a:r>
            <a:r>
              <a:rPr sz="1100" b="0">
                <a:solidFill>
                  <a:srgbClr val="B0C4D8"/>
                </a:solidFill>
              </a:rPr>
              <a:t>A 70% accurate signal requiring 3 bps of execution cost is no better than a coin flip at 2.5 bps gross</a:t>
            </a:r>
          </a:p>
          <a:p>
            <a:pPr lvl="1" algn="l">
              <a:spcBef>
                <a:spcPts val="100"/>
              </a:spcBef>
              <a:spcAft>
                <a:spcPts val="200"/>
              </a:spcAft>
            </a:pPr>
            <a:r>
              <a:rPr sz="1100" b="0">
                <a:solidFill>
                  <a:srgbClr val="00FFB3"/>
                </a:solidFill>
              </a:rPr>
              <a:t>  · </a:t>
            </a:r>
            <a:r>
              <a:rPr sz="1100" b="0">
                <a:solidFill>
                  <a:srgbClr val="B0C4D8"/>
                </a:solidFill>
              </a:rPr>
              <a:t>Published signals that ignore fill selectivity and adverse selection are not deployable at scale</a:t>
            </a:r>
          </a:p>
        </p:txBody>
      </p:sp>
      <p:sp>
        <p:nvSpPr>
          <p:cNvPr id="7" name="Rectangle 6"/>
          <p:cNvSpPr/>
          <p:nvPr/>
        </p:nvSpPr>
        <p:spPr>
          <a:xfrm>
            <a:off x="7406640" y="804672"/>
            <a:ext cx="4572000" cy="5760720"/>
          </a:xfrm>
          <a:prstGeom prst="rect">
            <a:avLst/>
          </a:prstGeom>
          <a:solidFill>
            <a:srgbClr val="153045"/>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00D4FF"/>
                </a:solidFill>
              </a:rPr>
              <a:t>[ VISUAL ]</a:t>
            </a:r>
          </a:p>
          <a:p>
            <a:pPr algn="ctr"/>
            <a:r>
              <a:rPr sz="700" i="1">
                <a:solidFill>
                  <a:srgbClr val="B0C4D8"/>
                </a:solidFill>
              </a:rPr>
              <a:t>Two-tier horizontal bar for a stylized strategy. Top: 'Backtesting without execution model' — large green bar labeled 'Apparent Alpha'. Bottom: same bar with cost components carved out: fee (red), adverse (amber), missed fills (grey). Remaining slice = 'Real Alpha'. For our system: carve-outs exceed apparent alpha → remaining slice is negative. This is the core finding visualized.</a:t>
            </a:r>
          </a:p>
        </p:txBody>
      </p:sp>
      <p:sp>
        <p:nvSpPr>
          <p:cNvPr id="8" name="Rectangle 7"/>
          <p:cNvSpPr/>
          <p:nvPr/>
        </p:nvSpPr>
        <p:spPr>
          <a:xfrm>
            <a:off x="0" y="6812280"/>
            <a:ext cx="12191695" cy="45720"/>
          </a:xfrm>
          <a:prstGeom prst="rect">
            <a:avLst/>
          </a:prstGeom>
          <a:solidFill>
            <a:srgbClr val="008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F1F3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12191695" cy="658368"/>
          </a:xfrm>
          <a:prstGeom prst="rect">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10789920" cy="594360"/>
          </a:xfrm>
          <a:prstGeom prst="rect">
            <a:avLst/>
          </a:prstGeom>
          <a:noFill/>
        </p:spPr>
        <p:txBody>
          <a:bodyPr wrap="square">
            <a:spAutoFit/>
          </a:bodyPr>
          <a:lstStyle/>
          <a:p/>
          <a:p>
            <a:pPr algn="l">
              <a:spcBef>
                <a:spcPts val="0"/>
              </a:spcBef>
              <a:spcAft>
                <a:spcPts val="0"/>
              </a:spcAft>
            </a:pPr>
            <a:r>
              <a:rPr sz="2000" b="1" i="0">
                <a:solidFill>
                  <a:srgbClr val="FFFFFF"/>
                </a:solidFill>
              </a:rPr>
              <a:t>The System as Distributed Cognitive Architecture</a:t>
            </a:r>
          </a:p>
        </p:txBody>
      </p:sp>
      <p:sp>
        <p:nvSpPr>
          <p:cNvPr id="5" name="TextBox 4"/>
          <p:cNvSpPr txBox="1"/>
          <p:nvPr/>
        </p:nvSpPr>
        <p:spPr>
          <a:xfrm>
            <a:off x="11155680" y="91440"/>
            <a:ext cx="914400" cy="457200"/>
          </a:xfrm>
          <a:prstGeom prst="rect">
            <a:avLst/>
          </a:prstGeom>
          <a:noFill/>
        </p:spPr>
        <p:txBody>
          <a:bodyPr wrap="square">
            <a:spAutoFit/>
          </a:bodyPr>
          <a:lstStyle/>
          <a:p/>
          <a:p>
            <a:pPr algn="r">
              <a:spcBef>
                <a:spcPts val="0"/>
              </a:spcBef>
              <a:spcAft>
                <a:spcPts val="0"/>
              </a:spcAft>
            </a:pPr>
            <a:r>
              <a:rPr sz="800" b="0" i="0">
                <a:solidFill>
                  <a:srgbClr val="00D4FF"/>
                </a:solidFill>
              </a:rPr>
              <a:t>10.2</a:t>
            </a:r>
          </a:p>
        </p:txBody>
      </p:sp>
      <p:sp>
        <p:nvSpPr>
          <p:cNvPr id="6" name="TextBox 5"/>
          <p:cNvSpPr txBox="1"/>
          <p:nvPr/>
        </p:nvSpPr>
        <p:spPr>
          <a:xfrm>
            <a:off x="274320" y="804672"/>
            <a:ext cx="6949440" cy="5760720"/>
          </a:xfrm>
          <a:prstGeom prst="rect">
            <a:avLst/>
          </a:prstGeom>
          <a:noFill/>
        </p:spPr>
        <p:txBody>
          <a:bodyPr wrap="square">
            <a:spAutoFit/>
          </a:bodyPr>
          <a:lstStyle/>
          <a:p>
            <a:pPr algn="l">
              <a:spcBef>
                <a:spcPts val="300"/>
              </a:spcBef>
              <a:spcAft>
                <a:spcPts val="200"/>
              </a:spcAft>
            </a:pPr>
            <a:r>
              <a:rPr sz="1300" b="1">
                <a:solidFill>
                  <a:srgbClr val="00D4FF"/>
                </a:solidFill>
              </a:rPr>
              <a:t>▸ </a:t>
            </a:r>
            <a:r>
              <a:rPr sz="1300" b="0">
                <a:solidFill>
                  <a:srgbClr val="FFFFFF"/>
                </a:solidFill>
              </a:rPr>
              <a:t>Signal (strategies layer) = Perception — what does the market state suggest?</a:t>
            </a:r>
          </a:p>
          <a:p>
            <a:pPr algn="l">
              <a:spcBef>
                <a:spcPts val="300"/>
              </a:spcBef>
              <a:spcAft>
                <a:spcPts val="200"/>
              </a:spcAft>
            </a:pPr>
            <a:r>
              <a:rPr sz="1300" b="1">
                <a:solidFill>
                  <a:srgbClr val="00D4FF"/>
                </a:solidFill>
              </a:rPr>
              <a:t>▸ </a:t>
            </a:r>
            <a:r>
              <a:rPr sz="1300" b="0">
                <a:solidFill>
                  <a:srgbClr val="FFFFFF"/>
                </a:solidFill>
              </a:rPr>
              <a:t>Gate (entry_loop + attempt gate) = Judgment — is now the right moment to act?</a:t>
            </a:r>
          </a:p>
          <a:p>
            <a:pPr algn="l">
              <a:spcBef>
                <a:spcPts val="300"/>
              </a:spcBef>
              <a:spcAft>
                <a:spcPts val="200"/>
              </a:spcAft>
            </a:pPr>
            <a:r>
              <a:rPr sz="1300" b="1">
                <a:solidFill>
                  <a:srgbClr val="00D4FF"/>
                </a:solidFill>
              </a:rPr>
              <a:t>▸ </a:t>
            </a:r>
            <a:r>
              <a:rPr sz="1300" b="0">
                <a:solidFill>
                  <a:srgbClr val="FFFFFF"/>
                </a:solidFill>
              </a:rPr>
              <a:t>Execution (order_router + exchange) = Action — commit to the decision faithfully</a:t>
            </a:r>
          </a:p>
          <a:p>
            <a:pPr algn="l">
              <a:spcBef>
                <a:spcPts val="300"/>
              </a:spcBef>
              <a:spcAft>
                <a:spcPts val="200"/>
              </a:spcAft>
            </a:pPr>
            <a:r>
              <a:rPr sz="1300" b="1">
                <a:solidFill>
                  <a:srgbClr val="00D4FF"/>
                </a:solidFill>
              </a:rPr>
              <a:t>▸ </a:t>
            </a:r>
            <a:r>
              <a:rPr sz="1300" b="0">
                <a:solidFill>
                  <a:srgbClr val="FFFFFF"/>
                </a:solidFill>
              </a:rPr>
              <a:t>Reconcile (reconcile.py) = Truth Correction — align belief with exchange reality</a:t>
            </a:r>
          </a:p>
          <a:p>
            <a:pPr algn="l">
              <a:spcBef>
                <a:spcPts val="300"/>
              </a:spcBef>
              <a:spcAft>
                <a:spcPts val="200"/>
              </a:spcAft>
            </a:pPr>
            <a:r>
              <a:rPr sz="1300" b="1">
                <a:solidFill>
                  <a:srgbClr val="00D4FF"/>
                </a:solidFill>
              </a:rPr>
              <a:t>▸ </a:t>
            </a:r>
            <a:r>
              <a:rPr sz="1300" b="0">
                <a:solidFill>
                  <a:srgbClr val="FFFFFF"/>
                </a:solidFill>
              </a:rPr>
              <a:t>Position manager = Consequence Management — handle the outcome mechanically</a:t>
            </a:r>
          </a:p>
          <a:p>
            <a:pPr algn="l">
              <a:spcBef>
                <a:spcPts val="300"/>
              </a:spcBef>
              <a:spcAft>
                <a:spcPts val="200"/>
              </a:spcAft>
            </a:pPr>
            <a:r>
              <a:rPr sz="1300" b="1">
                <a:solidFill>
                  <a:srgbClr val="00D4FF"/>
                </a:solidFill>
              </a:rPr>
              <a:t>▸ </a:t>
            </a:r>
            <a:r>
              <a:rPr sz="1300" b="0">
                <a:solidFill>
                  <a:srgbClr val="FFFFFF"/>
                </a:solidFill>
              </a:rPr>
              <a:t>Each layer irreplaceable; no shortcut from perception to action is safe</a:t>
            </a:r>
          </a:p>
          <a:p>
            <a:pPr lvl="1" algn="l">
              <a:spcBef>
                <a:spcPts val="100"/>
              </a:spcBef>
              <a:spcAft>
                <a:spcPts val="200"/>
              </a:spcAft>
            </a:pPr>
            <a:r>
              <a:rPr sz="1100" b="0">
                <a:solidFill>
                  <a:srgbClr val="00FFB3"/>
                </a:solidFill>
              </a:rPr>
              <a:t>  · </a:t>
            </a:r>
            <a:r>
              <a:rPr sz="1100" b="0">
                <a:solidFill>
                  <a:srgbClr val="B0C4D8"/>
                </a:solidFill>
              </a:rPr>
              <a:t>Most value is added or destroyed at the Judgment layer — gate calibration is the key</a:t>
            </a:r>
          </a:p>
          <a:p>
            <a:pPr lvl="1" algn="l">
              <a:spcBef>
                <a:spcPts val="100"/>
              </a:spcBef>
              <a:spcAft>
                <a:spcPts val="200"/>
              </a:spcAft>
            </a:pPr>
            <a:r>
              <a:rPr sz="1100" b="0">
                <a:solidFill>
                  <a:srgbClr val="00FFB3"/>
                </a:solidFill>
              </a:rPr>
              <a:t>  · </a:t>
            </a:r>
            <a:r>
              <a:rPr sz="1100" b="0">
                <a:solidFill>
                  <a:srgbClr val="B0C4D8"/>
                </a:solidFill>
              </a:rPr>
              <a:t>Execution layer must not second-guess Judgment — execute faithfully, report accurately</a:t>
            </a:r>
          </a:p>
        </p:txBody>
      </p:sp>
      <p:sp>
        <p:nvSpPr>
          <p:cNvPr id="7" name="Rectangle 6"/>
          <p:cNvSpPr/>
          <p:nvPr/>
        </p:nvSpPr>
        <p:spPr>
          <a:xfrm>
            <a:off x="7406640" y="804672"/>
            <a:ext cx="4572000" cy="5760720"/>
          </a:xfrm>
          <a:prstGeom prst="rect">
            <a:avLst/>
          </a:prstGeom>
          <a:solidFill>
            <a:srgbClr val="153045"/>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00D4FF"/>
                </a:solidFill>
              </a:rPr>
              <a:t>[ VISUAL ]</a:t>
            </a:r>
          </a:p>
          <a:p>
            <a:pPr algn="ctr"/>
            <a:r>
              <a:rPr sz="700" i="1">
                <a:solidFill>
                  <a:srgbClr val="B0C4D8"/>
                </a:solidFill>
              </a:rPr>
              <a:t>Pentagon diagram with five vertices: Signal / Gate / Execution / Reconcile / Position_Manager. Directed edges connecting each to next. Color: blue=perception layers, green=action layers, red=truth layers. Each vertex annotated: function performed, key module, failure mode if absent.</a:t>
            </a:r>
          </a:p>
        </p:txBody>
      </p:sp>
      <p:sp>
        <p:nvSpPr>
          <p:cNvPr id="8" name="Rectangle 7"/>
          <p:cNvSpPr/>
          <p:nvPr/>
        </p:nvSpPr>
        <p:spPr>
          <a:xfrm>
            <a:off x="0" y="6812280"/>
            <a:ext cx="12191695" cy="45720"/>
          </a:xfrm>
          <a:prstGeom prst="rect">
            <a:avLst/>
          </a:prstGeom>
          <a:solidFill>
            <a:srgbClr val="008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F1F3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12191695" cy="658368"/>
          </a:xfrm>
          <a:prstGeom prst="rect">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10789920" cy="594360"/>
          </a:xfrm>
          <a:prstGeom prst="rect">
            <a:avLst/>
          </a:prstGeom>
          <a:noFill/>
        </p:spPr>
        <p:txBody>
          <a:bodyPr wrap="square">
            <a:spAutoFit/>
          </a:bodyPr>
          <a:lstStyle/>
          <a:p/>
          <a:p>
            <a:pPr algn="l">
              <a:spcBef>
                <a:spcPts val="0"/>
              </a:spcBef>
              <a:spcAft>
                <a:spcPts val="0"/>
              </a:spcAft>
            </a:pPr>
            <a:r>
              <a:rPr sz="2000" b="1" i="0">
                <a:solidFill>
                  <a:srgbClr val="FFFFFF"/>
                </a:solidFill>
              </a:rPr>
              <a:t>From Signal Generator to Execution-Aware Organism</a:t>
            </a:r>
          </a:p>
        </p:txBody>
      </p:sp>
      <p:sp>
        <p:nvSpPr>
          <p:cNvPr id="5" name="TextBox 4"/>
          <p:cNvSpPr txBox="1"/>
          <p:nvPr/>
        </p:nvSpPr>
        <p:spPr>
          <a:xfrm>
            <a:off x="11155680" y="91440"/>
            <a:ext cx="914400" cy="457200"/>
          </a:xfrm>
          <a:prstGeom prst="rect">
            <a:avLst/>
          </a:prstGeom>
          <a:noFill/>
        </p:spPr>
        <p:txBody>
          <a:bodyPr wrap="square">
            <a:spAutoFit/>
          </a:bodyPr>
          <a:lstStyle/>
          <a:p/>
          <a:p>
            <a:pPr algn="r">
              <a:spcBef>
                <a:spcPts val="0"/>
              </a:spcBef>
              <a:spcAft>
                <a:spcPts val="0"/>
              </a:spcAft>
            </a:pPr>
            <a:r>
              <a:rPr sz="800" b="0" i="0">
                <a:solidFill>
                  <a:srgbClr val="00D4FF"/>
                </a:solidFill>
              </a:rPr>
              <a:t>10.3</a:t>
            </a:r>
          </a:p>
        </p:txBody>
      </p:sp>
      <p:sp>
        <p:nvSpPr>
          <p:cNvPr id="6" name="TextBox 5"/>
          <p:cNvSpPr txBox="1"/>
          <p:nvPr/>
        </p:nvSpPr>
        <p:spPr>
          <a:xfrm>
            <a:off x="274320" y="804672"/>
            <a:ext cx="6949440" cy="5760720"/>
          </a:xfrm>
          <a:prstGeom prst="rect">
            <a:avLst/>
          </a:prstGeom>
          <a:noFill/>
        </p:spPr>
        <p:txBody>
          <a:bodyPr wrap="square">
            <a:spAutoFit/>
          </a:bodyPr>
          <a:lstStyle/>
          <a:p>
            <a:pPr algn="l">
              <a:spcBef>
                <a:spcPts val="300"/>
              </a:spcBef>
              <a:spcAft>
                <a:spcPts val="200"/>
              </a:spcAft>
            </a:pPr>
            <a:r>
              <a:rPr sz="1300" b="1">
                <a:solidFill>
                  <a:srgbClr val="00D4FF"/>
                </a:solidFill>
              </a:rPr>
              <a:t>▸ </a:t>
            </a:r>
            <a:r>
              <a:rPr sz="1300" b="0">
                <a:solidFill>
                  <a:srgbClr val="FFFFFF"/>
                </a:solidFill>
              </a:rPr>
              <a:t>v1 (initial): Signal → order. No gate. No capacity model. No execution realism.</a:t>
            </a:r>
          </a:p>
          <a:p>
            <a:pPr algn="l">
              <a:spcBef>
                <a:spcPts val="300"/>
              </a:spcBef>
              <a:spcAft>
                <a:spcPts val="200"/>
              </a:spcAft>
            </a:pPr>
            <a:r>
              <a:rPr sz="1300" b="1">
                <a:solidFill>
                  <a:srgbClr val="00D4FF"/>
                </a:solidFill>
              </a:rPr>
              <a:t>▸ </a:t>
            </a:r>
            <a:r>
              <a:rPr sz="1300" b="0">
                <a:solidFill>
                  <a:srgbClr val="FFFFFF"/>
                </a:solidFill>
              </a:rPr>
              <a:t>v2: Entry_loop gates. Kill-switch. Circuit breaker. Intent lifecycle. EXE invariants.</a:t>
            </a:r>
          </a:p>
          <a:p>
            <a:pPr algn="l">
              <a:spcBef>
                <a:spcPts val="300"/>
              </a:spcBef>
              <a:spcAft>
                <a:spcPts val="200"/>
              </a:spcAft>
            </a:pPr>
            <a:r>
              <a:rPr sz="1300" b="1">
                <a:solidFill>
                  <a:srgbClr val="00D4FF"/>
                </a:solidFill>
              </a:rPr>
              <a:t>▸ </a:t>
            </a:r>
            <a:r>
              <a:rPr sz="1300" b="0">
                <a:solidFill>
                  <a:srgbClr val="FFFFFF"/>
                </a:solidFill>
              </a:rPr>
              <a:t>v3: Passive fill simulator. Forward validation. Per-attempt metrics introduced.</a:t>
            </a:r>
          </a:p>
          <a:p>
            <a:pPr algn="l">
              <a:spcBef>
                <a:spcPts val="300"/>
              </a:spcBef>
              <a:spcAft>
                <a:spcPts val="200"/>
              </a:spcAft>
            </a:pPr>
            <a:r>
              <a:rPr sz="1300" b="1">
                <a:solidFill>
                  <a:srgbClr val="00D4FF"/>
                </a:solidFill>
              </a:rPr>
              <a:t>▸ </a:t>
            </a:r>
            <a:r>
              <a:rPr sz="1300" b="0">
                <a:solidFill>
                  <a:srgbClr val="FFFFFF"/>
                </a:solidFill>
              </a:rPr>
              <a:t>v4: Capacity filter. NPA-based ranking. Score raw fields. Gate degeneracy eliminated.</a:t>
            </a:r>
          </a:p>
          <a:p>
            <a:pPr algn="l">
              <a:spcBef>
                <a:spcPts val="300"/>
              </a:spcBef>
              <a:spcAft>
                <a:spcPts val="200"/>
              </a:spcAft>
            </a:pPr>
            <a:r>
              <a:rPr sz="1300" b="1">
                <a:solidFill>
                  <a:srgbClr val="00D4FF"/>
                </a:solidFill>
              </a:rPr>
              <a:t>▸ </a:t>
            </a:r>
            <a:r>
              <a:rPr sz="1300" b="0">
                <a:solidFill>
                  <a:srgbClr val="FFFFFF"/>
                </a:solidFill>
              </a:rPr>
              <a:t>v5 (current): Pre-attempt gate. DAT-04 verified. val_attempts_before_gate diagnostic.</a:t>
            </a:r>
          </a:p>
          <a:p>
            <a:pPr algn="l">
              <a:spcBef>
                <a:spcPts val="300"/>
              </a:spcBef>
              <a:spcAft>
                <a:spcPts val="200"/>
              </a:spcAft>
            </a:pPr>
            <a:r>
              <a:rPr sz="1300" b="1">
                <a:solidFill>
                  <a:srgbClr val="00D4FF"/>
                </a:solidFill>
              </a:rPr>
              <a:t>▸ </a:t>
            </a:r>
            <a:r>
              <a:rPr sz="1300" b="0">
                <a:solidFill>
                  <a:srgbClr val="FFFFFF"/>
                </a:solidFill>
              </a:rPr>
              <a:t>Each version reduces gap between apparent and real alpha measurement</a:t>
            </a:r>
          </a:p>
          <a:p>
            <a:pPr lvl="1" algn="l">
              <a:spcBef>
                <a:spcPts val="100"/>
              </a:spcBef>
              <a:spcAft>
                <a:spcPts val="200"/>
              </a:spcAft>
            </a:pPr>
            <a:r>
              <a:rPr sz="1100" b="0">
                <a:solidFill>
                  <a:srgbClr val="00FFB3"/>
                </a:solidFill>
              </a:rPr>
              <a:t>  · </a:t>
            </a:r>
            <a:r>
              <a:rPr sz="1100" b="0">
                <a:solidFill>
                  <a:srgbClr val="B0C4D8"/>
                </a:solidFill>
              </a:rPr>
              <a:t>Trajectory is convergent: each version reduces illusion, increases fidelity</a:t>
            </a:r>
          </a:p>
          <a:p>
            <a:pPr lvl="1" algn="l">
              <a:spcBef>
                <a:spcPts val="100"/>
              </a:spcBef>
              <a:spcAft>
                <a:spcPts val="200"/>
              </a:spcAft>
            </a:pPr>
            <a:r>
              <a:rPr sz="1100" b="0">
                <a:solidFill>
                  <a:srgbClr val="00FFB3"/>
                </a:solidFill>
              </a:rPr>
              <a:t>  · </a:t>
            </a:r>
            <a:r>
              <a:rPr sz="1100" b="0">
                <a:solidFill>
                  <a:srgbClr val="B0C4D8"/>
                </a:solidFill>
              </a:rPr>
              <a:t>v6 target: positive NPA confirmed on held-out splits at realistic fee/adverse</a:t>
            </a:r>
          </a:p>
        </p:txBody>
      </p:sp>
      <p:sp>
        <p:nvSpPr>
          <p:cNvPr id="7" name="Rectangle 6"/>
          <p:cNvSpPr/>
          <p:nvPr/>
        </p:nvSpPr>
        <p:spPr>
          <a:xfrm>
            <a:off x="7406640" y="804672"/>
            <a:ext cx="4572000" cy="5760720"/>
          </a:xfrm>
          <a:prstGeom prst="rect">
            <a:avLst/>
          </a:prstGeom>
          <a:solidFill>
            <a:srgbClr val="153045"/>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00D4FF"/>
                </a:solidFill>
              </a:rPr>
              <a:t>[ VISUAL ]</a:t>
            </a:r>
          </a:p>
          <a:p>
            <a:pPr algn="ctr"/>
            <a:r>
              <a:rPr sz="700" i="1">
                <a:solidFill>
                  <a:srgbClr val="B0C4D8"/>
                </a:solidFill>
              </a:rPr>
              <a:t>Timeline with 5 version markers. Each: version number, key addition, measurement fidelity score (low → very high). Ascending curve overlaid showing fidelity improvement. Annotations at each version: gap closed. Dotted line extending beyond v5 toward 'v6: positive NPA confirmed'.</a:t>
            </a:r>
          </a:p>
        </p:txBody>
      </p:sp>
      <p:sp>
        <p:nvSpPr>
          <p:cNvPr id="8" name="Rectangle 7"/>
          <p:cNvSpPr/>
          <p:nvPr/>
        </p:nvSpPr>
        <p:spPr>
          <a:xfrm>
            <a:off x="0" y="6812280"/>
            <a:ext cx="12191695" cy="45720"/>
          </a:xfrm>
          <a:prstGeom prst="rect">
            <a:avLst/>
          </a:prstGeom>
          <a:solidFill>
            <a:srgbClr val="008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F1F3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12191695" cy="658368"/>
          </a:xfrm>
          <a:prstGeom prst="rect">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10789920" cy="594360"/>
          </a:xfrm>
          <a:prstGeom prst="rect">
            <a:avLst/>
          </a:prstGeom>
          <a:noFill/>
        </p:spPr>
        <p:txBody>
          <a:bodyPr wrap="square">
            <a:spAutoFit/>
          </a:bodyPr>
          <a:lstStyle/>
          <a:p/>
          <a:p>
            <a:pPr algn="l">
              <a:spcBef>
                <a:spcPts val="0"/>
              </a:spcBef>
              <a:spcAft>
                <a:spcPts val="0"/>
              </a:spcAft>
            </a:pPr>
            <a:r>
              <a:rPr sz="2000" b="1" i="0">
                <a:solidFill>
                  <a:srgbClr val="FFFFFF"/>
                </a:solidFill>
              </a:rPr>
              <a:t>Operating Philosophy — Engineering Honesty in Quantitative Research</a:t>
            </a:r>
          </a:p>
        </p:txBody>
      </p:sp>
      <p:sp>
        <p:nvSpPr>
          <p:cNvPr id="5" name="TextBox 4"/>
          <p:cNvSpPr txBox="1"/>
          <p:nvPr/>
        </p:nvSpPr>
        <p:spPr>
          <a:xfrm>
            <a:off x="11155680" y="91440"/>
            <a:ext cx="914400" cy="457200"/>
          </a:xfrm>
          <a:prstGeom prst="rect">
            <a:avLst/>
          </a:prstGeom>
          <a:noFill/>
        </p:spPr>
        <p:txBody>
          <a:bodyPr wrap="square">
            <a:spAutoFit/>
          </a:bodyPr>
          <a:lstStyle/>
          <a:p/>
          <a:p>
            <a:pPr algn="r">
              <a:spcBef>
                <a:spcPts val="0"/>
              </a:spcBef>
              <a:spcAft>
                <a:spcPts val="0"/>
              </a:spcAft>
            </a:pPr>
            <a:r>
              <a:rPr sz="800" b="0" i="0">
                <a:solidFill>
                  <a:srgbClr val="00D4FF"/>
                </a:solidFill>
              </a:rPr>
              <a:t>10.4</a:t>
            </a:r>
          </a:p>
        </p:txBody>
      </p:sp>
      <p:sp>
        <p:nvSpPr>
          <p:cNvPr id="6" name="TextBox 5"/>
          <p:cNvSpPr txBox="1"/>
          <p:nvPr/>
        </p:nvSpPr>
        <p:spPr>
          <a:xfrm>
            <a:off x="274320" y="804672"/>
            <a:ext cx="6949440" cy="5760720"/>
          </a:xfrm>
          <a:prstGeom prst="rect">
            <a:avLst/>
          </a:prstGeom>
          <a:noFill/>
        </p:spPr>
        <p:txBody>
          <a:bodyPr wrap="square">
            <a:spAutoFit/>
          </a:bodyPr>
          <a:lstStyle/>
          <a:p>
            <a:pPr algn="l">
              <a:spcBef>
                <a:spcPts val="300"/>
              </a:spcBef>
              <a:spcAft>
                <a:spcPts val="200"/>
              </a:spcAft>
            </a:pPr>
            <a:r>
              <a:rPr sz="1300" b="1">
                <a:solidFill>
                  <a:srgbClr val="00D4FF"/>
                </a:solidFill>
              </a:rPr>
              <a:t>▸ </a:t>
            </a:r>
            <a:r>
              <a:rPr sz="1300" b="0">
                <a:solidFill>
                  <a:srgbClr val="FFFFFF"/>
                </a:solidFill>
              </a:rPr>
              <a:t>Measure what you claim to measure — not a proxy that is easier to measure</a:t>
            </a:r>
          </a:p>
          <a:p>
            <a:pPr algn="l">
              <a:spcBef>
                <a:spcPts val="300"/>
              </a:spcBef>
              <a:spcAft>
                <a:spcPts val="200"/>
              </a:spcAft>
            </a:pPr>
            <a:r>
              <a:rPr sz="1300" b="1">
                <a:solidFill>
                  <a:srgbClr val="00D4FF"/>
                </a:solidFill>
              </a:rPr>
              <a:t>▸ </a:t>
            </a:r>
            <a:r>
              <a:rPr sz="1300" b="0">
                <a:solidFill>
                  <a:srgbClr val="FFFFFF"/>
                </a:solidFill>
              </a:rPr>
              <a:t>A negative result that is honest is more valuable than a positive result that is not</a:t>
            </a:r>
          </a:p>
          <a:p>
            <a:pPr algn="l">
              <a:spcBef>
                <a:spcPts val="300"/>
              </a:spcBef>
              <a:spcAft>
                <a:spcPts val="200"/>
              </a:spcAft>
            </a:pPr>
            <a:r>
              <a:rPr sz="1300" b="1">
                <a:solidFill>
                  <a:srgbClr val="00D4FF"/>
                </a:solidFill>
              </a:rPr>
              <a:t>▸ </a:t>
            </a:r>
            <a:r>
              <a:rPr sz="1300" b="0">
                <a:solidFill>
                  <a:srgbClr val="FFFFFF"/>
                </a:solidFill>
              </a:rPr>
              <a:t>Every claim must be backed by a reproducible test or empirical verification</a:t>
            </a:r>
          </a:p>
          <a:p>
            <a:pPr algn="l">
              <a:spcBef>
                <a:spcPts val="300"/>
              </a:spcBef>
              <a:spcAft>
                <a:spcPts val="200"/>
              </a:spcAft>
            </a:pPr>
            <a:r>
              <a:rPr sz="1300" b="1">
                <a:solidFill>
                  <a:srgbClr val="00D4FF"/>
                </a:solidFill>
              </a:rPr>
              <a:t>▸ </a:t>
            </a:r>
            <a:r>
              <a:rPr sz="1300" b="0">
                <a:solidFill>
                  <a:srgbClr val="FFFFFF"/>
                </a:solidFill>
              </a:rPr>
              <a:t>The pipeline's job is to generate falsifiable hypotheses, not to confirm priors</a:t>
            </a:r>
          </a:p>
          <a:p>
            <a:pPr algn="l">
              <a:spcBef>
                <a:spcPts val="300"/>
              </a:spcBef>
              <a:spcAft>
                <a:spcPts val="200"/>
              </a:spcAft>
            </a:pPr>
            <a:r>
              <a:rPr sz="1300" b="1">
                <a:solidFill>
                  <a:srgbClr val="00D4FF"/>
                </a:solidFill>
              </a:rPr>
              <a:t>▸ </a:t>
            </a:r>
            <a:r>
              <a:rPr sz="1300" b="0">
                <a:solidFill>
                  <a:srgbClr val="FFFFFF"/>
                </a:solidFill>
              </a:rPr>
              <a:t>Deployment readiness: NPA &gt; 0 on held-out forward splits at fee=1.0, adv_mult=1.0</a:t>
            </a:r>
          </a:p>
          <a:p>
            <a:pPr algn="l">
              <a:spcBef>
                <a:spcPts val="300"/>
              </a:spcBef>
              <a:spcAft>
                <a:spcPts val="200"/>
              </a:spcAft>
            </a:pPr>
            <a:r>
              <a:rPr sz="1300" b="1">
                <a:solidFill>
                  <a:srgbClr val="00D4FF"/>
                </a:solidFill>
              </a:rPr>
              <a:t>▸ </a:t>
            </a:r>
            <a:r>
              <a:rPr sz="1300" b="0">
                <a:solidFill>
                  <a:srgbClr val="FFFFFF"/>
                </a:solidFill>
              </a:rPr>
              <a:t>'Measure more carefully, not deploy more aggressively' — the governing heuristic</a:t>
            </a:r>
          </a:p>
          <a:p>
            <a:pPr lvl="1" algn="l">
              <a:spcBef>
                <a:spcPts val="100"/>
              </a:spcBef>
              <a:spcAft>
                <a:spcPts val="200"/>
              </a:spcAft>
            </a:pPr>
            <a:r>
              <a:rPr sz="1100" b="0">
                <a:solidFill>
                  <a:srgbClr val="00FFB3"/>
                </a:solidFill>
              </a:rPr>
              <a:t>  · </a:t>
            </a:r>
            <a:r>
              <a:rPr sz="1100" b="0">
                <a:solidFill>
                  <a:srgbClr val="B0C4D8"/>
                </a:solidFill>
              </a:rPr>
              <a:t>Precision of measurement is the competitive moat in microstructure research</a:t>
            </a:r>
          </a:p>
          <a:p>
            <a:pPr lvl="1" algn="l">
              <a:spcBef>
                <a:spcPts val="100"/>
              </a:spcBef>
              <a:spcAft>
                <a:spcPts val="200"/>
              </a:spcAft>
            </a:pPr>
            <a:r>
              <a:rPr sz="1100" b="0">
                <a:solidFill>
                  <a:srgbClr val="00FFB3"/>
                </a:solidFill>
              </a:rPr>
              <a:t>  · </a:t>
            </a:r>
            <a:r>
              <a:rPr sz="1100" b="0">
                <a:solidFill>
                  <a:srgbClr val="B0C4D8"/>
                </a:solidFill>
              </a:rPr>
              <a:t>79 tests passing is a property of the current implementation — it must be maintained</a:t>
            </a:r>
          </a:p>
        </p:txBody>
      </p:sp>
      <p:sp>
        <p:nvSpPr>
          <p:cNvPr id="7" name="Rectangle 6"/>
          <p:cNvSpPr/>
          <p:nvPr/>
        </p:nvSpPr>
        <p:spPr>
          <a:xfrm>
            <a:off x="7406640" y="804672"/>
            <a:ext cx="4572000" cy="5760720"/>
          </a:xfrm>
          <a:prstGeom prst="rect">
            <a:avLst/>
          </a:prstGeom>
          <a:solidFill>
            <a:srgbClr val="153045"/>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00D4FF"/>
                </a:solidFill>
              </a:rPr>
              <a:t>[ VISUAL ]</a:t>
            </a:r>
          </a:p>
          <a:p>
            <a:pPr algn="ctr"/>
            <a:r>
              <a:rPr sz="700" i="1">
                <a:solidFill>
                  <a:srgbClr val="B0C4D8"/>
                </a:solidFill>
              </a:rPr>
              <a:t>Minimalist three-column table: Commitment | Mechanism | Verification. Row 1: Measure correctly | NPA not per-fill | test_npa_cost_applied_to_fills_only. Row 2: Honest negatives | NPA gate zeroes non-viable | test_ranker_filters_low_capacity. Row 3: Reproducible | seed-based determinism | test_net_per_attempt_deterministic. Row 4: Deployment gate | NPA&gt;0 criterion | Forward validation pipeline. Footer: '79 tests passing as of 2026-02-20'.</a:t>
            </a:r>
          </a:p>
        </p:txBody>
      </p:sp>
      <p:sp>
        <p:nvSpPr>
          <p:cNvPr id="8" name="Rectangle 7"/>
          <p:cNvSpPr/>
          <p:nvPr/>
        </p:nvSpPr>
        <p:spPr>
          <a:xfrm>
            <a:off x="0" y="6812280"/>
            <a:ext cx="12191695" cy="45720"/>
          </a:xfrm>
          <a:prstGeom prst="rect">
            <a:avLst/>
          </a:prstGeom>
          <a:solidFill>
            <a:srgbClr val="008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0972800" cy="914400"/>
          </a:xfrm>
          <a:prstGeom prst="rect">
            <a:avLst/>
          </a:prstGeom>
          <a:noFill/>
        </p:spPr>
        <p:txBody>
          <a:bodyPr wrap="square">
            <a:spAutoFit/>
          </a:bodyPr>
          <a:lstStyle/>
          <a:p/>
          <a:p>
            <a:pPr algn="l">
              <a:spcBef>
                <a:spcPts val="0"/>
              </a:spcBef>
              <a:spcAft>
                <a:spcPts val="0"/>
              </a:spcAft>
            </a:pPr>
            <a:r>
              <a:rPr sz="2600" b="1" i="0">
                <a:solidFill>
                  <a:srgbClr val="FFFFFF"/>
                </a:solidFill>
              </a:rPr>
              <a:t>Summary — Current State and Next Steps</a:t>
            </a:r>
          </a:p>
        </p:txBody>
      </p:sp>
      <p:sp>
        <p:nvSpPr>
          <p:cNvPr id="5" name="Rectangle 4"/>
          <p:cNvSpPr/>
          <p:nvPr/>
        </p:nvSpPr>
        <p:spPr>
          <a:xfrm>
            <a:off x="548640" y="1645920"/>
            <a:ext cx="10972800" cy="27432"/>
          </a:xfrm>
          <a:prstGeom prst="rect">
            <a:avLst/>
          </a:prstGeom>
          <a:solidFill>
            <a:srgbClr val="00FF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1005840" cy="384048"/>
          </a:xfrm>
          <a:prstGeom prst="rect">
            <a:avLst/>
          </a:prstGeom>
          <a:solidFill>
            <a:srgbClr val="00C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828800"/>
            <a:ext cx="969264" cy="292608"/>
          </a:xfrm>
          <a:prstGeom prst="rect">
            <a:avLst/>
          </a:prstGeom>
          <a:noFill/>
        </p:spPr>
        <p:txBody>
          <a:bodyPr wrap="square">
            <a:spAutoFit/>
          </a:bodyPr>
          <a:lstStyle/>
          <a:p/>
          <a:p>
            <a:pPr algn="ctr">
              <a:spcBef>
                <a:spcPts val="0"/>
              </a:spcBef>
              <a:spcAft>
                <a:spcPts val="0"/>
              </a:spcAft>
            </a:pPr>
            <a:r>
              <a:rPr sz="900" b="1" i="0">
                <a:solidFill>
                  <a:srgbClr val="0D1B2A"/>
                </a:solidFill>
              </a:rPr>
              <a:t>BUILT</a:t>
            </a:r>
          </a:p>
        </p:txBody>
      </p:sp>
      <p:sp>
        <p:nvSpPr>
          <p:cNvPr id="8" name="TextBox 7"/>
          <p:cNvSpPr txBox="1"/>
          <p:nvPr/>
        </p:nvSpPr>
        <p:spPr>
          <a:xfrm>
            <a:off x="1691640" y="1783080"/>
            <a:ext cx="10241280" cy="384048"/>
          </a:xfrm>
          <a:prstGeom prst="rect">
            <a:avLst/>
          </a:prstGeom>
          <a:noFill/>
        </p:spPr>
        <p:txBody>
          <a:bodyPr wrap="square">
            <a:spAutoFit/>
          </a:bodyPr>
          <a:lstStyle/>
          <a:p/>
          <a:p>
            <a:pPr algn="l">
              <a:spcBef>
                <a:spcPts val="0"/>
              </a:spcBef>
              <a:spcAft>
                <a:spcPts val="0"/>
              </a:spcAft>
            </a:pPr>
            <a:r>
              <a:rPr sz="1200" b="0" i="0">
                <a:solidFill>
                  <a:srgbClr val="FFFFFF"/>
                </a:solidFill>
              </a:rPr>
              <a:t>Execution-reliable infrastructure (EXE-01 → EXE-05 certified)</a:t>
            </a:r>
          </a:p>
        </p:txBody>
      </p:sp>
      <p:sp>
        <p:nvSpPr>
          <p:cNvPr id="9" name="Rectangle 8"/>
          <p:cNvSpPr/>
          <p:nvPr/>
        </p:nvSpPr>
        <p:spPr>
          <a:xfrm>
            <a:off x="548640" y="2258568"/>
            <a:ext cx="1005840" cy="384048"/>
          </a:xfrm>
          <a:prstGeom prst="rect">
            <a:avLst/>
          </a:prstGeom>
          <a:solidFill>
            <a:srgbClr val="00C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2304288"/>
            <a:ext cx="969264" cy="292608"/>
          </a:xfrm>
          <a:prstGeom prst="rect">
            <a:avLst/>
          </a:prstGeom>
          <a:noFill/>
        </p:spPr>
        <p:txBody>
          <a:bodyPr wrap="square">
            <a:spAutoFit/>
          </a:bodyPr>
          <a:lstStyle/>
          <a:p/>
          <a:p>
            <a:pPr algn="ctr">
              <a:spcBef>
                <a:spcPts val="0"/>
              </a:spcBef>
              <a:spcAft>
                <a:spcPts val="0"/>
              </a:spcAft>
            </a:pPr>
            <a:r>
              <a:rPr sz="900" b="1" i="0">
                <a:solidFill>
                  <a:srgbClr val="0D1B2A"/>
                </a:solidFill>
              </a:rPr>
              <a:t>BUILT</a:t>
            </a:r>
          </a:p>
        </p:txBody>
      </p:sp>
      <p:sp>
        <p:nvSpPr>
          <p:cNvPr id="11" name="TextBox 10"/>
          <p:cNvSpPr txBox="1"/>
          <p:nvPr/>
        </p:nvSpPr>
        <p:spPr>
          <a:xfrm>
            <a:off x="1691640" y="2258568"/>
            <a:ext cx="10241280" cy="384048"/>
          </a:xfrm>
          <a:prstGeom prst="rect">
            <a:avLst/>
          </a:prstGeom>
          <a:noFill/>
        </p:spPr>
        <p:txBody>
          <a:bodyPr wrap="square">
            <a:spAutoFit/>
          </a:bodyPr>
          <a:lstStyle/>
          <a:p/>
          <a:p>
            <a:pPr algn="l">
              <a:spcBef>
                <a:spcPts val="0"/>
              </a:spcBef>
              <a:spcAft>
                <a:spcPts val="0"/>
              </a:spcAft>
            </a:pPr>
            <a:r>
              <a:rPr sz="1200" b="0" i="0">
                <a:solidFill>
                  <a:srgbClr val="FFFFFF"/>
                </a:solidFill>
              </a:rPr>
              <a:t>Deterministic passive fill simulator with calibrated cost model</a:t>
            </a:r>
          </a:p>
        </p:txBody>
      </p:sp>
      <p:sp>
        <p:nvSpPr>
          <p:cNvPr id="12" name="Rectangle 11"/>
          <p:cNvSpPr/>
          <p:nvPr/>
        </p:nvSpPr>
        <p:spPr>
          <a:xfrm>
            <a:off x="548640" y="2734056"/>
            <a:ext cx="1005840" cy="384048"/>
          </a:xfrm>
          <a:prstGeom prst="rect">
            <a:avLst/>
          </a:prstGeom>
          <a:solidFill>
            <a:srgbClr val="00C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2779776"/>
            <a:ext cx="969264" cy="292608"/>
          </a:xfrm>
          <a:prstGeom prst="rect">
            <a:avLst/>
          </a:prstGeom>
          <a:noFill/>
        </p:spPr>
        <p:txBody>
          <a:bodyPr wrap="square">
            <a:spAutoFit/>
          </a:bodyPr>
          <a:lstStyle/>
          <a:p/>
          <a:p>
            <a:pPr algn="ctr">
              <a:spcBef>
                <a:spcPts val="0"/>
              </a:spcBef>
              <a:spcAft>
                <a:spcPts val="0"/>
              </a:spcAft>
            </a:pPr>
            <a:r>
              <a:rPr sz="900" b="1" i="0">
                <a:solidFill>
                  <a:srgbClr val="0D1B2A"/>
                </a:solidFill>
              </a:rPr>
              <a:t>BUILT</a:t>
            </a:r>
          </a:p>
        </p:txBody>
      </p:sp>
      <p:sp>
        <p:nvSpPr>
          <p:cNvPr id="14" name="TextBox 13"/>
          <p:cNvSpPr txBox="1"/>
          <p:nvPr/>
        </p:nvSpPr>
        <p:spPr>
          <a:xfrm>
            <a:off x="1691640" y="2734056"/>
            <a:ext cx="10241280" cy="384048"/>
          </a:xfrm>
          <a:prstGeom prst="rect">
            <a:avLst/>
          </a:prstGeom>
          <a:noFill/>
        </p:spPr>
        <p:txBody>
          <a:bodyPr wrap="square">
            <a:spAutoFit/>
          </a:bodyPr>
          <a:lstStyle/>
          <a:p/>
          <a:p>
            <a:pPr algn="l">
              <a:spcBef>
                <a:spcPts val="0"/>
              </a:spcBef>
              <a:spcAft>
                <a:spcPts val="0"/>
              </a:spcAft>
            </a:pPr>
            <a:r>
              <a:rPr sz="1200" b="0" i="0">
                <a:solidFill>
                  <a:srgbClr val="FFFFFF"/>
                </a:solidFill>
              </a:rPr>
              <a:t>Forward validation pipeline with split/seed discipline (DAT-01 → VAL-03)</a:t>
            </a:r>
          </a:p>
        </p:txBody>
      </p:sp>
      <p:sp>
        <p:nvSpPr>
          <p:cNvPr id="15" name="Rectangle 14"/>
          <p:cNvSpPr/>
          <p:nvPr/>
        </p:nvSpPr>
        <p:spPr>
          <a:xfrm>
            <a:off x="548640" y="3209544"/>
            <a:ext cx="1005840" cy="384048"/>
          </a:xfrm>
          <a:prstGeom prst="rect">
            <a:avLst/>
          </a:prstGeom>
          <a:solidFill>
            <a:srgbClr val="00C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3255264"/>
            <a:ext cx="969264" cy="292608"/>
          </a:xfrm>
          <a:prstGeom prst="rect">
            <a:avLst/>
          </a:prstGeom>
          <a:noFill/>
        </p:spPr>
        <p:txBody>
          <a:bodyPr wrap="square">
            <a:spAutoFit/>
          </a:bodyPr>
          <a:lstStyle/>
          <a:p/>
          <a:p>
            <a:pPr algn="ctr">
              <a:spcBef>
                <a:spcPts val="0"/>
              </a:spcBef>
              <a:spcAft>
                <a:spcPts val="0"/>
              </a:spcAft>
            </a:pPr>
            <a:r>
              <a:rPr sz="900" b="1" i="0">
                <a:solidFill>
                  <a:srgbClr val="0D1B2A"/>
                </a:solidFill>
              </a:rPr>
              <a:t>BUILT</a:t>
            </a:r>
          </a:p>
        </p:txBody>
      </p:sp>
      <p:sp>
        <p:nvSpPr>
          <p:cNvPr id="17" name="TextBox 16"/>
          <p:cNvSpPr txBox="1"/>
          <p:nvPr/>
        </p:nvSpPr>
        <p:spPr>
          <a:xfrm>
            <a:off x="1691640" y="3209544"/>
            <a:ext cx="10241280" cy="384048"/>
          </a:xfrm>
          <a:prstGeom prst="rect">
            <a:avLst/>
          </a:prstGeom>
          <a:noFill/>
        </p:spPr>
        <p:txBody>
          <a:bodyPr wrap="square">
            <a:spAutoFit/>
          </a:bodyPr>
          <a:lstStyle/>
          <a:p/>
          <a:p>
            <a:pPr algn="l">
              <a:spcBef>
                <a:spcPts val="0"/>
              </a:spcBef>
              <a:spcAft>
                <a:spcPts val="0"/>
              </a:spcAft>
            </a:pPr>
            <a:r>
              <a:rPr sz="1200" b="0" i="0">
                <a:solidFill>
                  <a:srgbClr val="FFFFFF"/>
                </a:solidFill>
              </a:rPr>
              <a:t>Pre-attempt gate mechanism — n_signals_before_gate diagnostic</a:t>
            </a:r>
          </a:p>
        </p:txBody>
      </p:sp>
      <p:sp>
        <p:nvSpPr>
          <p:cNvPr id="18" name="Rectangle 17"/>
          <p:cNvSpPr/>
          <p:nvPr/>
        </p:nvSpPr>
        <p:spPr>
          <a:xfrm>
            <a:off x="548640" y="3685032"/>
            <a:ext cx="1005840" cy="38404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730752"/>
            <a:ext cx="969264" cy="292608"/>
          </a:xfrm>
          <a:prstGeom prst="rect">
            <a:avLst/>
          </a:prstGeom>
          <a:noFill/>
        </p:spPr>
        <p:txBody>
          <a:bodyPr wrap="square">
            <a:spAutoFit/>
          </a:bodyPr>
          <a:lstStyle/>
          <a:p/>
          <a:p>
            <a:pPr algn="ctr">
              <a:spcBef>
                <a:spcPts val="0"/>
              </a:spcBef>
              <a:spcAft>
                <a:spcPts val="0"/>
              </a:spcAft>
            </a:pPr>
            <a:r>
              <a:rPr sz="900" b="1" i="0">
                <a:solidFill>
                  <a:srgbClr val="0D1B2A"/>
                </a:solidFill>
              </a:rPr>
              <a:t>FOUND</a:t>
            </a:r>
          </a:p>
        </p:txBody>
      </p:sp>
      <p:sp>
        <p:nvSpPr>
          <p:cNvPr id="20" name="TextBox 19"/>
          <p:cNvSpPr txBox="1"/>
          <p:nvPr/>
        </p:nvSpPr>
        <p:spPr>
          <a:xfrm>
            <a:off x="1691640" y="3685032"/>
            <a:ext cx="10241280" cy="384048"/>
          </a:xfrm>
          <a:prstGeom prst="rect">
            <a:avLst/>
          </a:prstGeom>
          <a:noFill/>
        </p:spPr>
        <p:txBody>
          <a:bodyPr wrap="square">
            <a:spAutoFit/>
          </a:bodyPr>
          <a:lstStyle/>
          <a:p/>
          <a:p>
            <a:pPr algn="l">
              <a:spcBef>
                <a:spcPts val="0"/>
              </a:spcBef>
              <a:spcAft>
                <a:spcPts val="0"/>
              </a:spcAft>
            </a:pPr>
            <a:r>
              <a:rPr sz="1200" b="0" i="0">
                <a:solidFill>
                  <a:srgbClr val="FFFFFF"/>
                </a:solidFill>
              </a:rPr>
              <a:t>Per-fill alpha exists marginally at fee = 0.5 bps</a:t>
            </a:r>
          </a:p>
        </p:txBody>
      </p:sp>
      <p:sp>
        <p:nvSpPr>
          <p:cNvPr id="21" name="Rectangle 20"/>
          <p:cNvSpPr/>
          <p:nvPr/>
        </p:nvSpPr>
        <p:spPr>
          <a:xfrm>
            <a:off x="548640" y="4160520"/>
            <a:ext cx="1005840" cy="384048"/>
          </a:xfrm>
          <a:prstGeom prst="rect">
            <a:avLst/>
          </a:prstGeom>
          <a:solidFill>
            <a:srgbClr val="FF3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4206240"/>
            <a:ext cx="969264" cy="292608"/>
          </a:xfrm>
          <a:prstGeom prst="rect">
            <a:avLst/>
          </a:prstGeom>
          <a:noFill/>
        </p:spPr>
        <p:txBody>
          <a:bodyPr wrap="square">
            <a:spAutoFit/>
          </a:bodyPr>
          <a:lstStyle/>
          <a:p/>
          <a:p>
            <a:pPr algn="ctr">
              <a:spcBef>
                <a:spcPts val="0"/>
              </a:spcBef>
              <a:spcAft>
                <a:spcPts val="0"/>
              </a:spcAft>
            </a:pPr>
            <a:r>
              <a:rPr sz="900" b="1" i="0">
                <a:solidFill>
                  <a:srgbClr val="0D1B2A"/>
                </a:solidFill>
              </a:rPr>
              <a:t>FOUND</a:t>
            </a:r>
          </a:p>
        </p:txBody>
      </p:sp>
      <p:sp>
        <p:nvSpPr>
          <p:cNvPr id="23" name="TextBox 22"/>
          <p:cNvSpPr txBox="1"/>
          <p:nvPr/>
        </p:nvSpPr>
        <p:spPr>
          <a:xfrm>
            <a:off x="1691640" y="4160520"/>
            <a:ext cx="10241280" cy="384048"/>
          </a:xfrm>
          <a:prstGeom prst="rect">
            <a:avLst/>
          </a:prstGeom>
          <a:noFill/>
        </p:spPr>
        <p:txBody>
          <a:bodyPr wrap="square">
            <a:spAutoFit/>
          </a:bodyPr>
          <a:lstStyle/>
          <a:p/>
          <a:p>
            <a:pPr algn="l">
              <a:spcBef>
                <a:spcPts val="0"/>
              </a:spcBef>
              <a:spcAft>
                <a:spcPts val="0"/>
              </a:spcAft>
            </a:pPr>
            <a:r>
              <a:rPr sz="1200" b="0" i="0">
                <a:solidFill>
                  <a:srgbClr val="FFAAAA"/>
                </a:solidFill>
              </a:rPr>
              <a:t>Per-attempt NPA negative at realistic fee = 1.0, adverse_mult = 1.0</a:t>
            </a:r>
          </a:p>
        </p:txBody>
      </p:sp>
      <p:sp>
        <p:nvSpPr>
          <p:cNvPr id="24" name="Rectangle 23"/>
          <p:cNvSpPr/>
          <p:nvPr/>
        </p:nvSpPr>
        <p:spPr>
          <a:xfrm>
            <a:off x="548640" y="4636008"/>
            <a:ext cx="1005840" cy="384048"/>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4681728"/>
            <a:ext cx="969264" cy="292608"/>
          </a:xfrm>
          <a:prstGeom prst="rect">
            <a:avLst/>
          </a:prstGeom>
          <a:noFill/>
        </p:spPr>
        <p:txBody>
          <a:bodyPr wrap="square">
            <a:spAutoFit/>
          </a:bodyPr>
          <a:lstStyle/>
          <a:p/>
          <a:p>
            <a:pPr algn="ctr">
              <a:spcBef>
                <a:spcPts val="0"/>
              </a:spcBef>
              <a:spcAft>
                <a:spcPts val="0"/>
              </a:spcAft>
            </a:pPr>
            <a:r>
              <a:rPr sz="900" b="1" i="0">
                <a:solidFill>
                  <a:srgbClr val="0D1B2A"/>
                </a:solidFill>
              </a:rPr>
              <a:t>NEXT</a:t>
            </a:r>
          </a:p>
        </p:txBody>
      </p:sp>
      <p:sp>
        <p:nvSpPr>
          <p:cNvPr id="26" name="TextBox 25"/>
          <p:cNvSpPr txBox="1"/>
          <p:nvPr/>
        </p:nvSpPr>
        <p:spPr>
          <a:xfrm>
            <a:off x="1691640" y="4636008"/>
            <a:ext cx="10241280" cy="384048"/>
          </a:xfrm>
          <a:prstGeom prst="rect">
            <a:avLst/>
          </a:prstGeom>
          <a:noFill/>
        </p:spPr>
        <p:txBody>
          <a:bodyPr wrap="square">
            <a:spAutoFit/>
          </a:bodyPr>
          <a:lstStyle/>
          <a:p/>
          <a:p>
            <a:pPr algn="l">
              <a:spcBef>
                <a:spcPts val="0"/>
              </a:spcBef>
              <a:spcAft>
                <a:spcPts val="0"/>
              </a:spcAft>
            </a:pPr>
            <a:r>
              <a:rPr sz="1200" b="0" i="0">
                <a:solidFill>
                  <a:srgbClr val="FFFFFF"/>
                </a:solidFill>
              </a:rPr>
              <a:t>Gate calibration sweep: find NPA &gt; 0 configuration on held-out splits</a:t>
            </a:r>
          </a:p>
        </p:txBody>
      </p:sp>
      <p:sp>
        <p:nvSpPr>
          <p:cNvPr id="27" name="Rectangle 26"/>
          <p:cNvSpPr/>
          <p:nvPr/>
        </p:nvSpPr>
        <p:spPr>
          <a:xfrm>
            <a:off x="548640" y="5111496"/>
            <a:ext cx="1005840" cy="384048"/>
          </a:xfrm>
          <a:prstGeom prst="rect">
            <a:avLst/>
          </a:prstGeom>
          <a:solidFill>
            <a:srgbClr val="FF3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5157216"/>
            <a:ext cx="969264" cy="292608"/>
          </a:xfrm>
          <a:prstGeom prst="rect">
            <a:avLst/>
          </a:prstGeom>
          <a:noFill/>
        </p:spPr>
        <p:txBody>
          <a:bodyPr wrap="square">
            <a:spAutoFit/>
          </a:bodyPr>
          <a:lstStyle/>
          <a:p/>
          <a:p>
            <a:pPr algn="ctr">
              <a:spcBef>
                <a:spcPts val="0"/>
              </a:spcBef>
              <a:spcAft>
                <a:spcPts val="0"/>
              </a:spcAft>
            </a:pPr>
            <a:r>
              <a:rPr sz="900" b="1" i="0">
                <a:solidFill>
                  <a:srgbClr val="0D1B2A"/>
                </a:solidFill>
              </a:rPr>
              <a:t>GATE</a:t>
            </a:r>
          </a:p>
        </p:txBody>
      </p:sp>
      <p:sp>
        <p:nvSpPr>
          <p:cNvPr id="29" name="TextBox 28"/>
          <p:cNvSpPr txBox="1"/>
          <p:nvPr/>
        </p:nvSpPr>
        <p:spPr>
          <a:xfrm>
            <a:off x="1691640" y="5111496"/>
            <a:ext cx="10241280" cy="384048"/>
          </a:xfrm>
          <a:prstGeom prst="rect">
            <a:avLst/>
          </a:prstGeom>
          <a:noFill/>
        </p:spPr>
        <p:txBody>
          <a:bodyPr wrap="square">
            <a:spAutoFit/>
          </a:bodyPr>
          <a:lstStyle/>
          <a:p/>
          <a:p>
            <a:pPr algn="l">
              <a:spcBef>
                <a:spcPts val="0"/>
              </a:spcBef>
              <a:spcAft>
                <a:spcPts val="0"/>
              </a:spcAft>
            </a:pPr>
            <a:r>
              <a:rPr sz="1200" b="0" i="0">
                <a:solidFill>
                  <a:srgbClr val="FFAAAA"/>
                </a:solidFill>
              </a:rPr>
              <a:t>Deployment blocked: NPA &lt; 0  |  Trigger: NPA &gt; 0 at fee=1.0, adv=1.0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A3A5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371600" cy="1371600"/>
          </a:xfrm>
          <a:prstGeom prst="rect">
            <a:avLst/>
          </a:prstGeom>
          <a:noFill/>
        </p:spPr>
        <p:txBody>
          <a:bodyPr wrap="square">
            <a:spAutoFit/>
          </a:bodyPr>
          <a:lstStyle/>
          <a:p/>
          <a:p>
            <a:pPr algn="l">
              <a:spcBef>
                <a:spcPts val="0"/>
              </a:spcBef>
              <a:spcAft>
                <a:spcPts val="0"/>
              </a:spcAft>
            </a:pPr>
            <a:r>
              <a:rPr sz="7200" b="1" i="0">
                <a:solidFill>
                  <a:srgbClr val="00D4FF"/>
                </a:solidFill>
              </a:rPr>
              <a:t>⊕</a:t>
            </a:r>
          </a:p>
        </p:txBody>
      </p:sp>
      <p:sp>
        <p:nvSpPr>
          <p:cNvPr id="5" name="TextBox 4"/>
          <p:cNvSpPr txBox="1"/>
          <p:nvPr/>
        </p:nvSpPr>
        <p:spPr>
          <a:xfrm>
            <a:off x="2011680" y="2011680"/>
            <a:ext cx="9601200" cy="2286000"/>
          </a:xfrm>
          <a:prstGeom prst="rect">
            <a:avLst/>
          </a:prstGeom>
          <a:noFill/>
        </p:spPr>
        <p:txBody>
          <a:bodyPr wrap="square">
            <a:spAutoFit/>
          </a:bodyPr>
          <a:lstStyle/>
          <a:p/>
          <a:p>
            <a:pPr algn="l">
              <a:spcBef>
                <a:spcPts val="0"/>
              </a:spcBef>
              <a:spcAft>
                <a:spcPts val="600"/>
              </a:spcAft>
            </a:pPr>
            <a:r>
              <a:rPr sz="3400" b="1" i="0">
                <a:solidFill>
                  <a:srgbClr val="FFFFFF"/>
                </a:solidFill>
              </a:rPr>
              <a:t>Appendices</a:t>
            </a:r>
          </a:p>
          <a:p>
            <a:pPr algn="l">
              <a:spcBef>
                <a:spcPts val="0"/>
              </a:spcBef>
              <a:spcAft>
                <a:spcPts val="0"/>
              </a:spcAft>
            </a:pPr>
            <a:r>
              <a:rPr sz="1600" b="0" i="0">
                <a:solidFill>
                  <a:srgbClr val="B0C4D8"/>
                </a:solidFill>
              </a:rPr>
              <a:t>File Map · Observability · Repro Commands</a:t>
            </a:r>
          </a:p>
        </p:txBody>
      </p:sp>
      <p:sp>
        <p:nvSpPr>
          <p:cNvPr id="6" name="Rectangle 5"/>
          <p:cNvSpPr/>
          <p:nvPr/>
        </p:nvSpPr>
        <p:spPr>
          <a:xfrm>
            <a:off x="2011680" y="1920240"/>
            <a:ext cx="36576" cy="2011680"/>
          </a:xfrm>
          <a:prstGeom prst="rect">
            <a:avLst/>
          </a:prstGeom>
          <a:solidFill>
            <a:srgbClr val="00FF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F1F3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12191695" cy="658368"/>
          </a:xfrm>
          <a:prstGeom prst="rect">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10789920" cy="594360"/>
          </a:xfrm>
          <a:prstGeom prst="rect">
            <a:avLst/>
          </a:prstGeom>
          <a:noFill/>
        </p:spPr>
        <p:txBody>
          <a:bodyPr wrap="square">
            <a:spAutoFit/>
          </a:bodyPr>
          <a:lstStyle/>
          <a:p/>
          <a:p>
            <a:pPr algn="l">
              <a:spcBef>
                <a:spcPts val="0"/>
              </a:spcBef>
              <a:spcAft>
                <a:spcPts val="0"/>
              </a:spcAft>
            </a:pPr>
            <a:r>
              <a:rPr sz="2000" b="1" i="0">
                <a:solidFill>
                  <a:srgbClr val="FFFFFF"/>
                </a:solidFill>
              </a:rPr>
              <a:t>Appendix A — File-to-Concern Map</a:t>
            </a:r>
          </a:p>
        </p:txBody>
      </p:sp>
      <p:sp>
        <p:nvSpPr>
          <p:cNvPr id="5" name="TextBox 4"/>
          <p:cNvSpPr txBox="1"/>
          <p:nvPr/>
        </p:nvSpPr>
        <p:spPr>
          <a:xfrm>
            <a:off x="11155680" y="91440"/>
            <a:ext cx="914400" cy="457200"/>
          </a:xfrm>
          <a:prstGeom prst="rect">
            <a:avLst/>
          </a:prstGeom>
          <a:noFill/>
        </p:spPr>
        <p:txBody>
          <a:bodyPr wrap="square">
            <a:spAutoFit/>
          </a:bodyPr>
          <a:lstStyle/>
          <a:p/>
          <a:p>
            <a:pPr algn="r">
              <a:spcBef>
                <a:spcPts val="0"/>
              </a:spcBef>
              <a:spcAft>
                <a:spcPts val="0"/>
              </a:spcAft>
            </a:pPr>
            <a:r>
              <a:rPr sz="800" b="0" i="0">
                <a:solidFill>
                  <a:srgbClr val="00D4FF"/>
                </a:solidFill>
              </a:rPr>
              <a:t>A.1</a:t>
            </a:r>
          </a:p>
        </p:txBody>
      </p:sp>
      <p:sp>
        <p:nvSpPr>
          <p:cNvPr id="6" name="Rectangle 5"/>
          <p:cNvSpPr/>
          <p:nvPr/>
        </p:nvSpPr>
        <p:spPr>
          <a:xfrm>
            <a:off x="182880" y="822960"/>
            <a:ext cx="11825935" cy="530352"/>
          </a:xfrm>
          <a:prstGeom prst="rect">
            <a:avLst/>
          </a:prstGeom>
          <a:solidFill>
            <a:srgbClr val="0F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868680"/>
            <a:ext cx="1874520" cy="438912"/>
          </a:xfrm>
          <a:prstGeom prst="rect">
            <a:avLst/>
          </a:prstGeom>
          <a:noFill/>
        </p:spPr>
        <p:txBody>
          <a:bodyPr wrap="square">
            <a:spAutoFit/>
          </a:bodyPr>
          <a:lstStyle/>
          <a:p/>
          <a:p>
            <a:pPr algn="l">
              <a:spcBef>
                <a:spcPts val="0"/>
              </a:spcBef>
              <a:spcAft>
                <a:spcPts val="0"/>
              </a:spcAft>
            </a:pPr>
            <a:r>
              <a:rPr sz="1100" b="1" i="0">
                <a:solidFill>
                  <a:srgbClr val="00D4FF"/>
                </a:solidFill>
              </a:rPr>
              <a:t>execution/entry_loop.py</a:t>
            </a:r>
          </a:p>
        </p:txBody>
      </p:sp>
      <p:sp>
        <p:nvSpPr>
          <p:cNvPr id="8" name="TextBox 7"/>
          <p:cNvSpPr txBox="1"/>
          <p:nvPr/>
        </p:nvSpPr>
        <p:spPr>
          <a:xfrm>
            <a:off x="2377440" y="868680"/>
            <a:ext cx="3977640" cy="438912"/>
          </a:xfrm>
          <a:prstGeom prst="rect">
            <a:avLst/>
          </a:prstGeom>
          <a:noFill/>
        </p:spPr>
        <p:txBody>
          <a:bodyPr wrap="square">
            <a:spAutoFit/>
          </a:bodyPr>
          <a:lstStyle/>
          <a:p/>
          <a:p>
            <a:pPr algn="l">
              <a:spcBef>
                <a:spcPts val="0"/>
              </a:spcBef>
              <a:spcAft>
                <a:spcPts val="0"/>
              </a:spcAft>
            </a:pPr>
            <a:r>
              <a:rPr sz="1100" b="0" i="0">
                <a:solidFill>
                  <a:srgbClr val="FFFFFF"/>
                </a:solidFill>
              </a:rPr>
              <a:t>Execution Gate</a:t>
            </a:r>
          </a:p>
        </p:txBody>
      </p:sp>
      <p:sp>
        <p:nvSpPr>
          <p:cNvPr id="9" name="TextBox 8"/>
          <p:cNvSpPr txBox="1"/>
          <p:nvPr/>
        </p:nvSpPr>
        <p:spPr>
          <a:xfrm>
            <a:off x="6583680" y="868680"/>
            <a:ext cx="5623560" cy="438912"/>
          </a:xfrm>
          <a:prstGeom prst="rect">
            <a:avLst/>
          </a:prstGeom>
          <a:noFill/>
        </p:spPr>
        <p:txBody>
          <a:bodyPr wrap="square">
            <a:spAutoFit/>
          </a:bodyPr>
          <a:lstStyle/>
          <a:p/>
          <a:p>
            <a:pPr algn="l">
              <a:spcBef>
                <a:spcPts val="0"/>
              </a:spcBef>
              <a:spcAft>
                <a:spcPts val="0"/>
              </a:spcAft>
            </a:pPr>
            <a:r>
              <a:rPr sz="1000" b="0" i="0">
                <a:solidFill>
                  <a:srgbClr val="B0C4D8"/>
                </a:solidFill>
              </a:rPr>
              <a:t>20+ gate checks before submission; kill-switch, circuit breaker</a:t>
            </a:r>
          </a:p>
        </p:txBody>
      </p:sp>
      <p:sp>
        <p:nvSpPr>
          <p:cNvPr id="10" name="Rectangle 9"/>
          <p:cNvSpPr/>
          <p:nvPr/>
        </p:nvSpPr>
        <p:spPr>
          <a:xfrm>
            <a:off x="182880" y="1353312"/>
            <a:ext cx="11825935" cy="530352"/>
          </a:xfrm>
          <a:prstGeom prst="rect">
            <a:avLst/>
          </a:prstGeom>
          <a:solidFill>
            <a:srgbClr val="142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1399032"/>
            <a:ext cx="1874520" cy="438912"/>
          </a:xfrm>
          <a:prstGeom prst="rect">
            <a:avLst/>
          </a:prstGeom>
          <a:noFill/>
        </p:spPr>
        <p:txBody>
          <a:bodyPr wrap="square">
            <a:spAutoFit/>
          </a:bodyPr>
          <a:lstStyle/>
          <a:p/>
          <a:p>
            <a:pPr algn="l">
              <a:spcBef>
                <a:spcPts val="0"/>
              </a:spcBef>
              <a:spcAft>
                <a:spcPts val="0"/>
              </a:spcAft>
            </a:pPr>
            <a:r>
              <a:rPr sz="1100" b="1" i="0">
                <a:solidFill>
                  <a:srgbClr val="00D4FF"/>
                </a:solidFill>
              </a:rPr>
              <a:t>execution/order_router.py</a:t>
            </a:r>
          </a:p>
        </p:txBody>
      </p:sp>
      <p:sp>
        <p:nvSpPr>
          <p:cNvPr id="12" name="TextBox 11"/>
          <p:cNvSpPr txBox="1"/>
          <p:nvPr/>
        </p:nvSpPr>
        <p:spPr>
          <a:xfrm>
            <a:off x="2377440" y="1399032"/>
            <a:ext cx="3977640" cy="438912"/>
          </a:xfrm>
          <a:prstGeom prst="rect">
            <a:avLst/>
          </a:prstGeom>
          <a:noFill/>
        </p:spPr>
        <p:txBody>
          <a:bodyPr wrap="square">
            <a:spAutoFit/>
          </a:bodyPr>
          <a:lstStyle/>
          <a:p/>
          <a:p>
            <a:pPr algn="l">
              <a:spcBef>
                <a:spcPts val="0"/>
              </a:spcBef>
              <a:spcAft>
                <a:spcPts val="0"/>
              </a:spcAft>
            </a:pPr>
            <a:r>
              <a:rPr sz="1100" b="0" i="0">
                <a:solidFill>
                  <a:srgbClr val="FFFFFF"/>
                </a:solidFill>
              </a:rPr>
              <a:t>Execution Route</a:t>
            </a:r>
          </a:p>
        </p:txBody>
      </p:sp>
      <p:sp>
        <p:nvSpPr>
          <p:cNvPr id="13" name="TextBox 12"/>
          <p:cNvSpPr txBox="1"/>
          <p:nvPr/>
        </p:nvSpPr>
        <p:spPr>
          <a:xfrm>
            <a:off x="6583680" y="1399032"/>
            <a:ext cx="5623560" cy="438912"/>
          </a:xfrm>
          <a:prstGeom prst="rect">
            <a:avLst/>
          </a:prstGeom>
          <a:noFill/>
        </p:spPr>
        <p:txBody>
          <a:bodyPr wrap="square">
            <a:spAutoFit/>
          </a:bodyPr>
          <a:lstStyle/>
          <a:p/>
          <a:p>
            <a:pPr algn="l">
              <a:spcBef>
                <a:spcPts val="0"/>
              </a:spcBef>
              <a:spcAft>
                <a:spcPts val="0"/>
              </a:spcAft>
            </a:pPr>
            <a:r>
              <a:rPr sz="1000" b="0" i="0">
                <a:solidFill>
                  <a:srgbClr val="B0C4D8"/>
                </a:solidFill>
              </a:rPr>
              <a:t>Idempotent routing, retry classification, clientOrderId</a:t>
            </a:r>
          </a:p>
        </p:txBody>
      </p:sp>
      <p:sp>
        <p:nvSpPr>
          <p:cNvPr id="14" name="Rectangle 13"/>
          <p:cNvSpPr/>
          <p:nvPr/>
        </p:nvSpPr>
        <p:spPr>
          <a:xfrm>
            <a:off x="182880" y="1883664"/>
            <a:ext cx="11825935" cy="530352"/>
          </a:xfrm>
          <a:prstGeom prst="rect">
            <a:avLst/>
          </a:prstGeom>
          <a:solidFill>
            <a:srgbClr val="0F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4320" y="1929384"/>
            <a:ext cx="1874520" cy="438912"/>
          </a:xfrm>
          <a:prstGeom prst="rect">
            <a:avLst/>
          </a:prstGeom>
          <a:noFill/>
        </p:spPr>
        <p:txBody>
          <a:bodyPr wrap="square">
            <a:spAutoFit/>
          </a:bodyPr>
          <a:lstStyle/>
          <a:p/>
          <a:p>
            <a:pPr algn="l">
              <a:spcBef>
                <a:spcPts val="0"/>
              </a:spcBef>
              <a:spcAft>
                <a:spcPts val="0"/>
              </a:spcAft>
            </a:pPr>
            <a:r>
              <a:rPr sz="1100" b="1" i="0">
                <a:solidFill>
                  <a:srgbClr val="00D4FF"/>
                </a:solidFill>
              </a:rPr>
              <a:t>execution/reconcile.py</a:t>
            </a:r>
          </a:p>
        </p:txBody>
      </p:sp>
      <p:sp>
        <p:nvSpPr>
          <p:cNvPr id="16" name="TextBox 15"/>
          <p:cNvSpPr txBox="1"/>
          <p:nvPr/>
        </p:nvSpPr>
        <p:spPr>
          <a:xfrm>
            <a:off x="2377440" y="1929384"/>
            <a:ext cx="3977640" cy="438912"/>
          </a:xfrm>
          <a:prstGeom prst="rect">
            <a:avLst/>
          </a:prstGeom>
          <a:noFill/>
        </p:spPr>
        <p:txBody>
          <a:bodyPr wrap="square">
            <a:spAutoFit/>
          </a:bodyPr>
          <a:lstStyle/>
          <a:p/>
          <a:p>
            <a:pPr algn="l">
              <a:spcBef>
                <a:spcPts val="0"/>
              </a:spcBef>
              <a:spcAft>
                <a:spcPts val="0"/>
              </a:spcAft>
            </a:pPr>
            <a:r>
              <a:rPr sz="1100" b="0" i="0">
                <a:solidFill>
                  <a:srgbClr val="FFFFFF"/>
                </a:solidFill>
              </a:rPr>
              <a:t>State Authority</a:t>
            </a:r>
          </a:p>
        </p:txBody>
      </p:sp>
      <p:sp>
        <p:nvSpPr>
          <p:cNvPr id="17" name="TextBox 16"/>
          <p:cNvSpPr txBox="1"/>
          <p:nvPr/>
        </p:nvSpPr>
        <p:spPr>
          <a:xfrm>
            <a:off x="6583680" y="1929384"/>
            <a:ext cx="5623560" cy="438912"/>
          </a:xfrm>
          <a:prstGeom prst="rect">
            <a:avLst/>
          </a:prstGeom>
          <a:noFill/>
        </p:spPr>
        <p:txBody>
          <a:bodyPr wrap="square">
            <a:spAutoFit/>
          </a:bodyPr>
          <a:lstStyle/>
          <a:p/>
          <a:p>
            <a:pPr algn="l">
              <a:spcBef>
                <a:spcPts val="0"/>
              </a:spcBef>
              <a:spcAft>
                <a:spcPts val="0"/>
              </a:spcAft>
            </a:pPr>
            <a:r>
              <a:rPr sz="1000" b="0" i="0">
                <a:solidFill>
                  <a:srgbClr val="B0C4D8"/>
                </a:solidFill>
              </a:rPr>
              <a:t>Exchange→brain state convergence; orphan detection</a:t>
            </a:r>
          </a:p>
        </p:txBody>
      </p:sp>
      <p:sp>
        <p:nvSpPr>
          <p:cNvPr id="18" name="Rectangle 17"/>
          <p:cNvSpPr/>
          <p:nvPr/>
        </p:nvSpPr>
        <p:spPr>
          <a:xfrm>
            <a:off x="182880" y="2414016"/>
            <a:ext cx="11825935" cy="530352"/>
          </a:xfrm>
          <a:prstGeom prst="rect">
            <a:avLst/>
          </a:prstGeom>
          <a:solidFill>
            <a:srgbClr val="142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4320" y="2459736"/>
            <a:ext cx="1874520" cy="438912"/>
          </a:xfrm>
          <a:prstGeom prst="rect">
            <a:avLst/>
          </a:prstGeom>
          <a:noFill/>
        </p:spPr>
        <p:txBody>
          <a:bodyPr wrap="square">
            <a:spAutoFit/>
          </a:bodyPr>
          <a:lstStyle/>
          <a:p/>
          <a:p>
            <a:pPr algn="l">
              <a:spcBef>
                <a:spcPts val="0"/>
              </a:spcBef>
              <a:spcAft>
                <a:spcPts val="0"/>
              </a:spcAft>
            </a:pPr>
            <a:r>
              <a:rPr sz="1100" b="1" i="0">
                <a:solidFill>
                  <a:srgbClr val="00D4FF"/>
                </a:solidFill>
              </a:rPr>
              <a:t>execution/passive_execution_simulator.py</a:t>
            </a:r>
          </a:p>
        </p:txBody>
      </p:sp>
      <p:sp>
        <p:nvSpPr>
          <p:cNvPr id="20" name="TextBox 19"/>
          <p:cNvSpPr txBox="1"/>
          <p:nvPr/>
        </p:nvSpPr>
        <p:spPr>
          <a:xfrm>
            <a:off x="2377440" y="2459736"/>
            <a:ext cx="3977640" cy="438912"/>
          </a:xfrm>
          <a:prstGeom prst="rect">
            <a:avLst/>
          </a:prstGeom>
          <a:noFill/>
        </p:spPr>
        <p:txBody>
          <a:bodyPr wrap="square">
            <a:spAutoFit/>
          </a:bodyPr>
          <a:lstStyle/>
          <a:p/>
          <a:p>
            <a:pPr algn="l">
              <a:spcBef>
                <a:spcPts val="0"/>
              </a:spcBef>
              <a:spcAft>
                <a:spcPts val="0"/>
              </a:spcAft>
            </a:pPr>
            <a:r>
              <a:rPr sz="1100" b="0" i="0">
                <a:solidFill>
                  <a:srgbClr val="FFFFFF"/>
                </a:solidFill>
              </a:rPr>
              <a:t>Research Sim</a:t>
            </a:r>
          </a:p>
        </p:txBody>
      </p:sp>
      <p:sp>
        <p:nvSpPr>
          <p:cNvPr id="21" name="TextBox 20"/>
          <p:cNvSpPr txBox="1"/>
          <p:nvPr/>
        </p:nvSpPr>
        <p:spPr>
          <a:xfrm>
            <a:off x="6583680" y="2459736"/>
            <a:ext cx="5623560" cy="438912"/>
          </a:xfrm>
          <a:prstGeom prst="rect">
            <a:avLst/>
          </a:prstGeom>
          <a:noFill/>
        </p:spPr>
        <p:txBody>
          <a:bodyPr wrap="square">
            <a:spAutoFit/>
          </a:bodyPr>
          <a:lstStyle/>
          <a:p/>
          <a:p>
            <a:pPr algn="l">
              <a:spcBef>
                <a:spcPts val="0"/>
              </a:spcBef>
              <a:spcAft>
                <a:spcPts val="0"/>
              </a:spcAft>
            </a:pPr>
            <a:r>
              <a:rPr sz="1000" b="0" i="0">
                <a:solidFill>
                  <a:srgbClr val="B0C4D8"/>
                </a:solidFill>
              </a:rPr>
              <a:t>simulate_passive_fill: deterministic, calibrated cost model</a:t>
            </a:r>
          </a:p>
        </p:txBody>
      </p:sp>
      <p:sp>
        <p:nvSpPr>
          <p:cNvPr id="22" name="Rectangle 21"/>
          <p:cNvSpPr/>
          <p:nvPr/>
        </p:nvSpPr>
        <p:spPr>
          <a:xfrm>
            <a:off x="182880" y="2944368"/>
            <a:ext cx="11825935" cy="530352"/>
          </a:xfrm>
          <a:prstGeom prst="rect">
            <a:avLst/>
          </a:prstGeom>
          <a:solidFill>
            <a:srgbClr val="0F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4320" y="2990088"/>
            <a:ext cx="1874520" cy="438912"/>
          </a:xfrm>
          <a:prstGeom prst="rect">
            <a:avLst/>
          </a:prstGeom>
          <a:noFill/>
        </p:spPr>
        <p:txBody>
          <a:bodyPr wrap="square">
            <a:spAutoFit/>
          </a:bodyPr>
          <a:lstStyle/>
          <a:p/>
          <a:p>
            <a:pPr algn="l">
              <a:spcBef>
                <a:spcPts val="0"/>
              </a:spcBef>
              <a:spcAft>
                <a:spcPts val="0"/>
              </a:spcAft>
            </a:pPr>
            <a:r>
              <a:rPr sz="1100" b="1" i="0">
                <a:solidFill>
                  <a:srgbClr val="00D4FF"/>
                </a:solidFill>
              </a:rPr>
              <a:t>tools/micro_edge_backtest.py</a:t>
            </a:r>
          </a:p>
        </p:txBody>
      </p:sp>
      <p:sp>
        <p:nvSpPr>
          <p:cNvPr id="24" name="TextBox 23"/>
          <p:cNvSpPr txBox="1"/>
          <p:nvPr/>
        </p:nvSpPr>
        <p:spPr>
          <a:xfrm>
            <a:off x="2377440" y="2990088"/>
            <a:ext cx="3977640" cy="438912"/>
          </a:xfrm>
          <a:prstGeom prst="rect">
            <a:avLst/>
          </a:prstGeom>
          <a:noFill/>
        </p:spPr>
        <p:txBody>
          <a:bodyPr wrap="square">
            <a:spAutoFit/>
          </a:bodyPr>
          <a:lstStyle/>
          <a:p/>
          <a:p>
            <a:pPr algn="l">
              <a:spcBef>
                <a:spcPts val="0"/>
              </a:spcBef>
              <a:spcAft>
                <a:spcPts val="0"/>
              </a:spcAft>
            </a:pPr>
            <a:r>
              <a:rPr sz="1100" b="0" i="0">
                <a:solidFill>
                  <a:srgbClr val="FFFFFF"/>
                </a:solidFill>
              </a:rPr>
              <a:t>Research Backtest</a:t>
            </a:r>
          </a:p>
        </p:txBody>
      </p:sp>
      <p:sp>
        <p:nvSpPr>
          <p:cNvPr id="25" name="TextBox 24"/>
          <p:cNvSpPr txBox="1"/>
          <p:nvPr/>
        </p:nvSpPr>
        <p:spPr>
          <a:xfrm>
            <a:off x="6583680" y="2990088"/>
            <a:ext cx="5623560" cy="438912"/>
          </a:xfrm>
          <a:prstGeom prst="rect">
            <a:avLst/>
          </a:prstGeom>
          <a:noFill/>
        </p:spPr>
        <p:txBody>
          <a:bodyPr wrap="square">
            <a:spAutoFit/>
          </a:bodyPr>
          <a:lstStyle/>
          <a:p/>
          <a:p>
            <a:pPr algn="l">
              <a:spcBef>
                <a:spcPts val="0"/>
              </a:spcBef>
              <a:spcAft>
                <a:spcPts val="0"/>
              </a:spcAft>
            </a:pPr>
            <a:r>
              <a:rPr sz="1000" b="0" i="0">
                <a:solidFill>
                  <a:srgbClr val="B0C4D8"/>
                </a:solidFill>
              </a:rPr>
              <a:t>simulate_rule_trades + _passes_attempt_gate + metrics</a:t>
            </a:r>
          </a:p>
        </p:txBody>
      </p:sp>
      <p:sp>
        <p:nvSpPr>
          <p:cNvPr id="26" name="Rectangle 25"/>
          <p:cNvSpPr/>
          <p:nvPr/>
        </p:nvSpPr>
        <p:spPr>
          <a:xfrm>
            <a:off x="182880" y="3474720"/>
            <a:ext cx="11825935" cy="530352"/>
          </a:xfrm>
          <a:prstGeom prst="rect">
            <a:avLst/>
          </a:prstGeom>
          <a:solidFill>
            <a:srgbClr val="142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4320" y="3520440"/>
            <a:ext cx="1874520" cy="438912"/>
          </a:xfrm>
          <a:prstGeom prst="rect">
            <a:avLst/>
          </a:prstGeom>
          <a:noFill/>
        </p:spPr>
        <p:txBody>
          <a:bodyPr wrap="square">
            <a:spAutoFit/>
          </a:bodyPr>
          <a:lstStyle/>
          <a:p/>
          <a:p>
            <a:pPr algn="l">
              <a:spcBef>
                <a:spcPts val="0"/>
              </a:spcBef>
              <a:spcAft>
                <a:spcPts val="0"/>
              </a:spcAft>
            </a:pPr>
            <a:r>
              <a:rPr sz="1100" b="1" i="0">
                <a:solidFill>
                  <a:srgbClr val="00D4FF"/>
                </a:solidFill>
              </a:rPr>
              <a:t>tools/validate_passive_pocket_forward.py</a:t>
            </a:r>
          </a:p>
        </p:txBody>
      </p:sp>
      <p:sp>
        <p:nvSpPr>
          <p:cNvPr id="28" name="TextBox 27"/>
          <p:cNvSpPr txBox="1"/>
          <p:nvPr/>
        </p:nvSpPr>
        <p:spPr>
          <a:xfrm>
            <a:off x="2377440" y="3520440"/>
            <a:ext cx="3977640" cy="438912"/>
          </a:xfrm>
          <a:prstGeom prst="rect">
            <a:avLst/>
          </a:prstGeom>
          <a:noFill/>
        </p:spPr>
        <p:txBody>
          <a:bodyPr wrap="square">
            <a:spAutoFit/>
          </a:bodyPr>
          <a:lstStyle/>
          <a:p/>
          <a:p>
            <a:pPr algn="l">
              <a:spcBef>
                <a:spcPts val="0"/>
              </a:spcBef>
              <a:spcAft>
                <a:spcPts val="0"/>
              </a:spcAft>
            </a:pPr>
            <a:r>
              <a:rPr sz="1100" b="0" i="0">
                <a:solidFill>
                  <a:srgbClr val="FFFFFF"/>
                </a:solidFill>
              </a:rPr>
              <a:t>Research Val</a:t>
            </a:r>
          </a:p>
        </p:txBody>
      </p:sp>
      <p:sp>
        <p:nvSpPr>
          <p:cNvPr id="29" name="TextBox 28"/>
          <p:cNvSpPr txBox="1"/>
          <p:nvPr/>
        </p:nvSpPr>
        <p:spPr>
          <a:xfrm>
            <a:off x="6583680" y="3520440"/>
            <a:ext cx="5623560" cy="438912"/>
          </a:xfrm>
          <a:prstGeom prst="rect">
            <a:avLst/>
          </a:prstGeom>
          <a:noFill/>
        </p:spPr>
        <p:txBody>
          <a:bodyPr wrap="square">
            <a:spAutoFit/>
          </a:bodyPr>
          <a:lstStyle/>
          <a:p/>
          <a:p>
            <a:pPr algn="l">
              <a:spcBef>
                <a:spcPts val="0"/>
              </a:spcBef>
              <a:spcAft>
                <a:spcPts val="0"/>
              </a:spcAft>
            </a:pPr>
            <a:r>
              <a:rPr sz="1000" b="0" i="0">
                <a:solidFill>
                  <a:srgbClr val="B0C4D8"/>
                </a:solidFill>
              </a:rPr>
              <a:t>Forward splits, capacity fields, gate diagnostic outputs</a:t>
            </a:r>
          </a:p>
        </p:txBody>
      </p:sp>
      <p:sp>
        <p:nvSpPr>
          <p:cNvPr id="30" name="Rectangle 29"/>
          <p:cNvSpPr/>
          <p:nvPr/>
        </p:nvSpPr>
        <p:spPr>
          <a:xfrm>
            <a:off x="182880" y="4005072"/>
            <a:ext cx="11825935" cy="530352"/>
          </a:xfrm>
          <a:prstGeom prst="rect">
            <a:avLst/>
          </a:prstGeom>
          <a:solidFill>
            <a:srgbClr val="0F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74320" y="4050792"/>
            <a:ext cx="1874520" cy="438912"/>
          </a:xfrm>
          <a:prstGeom prst="rect">
            <a:avLst/>
          </a:prstGeom>
          <a:noFill/>
        </p:spPr>
        <p:txBody>
          <a:bodyPr wrap="square">
            <a:spAutoFit/>
          </a:bodyPr>
          <a:lstStyle/>
          <a:p/>
          <a:p>
            <a:pPr algn="l">
              <a:spcBef>
                <a:spcPts val="0"/>
              </a:spcBef>
              <a:spcAft>
                <a:spcPts val="0"/>
              </a:spcAft>
            </a:pPr>
            <a:r>
              <a:rPr sz="1100" b="1" i="0">
                <a:solidFill>
                  <a:srgbClr val="00D4FF"/>
                </a:solidFill>
              </a:rPr>
              <a:t>tools/rank_passive_pockets_forward.py</a:t>
            </a:r>
          </a:p>
        </p:txBody>
      </p:sp>
      <p:sp>
        <p:nvSpPr>
          <p:cNvPr id="32" name="TextBox 31"/>
          <p:cNvSpPr txBox="1"/>
          <p:nvPr/>
        </p:nvSpPr>
        <p:spPr>
          <a:xfrm>
            <a:off x="2377440" y="4050792"/>
            <a:ext cx="3977640" cy="438912"/>
          </a:xfrm>
          <a:prstGeom prst="rect">
            <a:avLst/>
          </a:prstGeom>
          <a:noFill/>
        </p:spPr>
        <p:txBody>
          <a:bodyPr wrap="square">
            <a:spAutoFit/>
          </a:bodyPr>
          <a:lstStyle/>
          <a:p/>
          <a:p>
            <a:pPr algn="l">
              <a:spcBef>
                <a:spcPts val="0"/>
              </a:spcBef>
              <a:spcAft>
                <a:spcPts val="0"/>
              </a:spcAft>
            </a:pPr>
            <a:r>
              <a:rPr sz="1100" b="0" i="0">
                <a:solidFill>
                  <a:srgbClr val="FFFFFF"/>
                </a:solidFill>
              </a:rPr>
              <a:t>Research Rank</a:t>
            </a:r>
          </a:p>
        </p:txBody>
      </p:sp>
      <p:sp>
        <p:nvSpPr>
          <p:cNvPr id="33" name="TextBox 32"/>
          <p:cNvSpPr txBox="1"/>
          <p:nvPr/>
        </p:nvSpPr>
        <p:spPr>
          <a:xfrm>
            <a:off x="6583680" y="4050792"/>
            <a:ext cx="5623560" cy="438912"/>
          </a:xfrm>
          <a:prstGeom prst="rect">
            <a:avLst/>
          </a:prstGeom>
          <a:noFill/>
        </p:spPr>
        <p:txBody>
          <a:bodyPr wrap="square">
            <a:spAutoFit/>
          </a:bodyPr>
          <a:lstStyle/>
          <a:p/>
          <a:p>
            <a:pPr algn="l">
              <a:spcBef>
                <a:spcPts val="0"/>
              </a:spcBef>
              <a:spcAft>
                <a:spcPts val="0"/>
              </a:spcAft>
            </a:pPr>
            <a:r>
              <a:rPr sz="1000" b="0" i="0">
                <a:solidFill>
                  <a:srgbClr val="B0C4D8"/>
                </a:solidFill>
              </a:rPr>
              <a:t>NPA-based scoring, capacity filter, score_raw_* fields</a:t>
            </a:r>
          </a:p>
        </p:txBody>
      </p:sp>
      <p:sp>
        <p:nvSpPr>
          <p:cNvPr id="34" name="Rectangle 33"/>
          <p:cNvSpPr/>
          <p:nvPr/>
        </p:nvSpPr>
        <p:spPr>
          <a:xfrm>
            <a:off x="182880" y="4535424"/>
            <a:ext cx="11825935" cy="530352"/>
          </a:xfrm>
          <a:prstGeom prst="rect">
            <a:avLst/>
          </a:prstGeom>
          <a:solidFill>
            <a:srgbClr val="142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74320" y="4581144"/>
            <a:ext cx="1874520" cy="438912"/>
          </a:xfrm>
          <a:prstGeom prst="rect">
            <a:avLst/>
          </a:prstGeom>
          <a:noFill/>
        </p:spPr>
        <p:txBody>
          <a:bodyPr wrap="square">
            <a:spAutoFit/>
          </a:bodyPr>
          <a:lstStyle/>
          <a:p/>
          <a:p>
            <a:pPr algn="l">
              <a:spcBef>
                <a:spcPts val="0"/>
              </a:spcBef>
              <a:spcAft>
                <a:spcPts val="0"/>
              </a:spcAft>
            </a:pPr>
            <a:r>
              <a:rPr sz="1100" b="1" i="0">
                <a:solidFill>
                  <a:srgbClr val="00D4FF"/>
                </a:solidFill>
              </a:rPr>
              <a:t>tools/micro_edge_lib.py</a:t>
            </a:r>
          </a:p>
        </p:txBody>
      </p:sp>
      <p:sp>
        <p:nvSpPr>
          <p:cNvPr id="36" name="TextBox 35"/>
          <p:cNvSpPr txBox="1"/>
          <p:nvPr/>
        </p:nvSpPr>
        <p:spPr>
          <a:xfrm>
            <a:off x="2377440" y="4581144"/>
            <a:ext cx="3977640" cy="438912"/>
          </a:xfrm>
          <a:prstGeom prst="rect">
            <a:avLst/>
          </a:prstGeom>
          <a:noFill/>
        </p:spPr>
        <p:txBody>
          <a:bodyPr wrap="square">
            <a:spAutoFit/>
          </a:bodyPr>
          <a:lstStyle/>
          <a:p/>
          <a:p>
            <a:pPr algn="l">
              <a:spcBef>
                <a:spcPts val="0"/>
              </a:spcBef>
              <a:spcAft>
                <a:spcPts val="0"/>
              </a:spcAft>
            </a:pPr>
            <a:r>
              <a:rPr sz="1100" b="0" i="0">
                <a:solidFill>
                  <a:srgbClr val="FFFFFF"/>
                </a:solidFill>
              </a:rPr>
              <a:t>Feature Gen</a:t>
            </a:r>
          </a:p>
        </p:txBody>
      </p:sp>
      <p:sp>
        <p:nvSpPr>
          <p:cNvPr id="37" name="TextBox 36"/>
          <p:cNvSpPr txBox="1"/>
          <p:nvPr/>
        </p:nvSpPr>
        <p:spPr>
          <a:xfrm>
            <a:off x="6583680" y="4581144"/>
            <a:ext cx="5623560" cy="438912"/>
          </a:xfrm>
          <a:prstGeom prst="rect">
            <a:avLst/>
          </a:prstGeom>
          <a:noFill/>
        </p:spPr>
        <p:txBody>
          <a:bodyPr wrap="square">
            <a:spAutoFit/>
          </a:bodyPr>
          <a:lstStyle/>
          <a:p/>
          <a:p>
            <a:pPr algn="l">
              <a:spcBef>
                <a:spcPts val="0"/>
              </a:spcBef>
              <a:spcAft>
                <a:spcPts val="0"/>
              </a:spcAft>
            </a:pPr>
            <a:r>
              <a:rPr sz="1000" b="0" i="0">
                <a:solidFill>
                  <a:srgbClr val="B0C4D8"/>
                </a:solidFill>
              </a:rPr>
              <a:t>build_bucket_features: 1-second bucket aggregation</a:t>
            </a:r>
          </a:p>
        </p:txBody>
      </p:sp>
      <p:sp>
        <p:nvSpPr>
          <p:cNvPr id="38" name="Rectangle 37"/>
          <p:cNvSpPr/>
          <p:nvPr/>
        </p:nvSpPr>
        <p:spPr>
          <a:xfrm>
            <a:off x="182880" y="5065776"/>
            <a:ext cx="11825935" cy="530352"/>
          </a:xfrm>
          <a:prstGeom prst="rect">
            <a:avLst/>
          </a:prstGeom>
          <a:solidFill>
            <a:srgbClr val="0F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74320" y="5111496"/>
            <a:ext cx="1874520" cy="438912"/>
          </a:xfrm>
          <a:prstGeom prst="rect">
            <a:avLst/>
          </a:prstGeom>
          <a:noFill/>
        </p:spPr>
        <p:txBody>
          <a:bodyPr wrap="square">
            <a:spAutoFit/>
          </a:bodyPr>
          <a:lstStyle/>
          <a:p/>
          <a:p>
            <a:pPr algn="l">
              <a:spcBef>
                <a:spcPts val="0"/>
              </a:spcBef>
              <a:spcAft>
                <a:spcPts val="0"/>
              </a:spcAft>
            </a:pPr>
            <a:r>
              <a:rPr sz="1100" b="1" i="0">
                <a:solidFill>
                  <a:srgbClr val="00D4FF"/>
                </a:solidFill>
              </a:rPr>
              <a:t>tests/test_exec_cost_models.py</a:t>
            </a:r>
          </a:p>
        </p:txBody>
      </p:sp>
      <p:sp>
        <p:nvSpPr>
          <p:cNvPr id="40" name="TextBox 39"/>
          <p:cNvSpPr txBox="1"/>
          <p:nvPr/>
        </p:nvSpPr>
        <p:spPr>
          <a:xfrm>
            <a:off x="2377440" y="5111496"/>
            <a:ext cx="3977640" cy="438912"/>
          </a:xfrm>
          <a:prstGeom prst="rect">
            <a:avLst/>
          </a:prstGeom>
          <a:noFill/>
        </p:spPr>
        <p:txBody>
          <a:bodyPr wrap="square">
            <a:spAutoFit/>
          </a:bodyPr>
          <a:lstStyle/>
          <a:p/>
          <a:p>
            <a:pPr algn="l">
              <a:spcBef>
                <a:spcPts val="0"/>
              </a:spcBef>
              <a:spcAft>
                <a:spcPts val="0"/>
              </a:spcAft>
            </a:pPr>
            <a:r>
              <a:rPr sz="1100" b="0" i="0">
                <a:solidFill>
                  <a:srgbClr val="FFFFFF"/>
                </a:solidFill>
              </a:rPr>
              <a:t>Test: Costs</a:t>
            </a:r>
          </a:p>
        </p:txBody>
      </p:sp>
      <p:sp>
        <p:nvSpPr>
          <p:cNvPr id="41" name="TextBox 40"/>
          <p:cNvSpPr txBox="1"/>
          <p:nvPr/>
        </p:nvSpPr>
        <p:spPr>
          <a:xfrm>
            <a:off x="6583680" y="5111496"/>
            <a:ext cx="5623560" cy="438912"/>
          </a:xfrm>
          <a:prstGeom prst="rect">
            <a:avLst/>
          </a:prstGeom>
          <a:noFill/>
        </p:spPr>
        <p:txBody>
          <a:bodyPr wrap="square">
            <a:spAutoFit/>
          </a:bodyPr>
          <a:lstStyle/>
          <a:p/>
          <a:p>
            <a:pPr algn="l">
              <a:spcBef>
                <a:spcPts val="0"/>
              </a:spcBef>
              <a:spcAft>
                <a:spcPts val="0"/>
              </a:spcAft>
            </a:pPr>
            <a:r>
              <a:rPr sz="1000" b="0" i="0">
                <a:solidFill>
                  <a:srgbClr val="B0C4D8"/>
                </a:solidFill>
              </a:rPr>
              <a:t>test_npa_cost_applied_to_fills_only: DAT-04 verification</a:t>
            </a:r>
          </a:p>
        </p:txBody>
      </p:sp>
      <p:sp>
        <p:nvSpPr>
          <p:cNvPr id="42" name="Rectangle 41"/>
          <p:cNvSpPr/>
          <p:nvPr/>
        </p:nvSpPr>
        <p:spPr>
          <a:xfrm>
            <a:off x="182880" y="5596128"/>
            <a:ext cx="11825935" cy="530352"/>
          </a:xfrm>
          <a:prstGeom prst="rect">
            <a:avLst/>
          </a:prstGeom>
          <a:solidFill>
            <a:srgbClr val="142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74320" y="5641848"/>
            <a:ext cx="1874520" cy="438912"/>
          </a:xfrm>
          <a:prstGeom prst="rect">
            <a:avLst/>
          </a:prstGeom>
          <a:noFill/>
        </p:spPr>
        <p:txBody>
          <a:bodyPr wrap="square">
            <a:spAutoFit/>
          </a:bodyPr>
          <a:lstStyle/>
          <a:p/>
          <a:p>
            <a:pPr algn="l">
              <a:spcBef>
                <a:spcPts val="0"/>
              </a:spcBef>
              <a:spcAft>
                <a:spcPts val="0"/>
              </a:spcAft>
            </a:pPr>
            <a:r>
              <a:rPr sz="1100" b="1" i="0">
                <a:solidFill>
                  <a:srgbClr val="00D4FF"/>
                </a:solidFill>
              </a:rPr>
              <a:t>tests/test_passive_realistic_sim.py</a:t>
            </a:r>
          </a:p>
        </p:txBody>
      </p:sp>
      <p:sp>
        <p:nvSpPr>
          <p:cNvPr id="44" name="TextBox 43"/>
          <p:cNvSpPr txBox="1"/>
          <p:nvPr/>
        </p:nvSpPr>
        <p:spPr>
          <a:xfrm>
            <a:off x="2377440" y="5641848"/>
            <a:ext cx="3977640" cy="438912"/>
          </a:xfrm>
          <a:prstGeom prst="rect">
            <a:avLst/>
          </a:prstGeom>
          <a:noFill/>
        </p:spPr>
        <p:txBody>
          <a:bodyPr wrap="square">
            <a:spAutoFit/>
          </a:bodyPr>
          <a:lstStyle/>
          <a:p/>
          <a:p>
            <a:pPr algn="l">
              <a:spcBef>
                <a:spcPts val="0"/>
              </a:spcBef>
              <a:spcAft>
                <a:spcPts val="0"/>
              </a:spcAft>
            </a:pPr>
            <a:r>
              <a:rPr sz="1100" b="0" i="0">
                <a:solidFill>
                  <a:srgbClr val="FFFFFF"/>
                </a:solidFill>
              </a:rPr>
              <a:t>Test: Gate</a:t>
            </a:r>
          </a:p>
        </p:txBody>
      </p:sp>
      <p:sp>
        <p:nvSpPr>
          <p:cNvPr id="45" name="TextBox 44"/>
          <p:cNvSpPr txBox="1"/>
          <p:nvPr/>
        </p:nvSpPr>
        <p:spPr>
          <a:xfrm>
            <a:off x="6583680" y="5641848"/>
            <a:ext cx="5623560" cy="438912"/>
          </a:xfrm>
          <a:prstGeom prst="rect">
            <a:avLst/>
          </a:prstGeom>
          <a:noFill/>
        </p:spPr>
        <p:txBody>
          <a:bodyPr wrap="square">
            <a:spAutoFit/>
          </a:bodyPr>
          <a:lstStyle/>
          <a:p/>
          <a:p>
            <a:pPr algn="l">
              <a:spcBef>
                <a:spcPts val="0"/>
              </a:spcBef>
              <a:spcAft>
                <a:spcPts val="0"/>
              </a:spcAft>
            </a:pPr>
            <a:r>
              <a:rPr sz="1000" b="0" i="0">
                <a:solidFill>
                  <a:srgbClr val="B0C4D8"/>
                </a:solidFill>
              </a:rPr>
              <a:t>test_attempt_gate_reduces_n_attempts: gate structural test</a:t>
            </a:r>
          </a:p>
        </p:txBody>
      </p:sp>
      <p:sp>
        <p:nvSpPr>
          <p:cNvPr id="46" name="Rectangle 45"/>
          <p:cNvSpPr/>
          <p:nvPr/>
        </p:nvSpPr>
        <p:spPr>
          <a:xfrm>
            <a:off x="0" y="6812280"/>
            <a:ext cx="12191695" cy="45720"/>
          </a:xfrm>
          <a:prstGeom prst="rect">
            <a:avLst/>
          </a:prstGeom>
          <a:solidFill>
            <a:srgbClr val="008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F1F3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12191695" cy="658368"/>
          </a:xfrm>
          <a:prstGeom prst="rect">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10789920" cy="594360"/>
          </a:xfrm>
          <a:prstGeom prst="rect">
            <a:avLst/>
          </a:prstGeom>
          <a:noFill/>
        </p:spPr>
        <p:txBody>
          <a:bodyPr wrap="square">
            <a:spAutoFit/>
          </a:bodyPr>
          <a:lstStyle/>
          <a:p/>
          <a:p>
            <a:pPr algn="l">
              <a:spcBef>
                <a:spcPts val="0"/>
              </a:spcBef>
              <a:spcAft>
                <a:spcPts val="0"/>
              </a:spcAft>
            </a:pPr>
            <a:r>
              <a:rPr sz="2000" b="1" i="0">
                <a:solidFill>
                  <a:srgbClr val="FFFFFF"/>
                </a:solidFill>
              </a:rPr>
              <a:t>Appendix B — Observability Conventions</a:t>
            </a:r>
          </a:p>
        </p:txBody>
      </p:sp>
      <p:sp>
        <p:nvSpPr>
          <p:cNvPr id="5" name="TextBox 4"/>
          <p:cNvSpPr txBox="1"/>
          <p:nvPr/>
        </p:nvSpPr>
        <p:spPr>
          <a:xfrm>
            <a:off x="11155680" y="91440"/>
            <a:ext cx="914400" cy="457200"/>
          </a:xfrm>
          <a:prstGeom prst="rect">
            <a:avLst/>
          </a:prstGeom>
          <a:noFill/>
        </p:spPr>
        <p:txBody>
          <a:bodyPr wrap="square">
            <a:spAutoFit/>
          </a:bodyPr>
          <a:lstStyle/>
          <a:p/>
          <a:p>
            <a:pPr algn="r">
              <a:spcBef>
                <a:spcPts val="0"/>
              </a:spcBef>
              <a:spcAft>
                <a:spcPts val="0"/>
              </a:spcAft>
            </a:pPr>
            <a:r>
              <a:rPr sz="800" b="0" i="0">
                <a:solidFill>
                  <a:srgbClr val="00D4FF"/>
                </a:solidFill>
              </a:rPr>
              <a:t>A.2</a:t>
            </a:r>
          </a:p>
        </p:txBody>
      </p:sp>
      <p:sp>
        <p:nvSpPr>
          <p:cNvPr id="6" name="TextBox 5"/>
          <p:cNvSpPr txBox="1"/>
          <p:nvPr/>
        </p:nvSpPr>
        <p:spPr>
          <a:xfrm>
            <a:off x="274320" y="804672"/>
            <a:ext cx="11612880" cy="5760720"/>
          </a:xfrm>
          <a:prstGeom prst="rect">
            <a:avLst/>
          </a:prstGeom>
          <a:noFill/>
        </p:spPr>
        <p:txBody>
          <a:bodyPr wrap="square">
            <a:spAutoFit/>
          </a:bodyPr>
          <a:lstStyle/>
          <a:p>
            <a:pPr algn="l">
              <a:spcBef>
                <a:spcPts val="300"/>
              </a:spcBef>
              <a:spcAft>
                <a:spcPts val="200"/>
              </a:spcAft>
            </a:pPr>
            <a:r>
              <a:rPr sz="1300" b="1">
                <a:solidFill>
                  <a:srgbClr val="00D4FF"/>
                </a:solidFill>
              </a:rPr>
              <a:t>▸ </a:t>
            </a:r>
            <a:r>
              <a:rPr sz="1300" b="0">
                <a:solidFill>
                  <a:srgbClr val="FFFFFF"/>
                </a:solidFill>
              </a:rPr>
              <a:t>All telemetry: JSONL format, append-only in logs/telemetry.jsonl</a:t>
            </a:r>
          </a:p>
          <a:p>
            <a:pPr algn="l">
              <a:spcBef>
                <a:spcPts val="300"/>
              </a:spcBef>
              <a:spcAft>
                <a:spcPts val="200"/>
              </a:spcAft>
            </a:pPr>
            <a:r>
              <a:rPr sz="1300" b="1">
                <a:solidFill>
                  <a:srgbClr val="00D4FF"/>
                </a:solidFill>
              </a:rPr>
              <a:t>▸ </a:t>
            </a:r>
            <a:r>
              <a:rPr sz="1300" b="0">
                <a:solidFill>
                  <a:srgbClr val="FFFFFF"/>
                </a:solidFill>
              </a:rPr>
              <a:t>Log prefix: [DEBUG_FLOW source=module:function] — grep-able by module path</a:t>
            </a:r>
          </a:p>
          <a:p>
            <a:pPr algn="l">
              <a:spcBef>
                <a:spcPts val="300"/>
              </a:spcBef>
              <a:spcAft>
                <a:spcPts val="200"/>
              </a:spcAft>
            </a:pPr>
            <a:r>
              <a:rPr sz="1300" b="1">
                <a:solidFill>
                  <a:srgbClr val="00D4FF"/>
                </a:solidFill>
              </a:rPr>
              <a:t>▸ </a:t>
            </a:r>
            <a:r>
              <a:rPr sz="1300" b="0">
                <a:solidFill>
                  <a:srgbClr val="FFFFFF"/>
                </a:solidFill>
              </a:rPr>
              <a:t>Research reports: markdown in reports/, machine-readable JSON in reports/*.json</a:t>
            </a:r>
          </a:p>
          <a:p>
            <a:pPr algn="l">
              <a:spcBef>
                <a:spcPts val="300"/>
              </a:spcBef>
              <a:spcAft>
                <a:spcPts val="200"/>
              </a:spcAft>
            </a:pPr>
            <a:r>
              <a:rPr sz="1300" b="1">
                <a:solidFill>
                  <a:srgbClr val="00D4FF"/>
                </a:solidFill>
              </a:rPr>
              <a:t>▸ </a:t>
            </a:r>
            <a:r>
              <a:rPr sz="1300" b="0">
                <a:solidFill>
                  <a:srgbClr val="FFFFFF"/>
                </a:solidFill>
              </a:rPr>
              <a:t>Invariant violations: [INVARIANT_VIOLATION invariant=EXE-01] prefix — alert on this pattern</a:t>
            </a:r>
          </a:p>
          <a:p>
            <a:pPr algn="l">
              <a:spcBef>
                <a:spcPts val="300"/>
              </a:spcBef>
              <a:spcAft>
                <a:spcPts val="200"/>
              </a:spcAft>
            </a:pPr>
            <a:r>
              <a:rPr sz="1300" b="1">
                <a:solidFill>
                  <a:srgbClr val="00D4FF"/>
                </a:solidFill>
              </a:rPr>
              <a:t>▸ </a:t>
            </a:r>
            <a:r>
              <a:rPr sz="1300" b="0">
                <a:solidFill>
                  <a:srgbClr val="FFFFFF"/>
                </a:solidFill>
              </a:rPr>
              <a:t>Gate diagnostic: debug_stats['attempt_gate_blocked'] — accessible in every sim result dict</a:t>
            </a:r>
          </a:p>
          <a:p>
            <a:pPr algn="l">
              <a:spcBef>
                <a:spcPts val="300"/>
              </a:spcBef>
              <a:spcAft>
                <a:spcPts val="200"/>
              </a:spcAft>
            </a:pPr>
            <a:r>
              <a:rPr sz="1300" b="1">
                <a:solidFill>
                  <a:srgbClr val="00D4FF"/>
                </a:solidFill>
              </a:rPr>
              <a:t>▸ </a:t>
            </a:r>
            <a:r>
              <a:rPr sz="1300" b="0">
                <a:solidFill>
                  <a:srgbClr val="FFFFFF"/>
                </a:solidFill>
              </a:rPr>
              <a:t>Per-combo: val_attempts_before_gate vs val_attempts_after_gate — gate impact visible per row</a:t>
            </a:r>
          </a:p>
          <a:p>
            <a:pPr lvl="1" algn="l">
              <a:spcBef>
                <a:spcPts val="100"/>
              </a:spcBef>
              <a:spcAft>
                <a:spcPts val="200"/>
              </a:spcAft>
            </a:pPr>
            <a:r>
              <a:rPr sz="1100" b="0">
                <a:solidFill>
                  <a:srgbClr val="00FFB3"/>
                </a:solidFill>
              </a:rPr>
              <a:t>  · </a:t>
            </a:r>
            <a:r>
              <a:rPr sz="1100" b="0">
                <a:solidFill>
                  <a:srgbClr val="B0C4D8"/>
                </a:solidFill>
              </a:rPr>
              <a:t>Test naming: test_{what_is_verified}_{condition} — descriptive and searchable</a:t>
            </a:r>
          </a:p>
        </p:txBody>
      </p:sp>
      <p:sp>
        <p:nvSpPr>
          <p:cNvPr id="7" name="Rectangle 6"/>
          <p:cNvSpPr/>
          <p:nvPr/>
        </p:nvSpPr>
        <p:spPr>
          <a:xfrm>
            <a:off x="0" y="6812280"/>
            <a:ext cx="12191695" cy="45720"/>
          </a:xfrm>
          <a:prstGeom prst="rect">
            <a:avLst/>
          </a:prstGeom>
          <a:solidFill>
            <a:srgbClr val="008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F1F3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12191695" cy="658368"/>
          </a:xfrm>
          <a:prstGeom prst="rect">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10789920" cy="594360"/>
          </a:xfrm>
          <a:prstGeom prst="rect">
            <a:avLst/>
          </a:prstGeom>
          <a:noFill/>
        </p:spPr>
        <p:txBody>
          <a:bodyPr wrap="square">
            <a:spAutoFit/>
          </a:bodyPr>
          <a:lstStyle/>
          <a:p/>
          <a:p>
            <a:pPr algn="l">
              <a:spcBef>
                <a:spcPts val="0"/>
              </a:spcBef>
              <a:spcAft>
                <a:spcPts val="0"/>
              </a:spcAft>
            </a:pPr>
            <a:r>
              <a:rPr sz="2000" b="1" i="0">
                <a:solidFill>
                  <a:srgbClr val="FFFFFF"/>
                </a:solidFill>
              </a:rPr>
              <a:t>Appendix C — Research Repro Commands</a:t>
            </a:r>
          </a:p>
        </p:txBody>
      </p:sp>
      <p:sp>
        <p:nvSpPr>
          <p:cNvPr id="5" name="TextBox 4"/>
          <p:cNvSpPr txBox="1"/>
          <p:nvPr/>
        </p:nvSpPr>
        <p:spPr>
          <a:xfrm>
            <a:off x="11155680" y="91440"/>
            <a:ext cx="914400" cy="457200"/>
          </a:xfrm>
          <a:prstGeom prst="rect">
            <a:avLst/>
          </a:prstGeom>
          <a:noFill/>
        </p:spPr>
        <p:txBody>
          <a:bodyPr wrap="square">
            <a:spAutoFit/>
          </a:bodyPr>
          <a:lstStyle/>
          <a:p/>
          <a:p>
            <a:pPr algn="r">
              <a:spcBef>
                <a:spcPts val="0"/>
              </a:spcBef>
              <a:spcAft>
                <a:spcPts val="0"/>
              </a:spcAft>
            </a:pPr>
            <a:r>
              <a:rPr sz="800" b="0" i="0">
                <a:solidFill>
                  <a:srgbClr val="00D4FF"/>
                </a:solidFill>
              </a:rPr>
              <a:t>A.3</a:t>
            </a:r>
          </a:p>
        </p:txBody>
      </p:sp>
      <p:sp>
        <p:nvSpPr>
          <p:cNvPr id="6" name="Rectangle 5"/>
          <p:cNvSpPr/>
          <p:nvPr/>
        </p:nvSpPr>
        <p:spPr>
          <a:xfrm>
            <a:off x="365760" y="868680"/>
            <a:ext cx="11430000" cy="5623560"/>
          </a:xfrm>
          <a:prstGeom prst="rect">
            <a:avLst/>
          </a:prstGeom>
          <a:solidFill>
            <a:srgbClr val="05121E"/>
          </a:solidFill>
          <a:ln w="9525">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960120"/>
            <a:ext cx="10972800" cy="5394960"/>
          </a:xfrm>
          <a:prstGeom prst="rect">
            <a:avLst/>
          </a:prstGeom>
          <a:noFill/>
        </p:spPr>
        <p:txBody>
          <a:bodyPr wrap="none">
            <a:spAutoFit/>
          </a:bodyPr>
          <a:lstStyle/>
          <a:p>
            <a:pPr algn="l">
              <a:spcBef>
                <a:spcPts val="100"/>
              </a:spcBef>
            </a:pPr>
            <a:r>
              <a:rPr sz="950">
                <a:solidFill>
                  <a:srgbClr val="60809A"/>
                </a:solidFill>
                <a:latin typeface="Courier New"/>
              </a:rPr>
              <a:t># ── Forward validate single pocket with gate ──────────────────────</a:t>
            </a:r>
          </a:p>
          <a:p>
            <a:pPr algn="l">
              <a:spcBef>
                <a:spcPts val="100"/>
              </a:spcBef>
            </a:pPr>
            <a:r>
              <a:rPr sz="950">
                <a:solidFill>
                  <a:srgbClr val="B0C4D8"/>
                </a:solidFill>
                <a:latin typeface="Courier New"/>
              </a:rPr>
              <a:t>python -m tools.validate_passive_pocket_forward \</a:t>
            </a:r>
          </a:p>
          <a:p>
            <a:pPr algn="l">
              <a:spcBef>
                <a:spcPts val="100"/>
              </a:spcBef>
            </a:pPr>
            <a:r>
              <a:rPr sz="950">
                <a:solidFill>
                  <a:srgbClr val="B0C4D8"/>
                </a:solidFill>
                <a:latin typeface="Courier New"/>
              </a:rPr>
              <a:t>  --db data/microstructure.db --symbol ETHUSDT \</a:t>
            </a:r>
          </a:p>
          <a:p>
            <a:pPr algn="l">
              <a:spcBef>
                <a:spcPts val="100"/>
              </a:spcBef>
            </a:pPr>
            <a:r>
              <a:rPr sz="950">
                <a:solidFill>
                  <a:srgbClr val="B0C4D8"/>
                </a:solidFill>
                <a:latin typeface="Courier New"/>
              </a:rPr>
              <a:t>  --lookback-min 1440 --bucket-sec 1 --horizon-sec 120 \</a:t>
            </a:r>
          </a:p>
          <a:p>
            <a:pPr algn="l">
              <a:spcBef>
                <a:spcPts val="100"/>
              </a:spcBef>
            </a:pPr>
            <a:r>
              <a:rPr sz="950">
                <a:solidFill>
                  <a:srgbClr val="B0C4D8"/>
                </a:solidFill>
                <a:latin typeface="Courier New"/>
              </a:rPr>
              <a:t>  --rule intensity_spike_imbalance_cont --side auto \</a:t>
            </a:r>
          </a:p>
          <a:p>
            <a:pPr algn="l">
              <a:spcBef>
                <a:spcPts val="100"/>
              </a:spcBef>
            </a:pPr>
            <a:r>
              <a:rPr sz="950">
                <a:solidFill>
                  <a:srgbClr val="B0C4D8"/>
                </a:solidFill>
                <a:latin typeface="Courier New"/>
              </a:rPr>
              <a:t>  --min-imbalance 0.5 --min-trade-intensity 2500 --max-spread 0.0005 \</a:t>
            </a:r>
          </a:p>
          <a:p>
            <a:pPr algn="l">
              <a:spcBef>
                <a:spcPts val="100"/>
              </a:spcBef>
            </a:pPr>
            <a:r>
              <a:rPr sz="950">
                <a:solidFill>
                  <a:srgbClr val="B0C4D8"/>
                </a:solidFill>
                <a:latin typeface="Courier New"/>
              </a:rPr>
              <a:t>  --maker-fee-bps 1.0 \</a:t>
            </a:r>
          </a:p>
          <a:p>
            <a:pPr algn="l">
              <a:spcBef>
                <a:spcPts val="100"/>
              </a:spcBef>
            </a:pPr>
            <a:r>
              <a:rPr sz="950">
                <a:solidFill>
                  <a:srgbClr val="B0C4D8"/>
                </a:solidFill>
                <a:latin typeface="Courier New"/>
              </a:rPr>
              <a:t>  --min-intensity-strong 3500 --max-spread-tight 0.0003 \</a:t>
            </a:r>
          </a:p>
          <a:p>
            <a:pPr algn="l">
              <a:spcBef>
                <a:spcPts val="100"/>
              </a:spcBef>
            </a:pPr>
            <a:r>
              <a:rPr sz="950">
                <a:solidFill>
                  <a:srgbClr val="B0C4D8"/>
                </a:solidFill>
                <a:latin typeface="Courier New"/>
              </a:rPr>
              <a:t>  --splits 4 --seeds 11,22,33,44,55 --min-n 30</a:t>
            </a:r>
          </a:p>
          <a:p>
            <a:pPr algn="l">
              <a:spcBef>
                <a:spcPts val="100"/>
              </a:spcBef>
            </a:pPr>
            <a:r>
              <a:rPr sz="950">
                <a:solidFill>
                  <a:srgbClr val="B0C4D8"/>
                </a:solidFill>
                <a:latin typeface="Courier New"/>
              </a:rPr>
              <a:t/>
            </a:r>
          </a:p>
          <a:p>
            <a:pPr algn="l">
              <a:spcBef>
                <a:spcPts val="100"/>
              </a:spcBef>
            </a:pPr>
            <a:r>
              <a:rPr sz="950">
                <a:solidFill>
                  <a:srgbClr val="60809A"/>
                </a:solidFill>
                <a:latin typeface="Courier New"/>
              </a:rPr>
              <a:t># ── Rank pockets with capacity filter and gate ────────────────────</a:t>
            </a:r>
          </a:p>
          <a:p>
            <a:pPr algn="l">
              <a:spcBef>
                <a:spcPts val="100"/>
              </a:spcBef>
            </a:pPr>
            <a:r>
              <a:rPr sz="950">
                <a:solidFill>
                  <a:srgbClr val="B0C4D8"/>
                </a:solidFill>
                <a:latin typeface="Courier New"/>
              </a:rPr>
              <a:t>python -m tools.rank_passive_pockets_forward \</a:t>
            </a:r>
          </a:p>
          <a:p>
            <a:pPr algn="l">
              <a:spcBef>
                <a:spcPts val="100"/>
              </a:spcBef>
            </a:pPr>
            <a:r>
              <a:rPr sz="950">
                <a:solidFill>
                  <a:srgbClr val="B0C4D8"/>
                </a:solidFill>
                <a:latin typeface="Courier New"/>
              </a:rPr>
              <a:t>  --candidates-md reports/FILTER_SWEEP_PASSIVE_REALISTIC_ETH.md \</a:t>
            </a:r>
          </a:p>
          <a:p>
            <a:pPr algn="l">
              <a:spcBef>
                <a:spcPts val="100"/>
              </a:spcBef>
            </a:pPr>
            <a:r>
              <a:rPr sz="950">
                <a:solidFill>
                  <a:srgbClr val="B0C4D8"/>
                </a:solidFill>
                <a:latin typeface="Courier New"/>
              </a:rPr>
              <a:t>  --db data/microstructure.db \</a:t>
            </a:r>
          </a:p>
          <a:p>
            <a:pPr algn="l">
              <a:spcBef>
                <a:spcPts val="100"/>
              </a:spcBef>
            </a:pPr>
            <a:r>
              <a:rPr sz="950">
                <a:solidFill>
                  <a:srgbClr val="B0C4D8"/>
                </a:solidFill>
                <a:latin typeface="Courier New"/>
              </a:rPr>
              <a:t>  --maker-fee-bps-grid 0.5,1.0,1.5 \</a:t>
            </a:r>
          </a:p>
          <a:p>
            <a:pPr algn="l">
              <a:spcBef>
                <a:spcPts val="100"/>
              </a:spcBef>
            </a:pPr>
            <a:r>
              <a:rPr sz="950">
                <a:solidFill>
                  <a:srgbClr val="B0C4D8"/>
                </a:solidFill>
                <a:latin typeface="Courier New"/>
              </a:rPr>
              <a:t>  --passive-adverse-mult-grid 0.8,1.0,1.2 \</a:t>
            </a:r>
          </a:p>
          <a:p>
            <a:pPr algn="l">
              <a:spcBef>
                <a:spcPts val="100"/>
              </a:spcBef>
            </a:pPr>
            <a:r>
              <a:rPr sz="950">
                <a:solidFill>
                  <a:srgbClr val="B0C4D8"/>
                </a:solidFill>
                <a:latin typeface="Courier New"/>
              </a:rPr>
              <a:t>  --min-attempt-fill-rate 0.10 \</a:t>
            </a:r>
          </a:p>
          <a:p>
            <a:pPr algn="l">
              <a:spcBef>
                <a:spcPts val="100"/>
              </a:spcBef>
            </a:pPr>
            <a:r>
              <a:rPr sz="950">
                <a:solidFill>
                  <a:srgbClr val="B0C4D8"/>
                </a:solidFill>
                <a:latin typeface="Courier New"/>
              </a:rPr>
              <a:t>  --min-intensity-strong 3500 --max-spread-tight 0.0003 \</a:t>
            </a:r>
          </a:p>
          <a:p>
            <a:pPr algn="l">
              <a:spcBef>
                <a:spcPts val="100"/>
              </a:spcBef>
            </a:pPr>
            <a:r>
              <a:rPr sz="950">
                <a:solidFill>
                  <a:srgbClr val="B0C4D8"/>
                </a:solidFill>
                <a:latin typeface="Courier New"/>
              </a:rPr>
              <a:t>  --out-md reports/PASSIVE_POCKET_RANKING.md \</a:t>
            </a:r>
          </a:p>
          <a:p>
            <a:pPr algn="l">
              <a:spcBef>
                <a:spcPts val="100"/>
              </a:spcBef>
            </a:pPr>
            <a:r>
              <a:rPr sz="950">
                <a:solidFill>
                  <a:srgbClr val="B0C4D8"/>
                </a:solidFill>
                <a:latin typeface="Courier New"/>
              </a:rPr>
              <a:t>  --out-json reports/PASSIVE_POCKET_RANKING.json</a:t>
            </a:r>
          </a:p>
          <a:p>
            <a:pPr algn="l">
              <a:spcBef>
                <a:spcPts val="100"/>
              </a:spcBef>
            </a:pPr>
            <a:r>
              <a:rPr sz="950">
                <a:solidFill>
                  <a:srgbClr val="B0C4D8"/>
                </a:solidFill>
                <a:latin typeface="Courier New"/>
              </a:rPr>
              <a:t/>
            </a:r>
          </a:p>
          <a:p>
            <a:pPr algn="l">
              <a:spcBef>
                <a:spcPts val="100"/>
              </a:spcBef>
            </a:pPr>
            <a:r>
              <a:rPr sz="950">
                <a:solidFill>
                  <a:srgbClr val="60809A"/>
                </a:solidFill>
                <a:latin typeface="Courier New"/>
              </a:rPr>
              <a:t># ── Run full test suite ───────────────────────────────────────────</a:t>
            </a:r>
          </a:p>
          <a:p>
            <a:pPr algn="l">
              <a:spcBef>
                <a:spcPts val="100"/>
              </a:spcBef>
            </a:pPr>
            <a:r>
              <a:rPr sz="950">
                <a:solidFill>
                  <a:srgbClr val="B0C4D8"/>
                </a:solidFill>
                <a:latin typeface="Courier New"/>
              </a:rPr>
              <a:t>python -m pytest -q   # → 79 passed</a:t>
            </a:r>
          </a:p>
        </p:txBody>
      </p:sp>
      <p:sp>
        <p:nvSpPr>
          <p:cNvPr id="8" name="Rectangle 7"/>
          <p:cNvSpPr/>
          <p:nvPr/>
        </p:nvSpPr>
        <p:spPr>
          <a:xfrm>
            <a:off x="0" y="6812280"/>
            <a:ext cx="12191695" cy="45720"/>
          </a:xfrm>
          <a:prstGeom prst="rect">
            <a:avLst/>
          </a:prstGeom>
          <a:solidFill>
            <a:srgbClr val="008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